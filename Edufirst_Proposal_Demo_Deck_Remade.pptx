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8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8ACF8-C557-6D59-0679-1E7CCC8AF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0E54C-9B2F-7CD1-D3BD-2D1AB1051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B865B-A2C4-828D-003E-5F5C8884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6D73-82A1-43D6-AD88-6931569D3841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C6AAC-D4A7-5AF0-44E4-C3B20798E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60CF2-6AED-36C4-DE11-230CE11FF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D4C5-E2A2-4ACD-96F5-46A9691CC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73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43BD-1425-7FBA-042A-9A8EE9A3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2C84F-9587-5975-B2E4-7F2504466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4A97A-6EE8-940D-D4B4-8891E99A1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6D73-82A1-43D6-AD88-6931569D3841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9791E-9711-C427-C2C4-9C553753F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FA593-878A-5775-54BD-F55F6082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D4C5-E2A2-4ACD-96F5-46A9691CC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44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84B0-F9EE-8320-7EA3-7037CFD6B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2BF5-DF86-AA89-4C67-5361BC59B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BE5D8-4626-698E-4F20-DCCF92E9D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6D73-82A1-43D6-AD88-6931569D3841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E9EEA-A647-4D6B-5BA4-B12093680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7170B-BD76-E9D1-0308-D6D8627E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D4C5-E2A2-4ACD-96F5-46A9691CC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0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3026-0CD8-8D4B-5325-8ECC2A7B2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57F8-ADFA-5BDB-4B38-7907552A6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A5222-748F-16D4-434A-0E77BE5E3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88EFB-A90E-520C-27B9-75E6EC2E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6D73-82A1-43D6-AD88-6931569D3841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D544C-B3A0-E5D9-9163-B06793C0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D9F6A-BF27-491A-A687-484B13C96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D4C5-E2A2-4ACD-96F5-46A9691CC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44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C338-1659-0F99-0268-C02FDA13E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64D1B-B021-EB9C-7B5C-579DCD14B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3A93B-51AF-DADF-A8A8-D66122A55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6CBB0C-4B70-95E7-A0DD-F13D96771E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F5304-CB92-3EAE-9EE6-168FF8A22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AC44E-C381-4486-D246-A4E31011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6D73-82A1-43D6-AD88-6931569D3841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C3E8A6-E011-6DC5-5339-346215C5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E9C9B-02C8-2263-57BF-13C1F2D6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D4C5-E2A2-4ACD-96F5-46A9691CC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1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E3DE-95B3-5DFB-B3A6-97244F2D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85314D-9F20-9976-C078-A6D7BC782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6D73-82A1-43D6-AD88-6931569D3841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2536D9-575E-3E21-ACE7-D0463F48A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0016C-43BF-7962-847D-9CD7F9FB7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D4C5-E2A2-4ACD-96F5-46A9691CC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86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8DAAB0-D6A3-B1E8-7D7B-7CFA54DB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6D73-82A1-43D6-AD88-6931569D3841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AAE4AF-7C5C-9351-B357-179BBA93C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8E457-D34F-103C-FF94-9D6BB04AB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D4C5-E2A2-4ACD-96F5-46A9691CC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9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CC9-63BF-5434-13D8-5343E1763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3E76-CE95-C399-A042-8E6B7217E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AF78E-77BC-55F9-C8B2-534AC6B43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C0DBE-0233-C6C1-CE6D-387D54F9D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6D73-82A1-43D6-AD88-6931569D3841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618B7-8AB4-1ACA-1821-3CD4F439C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4FDA0-141B-999E-79EC-B11A7D86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D4C5-E2A2-4ACD-96F5-46A9691CC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001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E05CD-56E9-784C-8D10-EF6BEFD28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D2F0E-B08F-EEE1-3A69-DC12F4764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8B0E4-7060-8CA8-692F-5075E37F4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EC3F5-F042-3A76-A5DA-DEE70B335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6D73-82A1-43D6-AD88-6931569D3841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FF934-4A04-B522-C56B-0E569DE71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2E7CD-EE26-B9A6-2F33-FEAA6F65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D4C5-E2A2-4ACD-96F5-46A9691CC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35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1BB9-7BA9-A389-70EF-D4D116069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7AD647-83A6-18F9-5035-3EB47A91E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2D3ED-4853-0FB9-B0A5-69E7FEDD5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6D73-82A1-43D6-AD88-6931569D3841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38CAE-8570-35F1-34ED-D9FCFE6D2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D9FB3-101C-2890-3719-CAB4BBC9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D4C5-E2A2-4ACD-96F5-46A9691CC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6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80C329-B7DF-A2A5-39FC-4FAD72ABE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A6056-416A-61A4-21DE-52CD93497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3AF2E-CA06-B69A-6F50-D49616C38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6D73-82A1-43D6-AD88-6931569D3841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47C58-FCCA-7068-AF6B-1B7D1392D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3714B-5DAD-5A42-B14A-B300B615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9D4C5-E2A2-4ACD-96F5-46A9691CC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3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0DA22A-C4B6-3A4E-4800-EDFA9742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428E5-F4C2-0101-23BB-9ABD7C061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2EBE8-9467-65A7-3931-3F08A64EA7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7A6D73-82A1-43D6-AD88-6931569D3841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53E42-2167-C0FF-61E9-F1C107A79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EE39C-58C6-E5A2-424D-CB5E38D78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9D4C5-E2A2-4ACD-96F5-46A9691CC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4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64F675-A434-2972-8B3D-1E03B52883FC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F47265-47BD-4A98-BC10-CA740121A046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563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59EF3-0832-07B8-3C09-DD7EE9D76FFA}"/>
              </a:ext>
            </a:extLst>
          </p:cNvPr>
          <p:cNvSpPr txBox="1"/>
          <p:nvPr/>
        </p:nvSpPr>
        <p:spPr>
          <a:xfrm>
            <a:off x="558800" y="215900"/>
            <a:ext cx="2286000" cy="4257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1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44A42-7A54-CB15-C973-0014411408AD}"/>
              </a:ext>
            </a:extLst>
          </p:cNvPr>
          <p:cNvSpPr txBox="1"/>
          <p:nvPr/>
        </p:nvSpPr>
        <p:spPr>
          <a:xfrm>
            <a:off x="12192000" y="254000"/>
            <a:ext cx="3302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F2EADC"/>
                </a:solidFill>
                <a:latin typeface="Aptos" panose="020B0004020202020204" pitchFamily="34" charset="0"/>
              </a:rPr>
              <a:t>Brand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30AD20-2E0E-2B59-AE74-F456E77771CD}"/>
              </a:ext>
            </a:extLst>
          </p:cNvPr>
          <p:cNvSpPr txBox="1"/>
          <p:nvPr/>
        </p:nvSpPr>
        <p:spPr>
          <a:xfrm>
            <a:off x="914400" y="1422400"/>
            <a:ext cx="7112000" cy="77970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4400" b="1">
                <a:solidFill>
                  <a:srgbClr val="563B18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21B229-CB31-6E8D-C4D2-35EED2C60A4D}"/>
              </a:ext>
            </a:extLst>
          </p:cNvPr>
          <p:cNvSpPr txBox="1"/>
          <p:nvPr/>
        </p:nvSpPr>
        <p:spPr>
          <a:xfrm>
            <a:off x="965200" y="2387600"/>
            <a:ext cx="9906000" cy="84125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400" b="1">
                <a:solidFill>
                  <a:srgbClr val="867C0E"/>
                </a:solidFill>
                <a:latin typeface="Aptos" panose="020B0004020202020204" pitchFamily="34" charset="0"/>
              </a:rPr>
              <a:t>Make education more engaging, effective and accessible for every learner.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CC4A46-80C8-CAE1-8E9F-E252CD537084}"/>
              </a:ext>
            </a:extLst>
          </p:cNvPr>
          <p:cNvSpPr txBox="1"/>
          <p:nvPr/>
        </p:nvSpPr>
        <p:spPr>
          <a:xfrm>
            <a:off x="990600" y="3492500"/>
            <a:ext cx="8255000" cy="97975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900">
                <a:solidFill>
                  <a:srgbClr val="42372D"/>
                </a:solidFill>
                <a:latin typeface="Aptos" panose="020B0004020202020204" pitchFamily="34" charset="0"/>
              </a:rPr>
              <a:t>A learner-centered, teacher-empowered education ecosystem that blends AI, learning science, curriculum mapping, feedback, and school operations into one practical platform.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4C34490-249C-A669-EBED-7E50AFEBE261}"/>
              </a:ext>
            </a:extLst>
          </p:cNvPr>
          <p:cNvSpPr/>
          <p:nvPr/>
        </p:nvSpPr>
        <p:spPr>
          <a:xfrm>
            <a:off x="9652000" y="1676400"/>
            <a:ext cx="4953000" cy="29210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4CCA9C-A774-6A81-BC7B-8120101669B5}"/>
              </a:ext>
            </a:extLst>
          </p:cNvPr>
          <p:cNvSpPr txBox="1"/>
          <p:nvPr/>
        </p:nvSpPr>
        <p:spPr>
          <a:xfrm>
            <a:off x="9880600" y="1854200"/>
            <a:ext cx="4495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563B18"/>
                </a:solidFill>
                <a:latin typeface="Aptos" panose="020B0004020202020204" pitchFamily="34" charset="0"/>
              </a:rPr>
              <a:t>Core Promise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774073-5FA0-0211-B8A3-E149F3A0D969}"/>
              </a:ext>
            </a:extLst>
          </p:cNvPr>
          <p:cNvSpPr txBox="1"/>
          <p:nvPr/>
        </p:nvSpPr>
        <p:spPr>
          <a:xfrm>
            <a:off x="9880600" y="2336800"/>
            <a:ext cx="4495800" cy="96436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Personalized learning support for every student.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Actionable insights for teachers and school leaders.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A single connected platform for learning, communication, records, and growth.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BFA5D3-965B-690E-AEED-C5E48F3FF8B6}"/>
              </a:ext>
            </a:extLst>
          </p:cNvPr>
          <p:cNvSpPr/>
          <p:nvPr/>
        </p:nvSpPr>
        <p:spPr>
          <a:xfrm>
            <a:off x="10058400" y="5334000"/>
            <a:ext cx="1092200" cy="1092200"/>
          </a:xfrm>
          <a:prstGeom prst="ellipse">
            <a:avLst/>
          </a:prstGeom>
          <a:solidFill>
            <a:srgbClr val="867C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Learn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9E6C02-7000-2F1A-74F7-CE9C44333ADA}"/>
              </a:ext>
            </a:extLst>
          </p:cNvPr>
          <p:cNvSpPr/>
          <p:nvPr/>
        </p:nvSpPr>
        <p:spPr>
          <a:xfrm>
            <a:off x="11557000" y="5334000"/>
            <a:ext cx="1092200" cy="1092200"/>
          </a:xfrm>
          <a:prstGeom prst="ellipse">
            <a:avLst/>
          </a:prstGeom>
          <a:solidFill>
            <a:srgbClr val="42B9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Teach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6A0F3C-FCDD-9A66-EEC9-A74579D91247}"/>
              </a:ext>
            </a:extLst>
          </p:cNvPr>
          <p:cNvSpPr/>
          <p:nvPr/>
        </p:nvSpPr>
        <p:spPr>
          <a:xfrm>
            <a:off x="13055600" y="5334000"/>
            <a:ext cx="1092200" cy="1092200"/>
          </a:xfrm>
          <a:prstGeom prst="ellipse">
            <a:avLst/>
          </a:prstGeom>
          <a:solidFill>
            <a:srgbClr val="563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Track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D6364B-FC0A-8BEF-B7C7-451C70D5A06E}"/>
              </a:ext>
            </a:extLst>
          </p:cNvPr>
          <p:cNvSpPr txBox="1"/>
          <p:nvPr/>
        </p:nvSpPr>
        <p:spPr>
          <a:xfrm>
            <a:off x="990600" y="7569200"/>
            <a:ext cx="8636000" cy="4103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 b="1">
                <a:solidFill>
                  <a:srgbClr val="867C0E"/>
                </a:solidFill>
                <a:latin typeface="Aptos" panose="020B0004020202020204" pitchFamily="34" charset="0"/>
              </a:rPr>
              <a:t>Call to action: Experience the future of learning.</a:t>
            </a:r>
          </a:p>
        </p:txBody>
      </p:sp>
      <p:sp>
        <p:nvSpPr>
          <p:cNvPr id="16" name="Rectangle: Rounded Corners 15">
            <a:hlinkClick r:id="rId2"/>
            <a:extLst>
              <a:ext uri="{FF2B5EF4-FFF2-40B4-BE49-F238E27FC236}">
                <a16:creationId xmlns:a16="http://schemas.microsoft.com/office/drawing/2014/main" id="{58AA626F-AF15-166A-123E-C9157E89B5C9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42B9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08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BB0FFD-FDBD-9F79-069B-49CD6F05C0F4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A6D06-6D16-F21C-74EC-6992CE4D8722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563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27DD1-E4EB-7C54-C48A-AB1D8522E0DA}"/>
              </a:ext>
            </a:extLst>
          </p:cNvPr>
          <p:cNvSpPr txBox="1"/>
          <p:nvPr/>
        </p:nvSpPr>
        <p:spPr>
          <a:xfrm>
            <a:off x="558800" y="215900"/>
            <a:ext cx="2286000" cy="4257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1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B470EC-C583-ABA7-2DB2-E71ABABF3306}"/>
              </a:ext>
            </a:extLst>
          </p:cNvPr>
          <p:cNvSpPr txBox="1"/>
          <p:nvPr/>
        </p:nvSpPr>
        <p:spPr>
          <a:xfrm>
            <a:off x="12192000" y="254000"/>
            <a:ext cx="3302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F2EADC"/>
                </a:solidFill>
                <a:latin typeface="Aptos" panose="020B0004020202020204" pitchFamily="34" charset="0"/>
              </a:rPr>
              <a:t>Learning Philosophy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9D7929-0EE1-393B-FC2A-A93F1F132362}"/>
              </a:ext>
            </a:extLst>
          </p:cNvPr>
          <p:cNvSpPr txBox="1"/>
          <p:nvPr/>
        </p:nvSpPr>
        <p:spPr>
          <a:xfrm>
            <a:off x="736600" y="1308100"/>
            <a:ext cx="10414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3200" b="1">
                <a:solidFill>
                  <a:srgbClr val="563B18"/>
                </a:solidFill>
                <a:latin typeface="Aptos" panose="020B0004020202020204" pitchFamily="34" charset="0"/>
              </a:rPr>
              <a:t>Learner-Centered. Teacher-Empowered. Future-Ready.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937A39-D49C-D778-0507-94A289617815}"/>
              </a:ext>
            </a:extLst>
          </p:cNvPr>
          <p:cNvSpPr txBox="1"/>
          <p:nvPr/>
        </p:nvSpPr>
        <p:spPr>
          <a:xfrm>
            <a:off x="787400" y="2095500"/>
            <a:ext cx="99060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700">
                <a:solidFill>
                  <a:srgbClr val="6B6152"/>
                </a:solidFill>
                <a:latin typeface="Aptos" panose="020B0004020202020204" pitchFamily="34" charset="0"/>
              </a:rPr>
              <a:t>Clear learning paths for students, stronger decision support for teachers.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BE1BD6-6974-FE70-FD31-4F04350FBAAF}"/>
              </a:ext>
            </a:extLst>
          </p:cNvPr>
          <p:cNvSpPr/>
          <p:nvPr/>
        </p:nvSpPr>
        <p:spPr>
          <a:xfrm>
            <a:off x="863600" y="3022600"/>
            <a:ext cx="6731000" cy="39370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88FD62-4E45-C1C6-9CEE-E7739D400FB8}"/>
              </a:ext>
            </a:extLst>
          </p:cNvPr>
          <p:cNvSpPr txBox="1"/>
          <p:nvPr/>
        </p:nvSpPr>
        <p:spPr>
          <a:xfrm>
            <a:off x="1092200" y="3200400"/>
            <a:ext cx="6273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867C0E"/>
                </a:solidFill>
                <a:latin typeface="Aptos" panose="020B0004020202020204" pitchFamily="34" charset="0"/>
              </a:rPr>
              <a:t>Learner-Centered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7E5AB8-E690-90B2-B187-669B2762F174}"/>
              </a:ext>
            </a:extLst>
          </p:cNvPr>
          <p:cNvSpPr txBox="1"/>
          <p:nvPr/>
        </p:nvSpPr>
        <p:spPr>
          <a:xfrm>
            <a:off x="1092200" y="3683000"/>
            <a:ext cx="6273800" cy="181588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Builds critical thinking, creativity, problem-solving, collaboration, and self-identity.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Promotes experiential learning through doing, exploring, practicing, and reflecting.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Uses adaptive content, cognitive learning support, and evidence-based observations.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Supports well-being across physical, mental, emotional, social, and psychological growth.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21F33A-F3BF-3D12-285E-3C3A9DE5758C}"/>
              </a:ext>
            </a:extLst>
          </p:cNvPr>
          <p:cNvSpPr/>
          <p:nvPr/>
        </p:nvSpPr>
        <p:spPr>
          <a:xfrm>
            <a:off x="8153400" y="3022600"/>
            <a:ext cx="6731000" cy="39370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6C4A77-65F3-A26D-FDE4-23303CF07CCE}"/>
              </a:ext>
            </a:extLst>
          </p:cNvPr>
          <p:cNvSpPr txBox="1"/>
          <p:nvPr/>
        </p:nvSpPr>
        <p:spPr>
          <a:xfrm>
            <a:off x="8382000" y="3200400"/>
            <a:ext cx="6273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0953B4"/>
                </a:solidFill>
                <a:latin typeface="Aptos" panose="020B0004020202020204" pitchFamily="34" charset="0"/>
              </a:rPr>
              <a:t>Teacher-Empowered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C92319-506F-95AD-01E4-A58794E4D9B2}"/>
              </a:ext>
            </a:extLst>
          </p:cNvPr>
          <p:cNvSpPr txBox="1"/>
          <p:nvPr/>
        </p:nvSpPr>
        <p:spPr>
          <a:xfrm>
            <a:off x="8382000" y="3683000"/>
            <a:ext cx="6273800" cy="138499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Reduces time spent correcting classwork and homework.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Gives immediate feedback on concepts students may find difficult.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Helps teachers identify knowledge gaps, difficulty levels, and learning needs quickly.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Supports lesson planning, curriculum mapping, syllabus fulfillment, and progress tracking.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B35092-2283-03A6-77F1-2026FBD17A91}"/>
              </a:ext>
            </a:extLst>
          </p:cNvPr>
          <p:cNvSpPr txBox="1"/>
          <p:nvPr/>
        </p:nvSpPr>
        <p:spPr>
          <a:xfrm>
            <a:off x="914400" y="7569200"/>
            <a:ext cx="8509000" cy="39498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900" b="1">
                <a:solidFill>
                  <a:srgbClr val="867C0E"/>
                </a:solidFill>
                <a:latin typeface="Aptos" panose="020B0004020202020204" pitchFamily="34" charset="0"/>
              </a:rPr>
              <a:t>Call to action: See how learning becomes personal.</a:t>
            </a:r>
          </a:p>
        </p:txBody>
      </p:sp>
      <p:sp>
        <p:nvSpPr>
          <p:cNvPr id="15" name="Rectangle: Rounded Corners 14">
            <a:hlinkClick r:id="rId2"/>
            <a:extLst>
              <a:ext uri="{FF2B5EF4-FFF2-40B4-BE49-F238E27FC236}">
                <a16:creationId xmlns:a16="http://schemas.microsoft.com/office/drawing/2014/main" id="{43B08959-08CC-380E-4B8F-11795B36E20C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42B9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002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76DF5F-E77F-2F80-C6B7-F831E22D126D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DFAF87-0BD2-A0C7-2E5C-CC20EE5FA7F1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563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CDF22-CBBA-188E-DEC6-C5757FF48888}"/>
              </a:ext>
            </a:extLst>
          </p:cNvPr>
          <p:cNvSpPr txBox="1"/>
          <p:nvPr/>
        </p:nvSpPr>
        <p:spPr>
          <a:xfrm>
            <a:off x="558800" y="215900"/>
            <a:ext cx="2286000" cy="4257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1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B144A-71E0-FFFD-A209-762B38C0493A}"/>
              </a:ext>
            </a:extLst>
          </p:cNvPr>
          <p:cNvSpPr txBox="1"/>
          <p:nvPr/>
        </p:nvSpPr>
        <p:spPr>
          <a:xfrm>
            <a:off x="12192000" y="254000"/>
            <a:ext cx="3302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F2EADC"/>
                </a:solidFill>
                <a:latin typeface="Aptos" panose="020B0004020202020204" pitchFamily="34" charset="0"/>
              </a:rPr>
              <a:t>Connected Ecosystem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B456C-AE31-9E55-66D9-8D59AA380F53}"/>
              </a:ext>
            </a:extLst>
          </p:cNvPr>
          <p:cNvSpPr txBox="1"/>
          <p:nvPr/>
        </p:nvSpPr>
        <p:spPr>
          <a:xfrm>
            <a:off x="736600" y="1308100"/>
            <a:ext cx="9652000" cy="62581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3400" b="1">
                <a:solidFill>
                  <a:srgbClr val="563B18"/>
                </a:solidFill>
                <a:latin typeface="Aptos" panose="020B0004020202020204" pitchFamily="34" charset="0"/>
              </a:rPr>
              <a:t>One Connected Ecosystem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48CD1-7C90-0781-8425-938BC4665AEF}"/>
              </a:ext>
            </a:extLst>
          </p:cNvPr>
          <p:cNvSpPr txBox="1"/>
          <p:nvPr/>
        </p:nvSpPr>
        <p:spPr>
          <a:xfrm>
            <a:off x="787400" y="2095500"/>
            <a:ext cx="104140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>
                <a:solidFill>
                  <a:srgbClr val="6B6152"/>
                </a:solidFill>
                <a:latin typeface="Aptos" panose="020B0004020202020204" pitchFamily="34" charset="0"/>
              </a:rPr>
              <a:t>Students, teachers, parents, and management working from one organized source of truth.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EFBA73E-ED54-CA58-625E-FEB185B28185}"/>
              </a:ext>
            </a:extLst>
          </p:cNvPr>
          <p:cNvSpPr/>
          <p:nvPr/>
        </p:nvSpPr>
        <p:spPr>
          <a:xfrm>
            <a:off x="6604000" y="3429000"/>
            <a:ext cx="1397000" cy="1397000"/>
          </a:xfrm>
          <a:prstGeom prst="ellipse">
            <a:avLst/>
          </a:prstGeom>
          <a:solidFill>
            <a:srgbClr val="867C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Student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685A82-58D0-80F2-E6FD-4F782FA88780}"/>
              </a:ext>
            </a:extLst>
          </p:cNvPr>
          <p:cNvSpPr/>
          <p:nvPr/>
        </p:nvSpPr>
        <p:spPr>
          <a:xfrm>
            <a:off x="4191000" y="3429000"/>
            <a:ext cx="1397000" cy="1397000"/>
          </a:xfrm>
          <a:prstGeom prst="ellipse">
            <a:avLst/>
          </a:prstGeom>
          <a:solidFill>
            <a:srgbClr val="563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Teacher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1650F4-54BA-5E52-65A3-15E92181F98E}"/>
              </a:ext>
            </a:extLst>
          </p:cNvPr>
          <p:cNvSpPr/>
          <p:nvPr/>
        </p:nvSpPr>
        <p:spPr>
          <a:xfrm>
            <a:off x="9017000" y="3429000"/>
            <a:ext cx="1397000" cy="1397000"/>
          </a:xfrm>
          <a:prstGeom prst="ellipse">
            <a:avLst/>
          </a:prstGeom>
          <a:solidFill>
            <a:srgbClr val="0953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Parent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AC764ED-CC9F-4267-5A89-312F9C79B9A4}"/>
              </a:ext>
            </a:extLst>
          </p:cNvPr>
          <p:cNvSpPr/>
          <p:nvPr/>
        </p:nvSpPr>
        <p:spPr>
          <a:xfrm>
            <a:off x="6604000" y="5461000"/>
            <a:ext cx="1397000" cy="1397000"/>
          </a:xfrm>
          <a:prstGeom prst="ellipse">
            <a:avLst/>
          </a:prstGeom>
          <a:solidFill>
            <a:srgbClr val="ED3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Admin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6C1BAE-1CB7-CAD5-303D-9D1E7910FE27}"/>
              </a:ext>
            </a:extLst>
          </p:cNvPr>
          <p:cNvCxnSpPr/>
          <p:nvPr/>
        </p:nvCxnSpPr>
        <p:spPr>
          <a:xfrm>
            <a:off x="5588000" y="4127500"/>
            <a:ext cx="1016000" cy="0"/>
          </a:xfrm>
          <a:prstGeom prst="line">
            <a:avLst/>
          </a:prstGeom>
          <a:ln w="25400">
            <a:solidFill>
              <a:srgbClr val="9C90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E525E4-E359-7DEC-C948-294D7C918DCD}"/>
              </a:ext>
            </a:extLst>
          </p:cNvPr>
          <p:cNvCxnSpPr/>
          <p:nvPr/>
        </p:nvCxnSpPr>
        <p:spPr>
          <a:xfrm>
            <a:off x="8001000" y="4127500"/>
            <a:ext cx="1016000" cy="0"/>
          </a:xfrm>
          <a:prstGeom prst="line">
            <a:avLst/>
          </a:prstGeom>
          <a:ln w="25400">
            <a:solidFill>
              <a:srgbClr val="9C90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2FD3D1-3F80-3B94-5C19-29CA314A2E5C}"/>
              </a:ext>
            </a:extLst>
          </p:cNvPr>
          <p:cNvCxnSpPr/>
          <p:nvPr/>
        </p:nvCxnSpPr>
        <p:spPr>
          <a:xfrm>
            <a:off x="7302500" y="4826000"/>
            <a:ext cx="0" cy="635000"/>
          </a:xfrm>
          <a:prstGeom prst="line">
            <a:avLst/>
          </a:prstGeom>
          <a:ln w="25400">
            <a:solidFill>
              <a:srgbClr val="9C90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098185-B3CE-97D9-8553-B76C1FBEBF86}"/>
              </a:ext>
            </a:extLst>
          </p:cNvPr>
          <p:cNvSpPr/>
          <p:nvPr/>
        </p:nvSpPr>
        <p:spPr>
          <a:xfrm>
            <a:off x="1016000" y="3175000"/>
            <a:ext cx="3810000" cy="31750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18FC78-D076-1B6D-7AFA-B08A56636711}"/>
              </a:ext>
            </a:extLst>
          </p:cNvPr>
          <p:cNvSpPr txBox="1"/>
          <p:nvPr/>
        </p:nvSpPr>
        <p:spPr>
          <a:xfrm>
            <a:off x="1244600" y="3352800"/>
            <a:ext cx="3352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867C0E"/>
                </a:solidFill>
                <a:latin typeface="Aptos" panose="020B0004020202020204" pitchFamily="34" charset="0"/>
              </a:rPr>
              <a:t>What Connects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26B350-0E57-3582-87A4-CA5FEB620A9F}"/>
              </a:ext>
            </a:extLst>
          </p:cNvPr>
          <p:cNvSpPr txBox="1"/>
          <p:nvPr/>
        </p:nvSpPr>
        <p:spPr>
          <a:xfrm>
            <a:off x="1244600" y="3835400"/>
            <a:ext cx="3352800" cy="181588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Learning, teaching, attendance, homework, assessments, communication, documentation, and records.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Web, Android, and iOS access for practical daily use.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Dashboards and reports for faster school-level decisions.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9C22A0-F026-708C-38C3-C67E64768853}"/>
              </a:ext>
            </a:extLst>
          </p:cNvPr>
          <p:cNvSpPr/>
          <p:nvPr/>
        </p:nvSpPr>
        <p:spPr>
          <a:xfrm>
            <a:off x="11049000" y="3175000"/>
            <a:ext cx="3810000" cy="31750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C6BC5C-181F-7479-E043-EFCE66CF5C3E}"/>
              </a:ext>
            </a:extLst>
          </p:cNvPr>
          <p:cNvSpPr txBox="1"/>
          <p:nvPr/>
        </p:nvSpPr>
        <p:spPr>
          <a:xfrm>
            <a:off x="11277600" y="3352800"/>
            <a:ext cx="3352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0953B4"/>
                </a:solidFill>
                <a:latin typeface="Aptos" panose="020B0004020202020204" pitchFamily="34" charset="0"/>
              </a:rPr>
              <a:t>Demo Feature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58C09C-EE67-2EF2-0A15-DF990D6AE9FB}"/>
              </a:ext>
            </a:extLst>
          </p:cNvPr>
          <p:cNvSpPr txBox="1"/>
          <p:nvPr/>
        </p:nvSpPr>
        <p:spPr>
          <a:xfrm>
            <a:off x="11277600" y="3835400"/>
            <a:ext cx="3352800" cy="116955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Connected admin, teacher, parent, and student dashboard.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Real-time updates across performance, feedback, and school communication.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451CC5-D933-AE4F-6037-02C1B45CE436}"/>
              </a:ext>
            </a:extLst>
          </p:cNvPr>
          <p:cNvSpPr txBox="1"/>
          <p:nvPr/>
        </p:nvSpPr>
        <p:spPr>
          <a:xfrm>
            <a:off x="914400" y="7569200"/>
            <a:ext cx="8509000" cy="39498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900" b="1">
                <a:solidFill>
                  <a:srgbClr val="867C0E"/>
                </a:solidFill>
                <a:latin typeface="Aptos" panose="020B0004020202020204" pitchFamily="34" charset="0"/>
              </a:rPr>
              <a:t>Call to action: Connect every role in the school.</a:t>
            </a:r>
          </a:p>
        </p:txBody>
      </p:sp>
      <p:sp>
        <p:nvSpPr>
          <p:cNvPr id="22" name="Rectangle: Rounded Corners 21">
            <a:hlinkClick r:id="rId2"/>
            <a:extLst>
              <a:ext uri="{FF2B5EF4-FFF2-40B4-BE49-F238E27FC236}">
                <a16:creationId xmlns:a16="http://schemas.microsoft.com/office/drawing/2014/main" id="{CE3DF414-B374-3FF2-A7E8-0756758EEB04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42B9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617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30BBE2-28DE-1168-1955-F3ACBFD3D97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9F48E7-1545-B4E5-FF7D-08D70DB586EE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563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3D92C-B9B6-289F-8E6B-71852084A9B3}"/>
              </a:ext>
            </a:extLst>
          </p:cNvPr>
          <p:cNvSpPr txBox="1"/>
          <p:nvPr/>
        </p:nvSpPr>
        <p:spPr>
          <a:xfrm>
            <a:off x="558800" y="215900"/>
            <a:ext cx="2286000" cy="4257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1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C5452-FC8D-D92A-E2E9-0F10D01479CC}"/>
              </a:ext>
            </a:extLst>
          </p:cNvPr>
          <p:cNvSpPr txBox="1"/>
          <p:nvPr/>
        </p:nvSpPr>
        <p:spPr>
          <a:xfrm>
            <a:off x="12192000" y="254000"/>
            <a:ext cx="3302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F2EADC"/>
                </a:solidFill>
                <a:latin typeface="Aptos" panose="020B0004020202020204" pitchFamily="34" charset="0"/>
              </a:rPr>
              <a:t>Live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4FECF4-6B23-354C-11BA-48D1A82087D7}"/>
              </a:ext>
            </a:extLst>
          </p:cNvPr>
          <p:cNvSpPr txBox="1"/>
          <p:nvPr/>
        </p:nvSpPr>
        <p:spPr>
          <a:xfrm>
            <a:off x="736600" y="1308100"/>
            <a:ext cx="9652000" cy="62581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3400" b="1">
                <a:solidFill>
                  <a:srgbClr val="563B18"/>
                </a:solidFill>
                <a:latin typeface="Aptos" panose="020B0004020202020204" pitchFamily="34" charset="0"/>
              </a:rPr>
              <a:t>A Live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1507D-8F0A-FB89-FB1A-80258ABEB7CE}"/>
              </a:ext>
            </a:extLst>
          </p:cNvPr>
          <p:cNvSpPr txBox="1"/>
          <p:nvPr/>
        </p:nvSpPr>
        <p:spPr>
          <a:xfrm>
            <a:off x="787400" y="2095500"/>
            <a:ext cx="105410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>
                <a:solidFill>
                  <a:srgbClr val="6B6152"/>
                </a:solidFill>
                <a:latin typeface="Aptos" panose="020B0004020202020204" pitchFamily="34" charset="0"/>
              </a:rPr>
              <a:t>From classroom activity to real-time insight, every step becomes measurable and useful.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94416E-E123-B732-AC72-42A2C9EF39DE}"/>
              </a:ext>
            </a:extLst>
          </p:cNvPr>
          <p:cNvSpPr/>
          <p:nvPr/>
        </p:nvSpPr>
        <p:spPr>
          <a:xfrm>
            <a:off x="1206500" y="3810000"/>
            <a:ext cx="1333500" cy="1333500"/>
          </a:xfrm>
          <a:prstGeom prst="ellipse">
            <a:avLst/>
          </a:prstGeom>
          <a:solidFill>
            <a:srgbClr val="563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Class Activity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4CF034-77D9-B606-D4D7-76827E2DF310}"/>
              </a:ext>
            </a:extLst>
          </p:cNvPr>
          <p:cNvCxnSpPr/>
          <p:nvPr/>
        </p:nvCxnSpPr>
        <p:spPr>
          <a:xfrm>
            <a:off x="2540000" y="4470400"/>
            <a:ext cx="571500" cy="0"/>
          </a:xfrm>
          <a:prstGeom prst="line">
            <a:avLst/>
          </a:prstGeom>
          <a:ln w="25400">
            <a:solidFill>
              <a:srgbClr val="9C90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33E4566-8E97-7DFF-6D2F-8EF7634243D8}"/>
              </a:ext>
            </a:extLst>
          </p:cNvPr>
          <p:cNvSpPr/>
          <p:nvPr/>
        </p:nvSpPr>
        <p:spPr>
          <a:xfrm>
            <a:off x="3810000" y="3810000"/>
            <a:ext cx="1333500" cy="1333500"/>
          </a:xfrm>
          <a:prstGeom prst="ellipse">
            <a:avLst/>
          </a:prstGeom>
          <a:solidFill>
            <a:srgbClr val="867C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Teacher Input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66CF6C-F353-BD15-AA6E-C74D5C84BA96}"/>
              </a:ext>
            </a:extLst>
          </p:cNvPr>
          <p:cNvCxnSpPr/>
          <p:nvPr/>
        </p:nvCxnSpPr>
        <p:spPr>
          <a:xfrm>
            <a:off x="5143500" y="4470400"/>
            <a:ext cx="571500" cy="0"/>
          </a:xfrm>
          <a:prstGeom prst="line">
            <a:avLst/>
          </a:prstGeom>
          <a:ln w="25400">
            <a:solidFill>
              <a:srgbClr val="9C90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80E55886-BF93-366E-5B0E-426BD8620F6B}"/>
              </a:ext>
            </a:extLst>
          </p:cNvPr>
          <p:cNvSpPr/>
          <p:nvPr/>
        </p:nvSpPr>
        <p:spPr>
          <a:xfrm>
            <a:off x="6413500" y="3810000"/>
            <a:ext cx="1333500" cy="1333500"/>
          </a:xfrm>
          <a:prstGeom prst="ellipse">
            <a:avLst/>
          </a:prstGeom>
          <a:solidFill>
            <a:srgbClr val="ED3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AI Analysis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FE3620-8011-C4FE-5734-90B5BDBC966B}"/>
              </a:ext>
            </a:extLst>
          </p:cNvPr>
          <p:cNvCxnSpPr/>
          <p:nvPr/>
        </p:nvCxnSpPr>
        <p:spPr>
          <a:xfrm>
            <a:off x="7747000" y="4470400"/>
            <a:ext cx="571500" cy="0"/>
          </a:xfrm>
          <a:prstGeom prst="line">
            <a:avLst/>
          </a:prstGeom>
          <a:ln w="25400">
            <a:solidFill>
              <a:srgbClr val="9C90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4C9E1B0-C935-4490-165F-7964469D06A2}"/>
              </a:ext>
            </a:extLst>
          </p:cNvPr>
          <p:cNvSpPr/>
          <p:nvPr/>
        </p:nvSpPr>
        <p:spPr>
          <a:xfrm>
            <a:off x="9017000" y="3810000"/>
            <a:ext cx="1333500" cy="1333500"/>
          </a:xfrm>
          <a:prstGeom prst="ellipse">
            <a:avLst/>
          </a:prstGeom>
          <a:solidFill>
            <a:srgbClr val="0953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Instant Feedback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C4BEB6-27DF-0560-78F5-1350A5A8CC5E}"/>
              </a:ext>
            </a:extLst>
          </p:cNvPr>
          <p:cNvCxnSpPr/>
          <p:nvPr/>
        </p:nvCxnSpPr>
        <p:spPr>
          <a:xfrm>
            <a:off x="10350500" y="4470400"/>
            <a:ext cx="571500" cy="0"/>
          </a:xfrm>
          <a:prstGeom prst="line">
            <a:avLst/>
          </a:prstGeom>
          <a:ln w="25400">
            <a:solidFill>
              <a:srgbClr val="9C90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652AE49-0711-21EC-8EAA-369EF808464B}"/>
              </a:ext>
            </a:extLst>
          </p:cNvPr>
          <p:cNvSpPr/>
          <p:nvPr/>
        </p:nvSpPr>
        <p:spPr>
          <a:xfrm>
            <a:off x="11620500" y="3810000"/>
            <a:ext cx="1333500" cy="1333500"/>
          </a:xfrm>
          <a:prstGeom prst="ellipse">
            <a:avLst/>
          </a:prstGeom>
          <a:solidFill>
            <a:srgbClr val="5A85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Targeted Support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6CEBBD9-AFDF-0D40-B279-0400A879F263}"/>
              </a:ext>
            </a:extLst>
          </p:cNvPr>
          <p:cNvSpPr/>
          <p:nvPr/>
        </p:nvSpPr>
        <p:spPr>
          <a:xfrm>
            <a:off x="1968500" y="5842000"/>
            <a:ext cx="10033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D03851-8E2B-BCD7-2A5A-36C33F36F0A8}"/>
              </a:ext>
            </a:extLst>
          </p:cNvPr>
          <p:cNvSpPr txBox="1"/>
          <p:nvPr/>
        </p:nvSpPr>
        <p:spPr>
          <a:xfrm>
            <a:off x="2197100" y="6019800"/>
            <a:ext cx="9575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563B18"/>
                </a:solidFill>
                <a:latin typeface="Aptos" panose="020B0004020202020204" pitchFamily="34" charset="0"/>
              </a:rPr>
              <a:t>Workflow Outcomes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1963B9-B4A8-9B83-3C6F-C01B34F4C676}"/>
              </a:ext>
            </a:extLst>
          </p:cNvPr>
          <p:cNvSpPr txBox="1"/>
          <p:nvPr/>
        </p:nvSpPr>
        <p:spPr>
          <a:xfrm>
            <a:off x="2197100" y="6502400"/>
            <a:ext cx="9575800" cy="96436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Faster grading of classwork and homework.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Immediate feedback on challenging concepts.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Timely evaluations to track progress and address issues.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Actionable intelligence for teachers, parents, and administrators.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D0DD8C-EC2C-1C36-8A4C-2B00D8298A33}"/>
              </a:ext>
            </a:extLst>
          </p:cNvPr>
          <p:cNvSpPr txBox="1"/>
          <p:nvPr/>
        </p:nvSpPr>
        <p:spPr>
          <a:xfrm>
            <a:off x="914400" y="7569200"/>
            <a:ext cx="8509000" cy="39498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900" b="1">
                <a:solidFill>
                  <a:srgbClr val="867C0E"/>
                </a:solidFill>
                <a:latin typeface="Aptos" panose="020B0004020202020204" pitchFamily="34" charset="0"/>
              </a:rPr>
              <a:t>Call to action: Watch the workflow in action.</a:t>
            </a:r>
          </a:p>
        </p:txBody>
      </p:sp>
      <p:sp>
        <p:nvSpPr>
          <p:cNvPr id="21" name="Rectangle: Rounded Corners 20">
            <a:hlinkClick r:id="rId2"/>
            <a:extLst>
              <a:ext uri="{FF2B5EF4-FFF2-40B4-BE49-F238E27FC236}">
                <a16:creationId xmlns:a16="http://schemas.microsoft.com/office/drawing/2014/main" id="{3D81613A-83E5-AB1C-DDFF-D1ED0D79994D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42B9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410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4F8250-6D5A-9D20-7607-06EE7E565F5A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AD0429-781E-4596-6CB7-4F43D9036703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563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1D7C8-5051-EC71-40AD-2634641FF737}"/>
              </a:ext>
            </a:extLst>
          </p:cNvPr>
          <p:cNvSpPr txBox="1"/>
          <p:nvPr/>
        </p:nvSpPr>
        <p:spPr>
          <a:xfrm>
            <a:off x="558800" y="215900"/>
            <a:ext cx="2286000" cy="4257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1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D6B68-2056-B986-8B55-741155E7EF2E}"/>
              </a:ext>
            </a:extLst>
          </p:cNvPr>
          <p:cNvSpPr txBox="1"/>
          <p:nvPr/>
        </p:nvSpPr>
        <p:spPr>
          <a:xfrm>
            <a:off x="12192000" y="254000"/>
            <a:ext cx="3302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F2EADC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E5C43-7875-8836-0154-4ADD2A81BB78}"/>
              </a:ext>
            </a:extLst>
          </p:cNvPr>
          <p:cNvSpPr txBox="1"/>
          <p:nvPr/>
        </p:nvSpPr>
        <p:spPr>
          <a:xfrm>
            <a:off x="736600" y="1308100"/>
            <a:ext cx="10414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3200" b="1">
                <a:solidFill>
                  <a:srgbClr val="563B18"/>
                </a:solidFill>
                <a:latin typeface="Aptos" panose="020B0004020202020204" pitchFamily="34" charset="0"/>
              </a:rPr>
              <a:t>Safe and Practical 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AA97D-D76C-9B33-4296-D5B2726A203F}"/>
              </a:ext>
            </a:extLst>
          </p:cNvPr>
          <p:cNvSpPr txBox="1"/>
          <p:nvPr/>
        </p:nvSpPr>
        <p:spPr>
          <a:xfrm>
            <a:off x="787400" y="2095500"/>
            <a:ext cx="99060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700">
                <a:solidFill>
                  <a:srgbClr val="6B6152"/>
                </a:solidFill>
                <a:latin typeface="Aptos" panose="020B0004020202020204" pitchFamily="34" charset="0"/>
              </a:rPr>
              <a:t>Built for real schools, real classrooms, and real constraints.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CDDDEB-624C-1CF9-545F-511290D86489}"/>
              </a:ext>
            </a:extLst>
          </p:cNvPr>
          <p:cNvSpPr/>
          <p:nvPr/>
        </p:nvSpPr>
        <p:spPr>
          <a:xfrm>
            <a:off x="863600" y="3022600"/>
            <a:ext cx="6731000" cy="39370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2516C5-4396-5E70-FF4D-DC17B13B8D9A}"/>
              </a:ext>
            </a:extLst>
          </p:cNvPr>
          <p:cNvSpPr txBox="1"/>
          <p:nvPr/>
        </p:nvSpPr>
        <p:spPr>
          <a:xfrm>
            <a:off x="1092200" y="3200400"/>
            <a:ext cx="6273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867C0E"/>
                </a:solidFill>
                <a:latin typeface="Aptos" panose="020B0004020202020204" pitchFamily="34" charset="0"/>
              </a:rPr>
              <a:t>Practical Adoption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916B16-3CDF-1F2A-4036-1FF01F6A9114}"/>
              </a:ext>
            </a:extLst>
          </p:cNvPr>
          <p:cNvSpPr txBox="1"/>
          <p:nvPr/>
        </p:nvSpPr>
        <p:spPr>
          <a:xfrm>
            <a:off x="1092200" y="3683000"/>
            <a:ext cx="6273800" cy="96436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Compact hybrid solution for proficiency-based learning.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Works with formative, summative, and backward curriculum mapping.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Can support schools even where technical infrastructure is still developing.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Designed to reduce administrative pressure instead of adding more work.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61365A-7A6E-17D3-6C0F-F227F2C095DA}"/>
              </a:ext>
            </a:extLst>
          </p:cNvPr>
          <p:cNvSpPr/>
          <p:nvPr/>
        </p:nvSpPr>
        <p:spPr>
          <a:xfrm>
            <a:off x="8153400" y="3022600"/>
            <a:ext cx="6731000" cy="39370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46BD98-BE6A-70BA-49F3-93C9B6D73D9E}"/>
              </a:ext>
            </a:extLst>
          </p:cNvPr>
          <p:cNvSpPr txBox="1"/>
          <p:nvPr/>
        </p:nvSpPr>
        <p:spPr>
          <a:xfrm>
            <a:off x="8382000" y="3200400"/>
            <a:ext cx="6273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0953B4"/>
                </a:solidFill>
                <a:latin typeface="Aptos" panose="020B0004020202020204" pitchFamily="34" charset="0"/>
              </a:rPr>
              <a:t>Responsible Use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26FE9E-6149-AA43-8288-82B8EBF6ABBC}"/>
              </a:ext>
            </a:extLst>
          </p:cNvPr>
          <p:cNvSpPr txBox="1"/>
          <p:nvPr/>
        </p:nvSpPr>
        <p:spPr>
          <a:xfrm>
            <a:off x="8382000" y="3683000"/>
            <a:ext cx="6273800" cy="138499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Uses current school data to improve planning and decision-making.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Keeps documentation, records, assessments, and communication structured.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Supports management, teachers, and students through gradual implementation.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Provides reliable progress tracking before large-scale expansion.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8DCBA5-75A5-5CC3-1E13-71E7AB2AA7AE}"/>
              </a:ext>
            </a:extLst>
          </p:cNvPr>
          <p:cNvSpPr txBox="1"/>
          <p:nvPr/>
        </p:nvSpPr>
        <p:spPr>
          <a:xfrm>
            <a:off x="914400" y="7569200"/>
            <a:ext cx="8509000" cy="39498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900" b="1">
                <a:solidFill>
                  <a:srgbClr val="867C0E"/>
                </a:solidFill>
                <a:latin typeface="Aptos" panose="020B0004020202020204" pitchFamily="34" charset="0"/>
              </a:rPr>
              <a:t>Call to action: Start with a practical pilot.</a:t>
            </a:r>
          </a:p>
        </p:txBody>
      </p:sp>
      <p:sp>
        <p:nvSpPr>
          <p:cNvPr id="15" name="Rectangle: Rounded Corners 14">
            <a:hlinkClick r:id="rId2"/>
            <a:extLst>
              <a:ext uri="{FF2B5EF4-FFF2-40B4-BE49-F238E27FC236}">
                <a16:creationId xmlns:a16="http://schemas.microsoft.com/office/drawing/2014/main" id="{A1D80FE4-2E05-4F7D-8C03-E5FE5C11156C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42B9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826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A099D9-3809-1D23-ABBB-A5A2900E8F13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A471F4-E5AB-27E7-1AF7-0ACB5B5FB56C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563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AC145-BA69-9687-3DC2-57E55B0A8A60}"/>
              </a:ext>
            </a:extLst>
          </p:cNvPr>
          <p:cNvSpPr txBox="1"/>
          <p:nvPr/>
        </p:nvSpPr>
        <p:spPr>
          <a:xfrm>
            <a:off x="558800" y="215900"/>
            <a:ext cx="2286000" cy="4257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1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DCAD4-36E1-1F49-8067-BE88EB746552}"/>
              </a:ext>
            </a:extLst>
          </p:cNvPr>
          <p:cNvSpPr txBox="1"/>
          <p:nvPr/>
        </p:nvSpPr>
        <p:spPr>
          <a:xfrm>
            <a:off x="12192000" y="254000"/>
            <a:ext cx="3302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F2EADC"/>
                </a:solidFill>
                <a:latin typeface="Aptos" panose="020B0004020202020204" pitchFamily="34" charset="0"/>
              </a:rPr>
              <a:t>Mission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42B21-86D4-10B5-F651-1CBC95D6460C}"/>
              </a:ext>
            </a:extLst>
          </p:cNvPr>
          <p:cNvSpPr txBox="1"/>
          <p:nvPr/>
        </p:nvSpPr>
        <p:spPr>
          <a:xfrm>
            <a:off x="736600" y="1244600"/>
            <a:ext cx="9652000" cy="62581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3400" b="1">
                <a:solidFill>
                  <a:srgbClr val="563B18"/>
                </a:solidFill>
                <a:latin typeface="Aptos" panose="020B0004020202020204" pitchFamily="34" charset="0"/>
              </a:rPr>
              <a:t>The Give Back Mission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AAAC6A-C8BB-160D-6D4B-2FBC20DC61A6}"/>
              </a:ext>
            </a:extLst>
          </p:cNvPr>
          <p:cNvSpPr txBox="1"/>
          <p:nvPr/>
        </p:nvSpPr>
        <p:spPr>
          <a:xfrm>
            <a:off x="787400" y="2006600"/>
            <a:ext cx="11430000" cy="6604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>
                <a:solidFill>
                  <a:srgbClr val="6B6152"/>
                </a:solidFill>
                <a:latin typeface="Aptos" panose="020B0004020202020204" pitchFamily="34" charset="0"/>
              </a:rPr>
              <a:t>What makes this initiative different is the larger mission behind it: alongside the technology, Edufirst gives back to the education community.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B81E58-D4CE-85E9-1C8A-FA0BCDEBB44D}"/>
              </a:ext>
            </a:extLst>
          </p:cNvPr>
          <p:cNvSpPr/>
          <p:nvPr/>
        </p:nvSpPr>
        <p:spPr>
          <a:xfrm>
            <a:off x="914400" y="3048000"/>
            <a:ext cx="4318000" cy="29210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4590EA-608C-834E-C539-10AEC48EEEF4}"/>
              </a:ext>
            </a:extLst>
          </p:cNvPr>
          <p:cNvSpPr txBox="1"/>
          <p:nvPr/>
        </p:nvSpPr>
        <p:spPr>
          <a:xfrm>
            <a:off x="1143000" y="3225800"/>
            <a:ext cx="3860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563B18"/>
                </a:solidFill>
                <a:latin typeface="Aptos" panose="020B0004020202020204" pitchFamily="34" charset="0"/>
              </a:rPr>
              <a:t>For Teachers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BBA816-2E5A-08D4-3877-38B334C9108D}"/>
              </a:ext>
            </a:extLst>
          </p:cNvPr>
          <p:cNvSpPr txBox="1"/>
          <p:nvPr/>
        </p:nvSpPr>
        <p:spPr>
          <a:xfrm>
            <a:off x="1143000" y="3708400"/>
            <a:ext cx="3860800" cy="160043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Teacher-development programs and practical training.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Education discussion forums for shared ideas and classroom improvement.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Knowledge events, workshops, and progressive assessment practices for a changing world.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DF76E0-B12F-F8B3-20BB-E7CD4900267D}"/>
              </a:ext>
            </a:extLst>
          </p:cNvPr>
          <p:cNvSpPr/>
          <p:nvPr/>
        </p:nvSpPr>
        <p:spPr>
          <a:xfrm>
            <a:off x="5969000" y="3048000"/>
            <a:ext cx="4318000" cy="29210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0C2A7D-9140-67CD-F56A-AE62BFAA1E19}"/>
              </a:ext>
            </a:extLst>
          </p:cNvPr>
          <p:cNvSpPr txBox="1"/>
          <p:nvPr/>
        </p:nvSpPr>
        <p:spPr>
          <a:xfrm>
            <a:off x="6197600" y="3225800"/>
            <a:ext cx="3860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867C0E"/>
                </a:solidFill>
                <a:latin typeface="Aptos" panose="020B0004020202020204" pitchFamily="34" charset="0"/>
              </a:rPr>
              <a:t>For Students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5B5E74-562A-B5A3-18B9-E461E5FBC1C7}"/>
              </a:ext>
            </a:extLst>
          </p:cNvPr>
          <p:cNvSpPr txBox="1"/>
          <p:nvPr/>
        </p:nvSpPr>
        <p:spPr>
          <a:xfrm>
            <a:off x="6197600" y="3708400"/>
            <a:ext cx="3860800" cy="160043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Achievement points for self-learning attempts, practice, reflection, and improvement.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Badges, milestones, and progress recognition to encourage independent learning.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Confidence-building feedback that values effort, consistency, and growth.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46B904F-7856-5C88-F44E-1B8D338675A9}"/>
              </a:ext>
            </a:extLst>
          </p:cNvPr>
          <p:cNvSpPr/>
          <p:nvPr/>
        </p:nvSpPr>
        <p:spPr>
          <a:xfrm>
            <a:off x="11023600" y="3048000"/>
            <a:ext cx="4318000" cy="29210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10EC0C-9FE8-9289-9571-94C053F6412C}"/>
              </a:ext>
            </a:extLst>
          </p:cNvPr>
          <p:cNvSpPr txBox="1"/>
          <p:nvPr/>
        </p:nvSpPr>
        <p:spPr>
          <a:xfrm>
            <a:off x="11252200" y="3225800"/>
            <a:ext cx="3860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0953B4"/>
                </a:solidFill>
                <a:latin typeface="Aptos" panose="020B0004020202020204" pitchFamily="34" charset="0"/>
              </a:rPr>
              <a:t>For The Ecosystem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9EF7DC-4008-433A-BF06-8AF592002CF6}"/>
              </a:ext>
            </a:extLst>
          </p:cNvPr>
          <p:cNvSpPr txBox="1"/>
          <p:nvPr/>
        </p:nvSpPr>
        <p:spPr>
          <a:xfrm>
            <a:off x="11252200" y="3708400"/>
            <a:ext cx="3860800" cy="160043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Community initiatives that make education support more accessible.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A platform for schools, educators, parents, and partners to collaborate.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Continuous improvement through conversations, events, and data-backed insights.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DCA4D7-D844-99D9-1FF6-A2D988EF0DD0}"/>
              </a:ext>
            </a:extLst>
          </p:cNvPr>
          <p:cNvSpPr/>
          <p:nvPr/>
        </p:nvSpPr>
        <p:spPr>
          <a:xfrm>
            <a:off x="4381500" y="6477000"/>
            <a:ext cx="990600" cy="990600"/>
          </a:xfrm>
          <a:prstGeom prst="ellipse">
            <a:avLst/>
          </a:prstGeom>
          <a:solidFill>
            <a:srgbClr val="563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Develop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2FA8967-1056-F6FC-9399-E20A5125939E}"/>
              </a:ext>
            </a:extLst>
          </p:cNvPr>
          <p:cNvSpPr/>
          <p:nvPr/>
        </p:nvSpPr>
        <p:spPr>
          <a:xfrm>
            <a:off x="5905500" y="6477000"/>
            <a:ext cx="990600" cy="990600"/>
          </a:xfrm>
          <a:prstGeom prst="ellipse">
            <a:avLst/>
          </a:prstGeom>
          <a:solidFill>
            <a:srgbClr val="ED3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Discuss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BD44BF-469E-4701-2186-2E0809C65068}"/>
              </a:ext>
            </a:extLst>
          </p:cNvPr>
          <p:cNvSpPr/>
          <p:nvPr/>
        </p:nvSpPr>
        <p:spPr>
          <a:xfrm>
            <a:off x="7429500" y="6477000"/>
            <a:ext cx="990600" cy="990600"/>
          </a:xfrm>
          <a:prstGeom prst="ellipse">
            <a:avLst/>
          </a:prstGeom>
          <a:solidFill>
            <a:srgbClr val="867C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Assess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D88C3ED-A71B-FC51-DEB0-0D5795661263}"/>
              </a:ext>
            </a:extLst>
          </p:cNvPr>
          <p:cNvSpPr/>
          <p:nvPr/>
        </p:nvSpPr>
        <p:spPr>
          <a:xfrm>
            <a:off x="8953500" y="6477000"/>
            <a:ext cx="990600" cy="990600"/>
          </a:xfrm>
          <a:prstGeom prst="ellipse">
            <a:avLst/>
          </a:prstGeom>
          <a:solidFill>
            <a:srgbClr val="0953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Reward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0DD11CF-8F00-C4D7-CB27-1188743D7BE6}"/>
              </a:ext>
            </a:extLst>
          </p:cNvPr>
          <p:cNvSpPr/>
          <p:nvPr/>
        </p:nvSpPr>
        <p:spPr>
          <a:xfrm>
            <a:off x="10477500" y="6477000"/>
            <a:ext cx="990600" cy="990600"/>
          </a:xfrm>
          <a:prstGeom prst="ellipse">
            <a:avLst/>
          </a:prstGeom>
          <a:solidFill>
            <a:srgbClr val="5A85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Grow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842DA0-1328-3709-C41D-0E97FD985DE4}"/>
              </a:ext>
            </a:extLst>
          </p:cNvPr>
          <p:cNvCxnSpPr/>
          <p:nvPr/>
        </p:nvCxnSpPr>
        <p:spPr>
          <a:xfrm>
            <a:off x="5372100" y="6959600"/>
            <a:ext cx="533400" cy="0"/>
          </a:xfrm>
          <a:prstGeom prst="line">
            <a:avLst/>
          </a:prstGeom>
          <a:ln w="25400">
            <a:solidFill>
              <a:srgbClr val="9C90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B26D241-C4C8-CFB6-8E75-E394DE9DB30C}"/>
              </a:ext>
            </a:extLst>
          </p:cNvPr>
          <p:cNvCxnSpPr/>
          <p:nvPr/>
        </p:nvCxnSpPr>
        <p:spPr>
          <a:xfrm>
            <a:off x="6896100" y="6959600"/>
            <a:ext cx="533400" cy="0"/>
          </a:xfrm>
          <a:prstGeom prst="line">
            <a:avLst/>
          </a:prstGeom>
          <a:ln w="25400">
            <a:solidFill>
              <a:srgbClr val="9C90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B682B5-CE44-9CD6-4C4D-0F39CFEE7AA8}"/>
              </a:ext>
            </a:extLst>
          </p:cNvPr>
          <p:cNvCxnSpPr/>
          <p:nvPr/>
        </p:nvCxnSpPr>
        <p:spPr>
          <a:xfrm>
            <a:off x="8420100" y="6959600"/>
            <a:ext cx="533400" cy="0"/>
          </a:xfrm>
          <a:prstGeom prst="line">
            <a:avLst/>
          </a:prstGeom>
          <a:ln w="25400">
            <a:solidFill>
              <a:srgbClr val="9C90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901E726-0BBE-D54F-9C20-32B374AADD25}"/>
              </a:ext>
            </a:extLst>
          </p:cNvPr>
          <p:cNvCxnSpPr/>
          <p:nvPr/>
        </p:nvCxnSpPr>
        <p:spPr>
          <a:xfrm>
            <a:off x="9944100" y="6959600"/>
            <a:ext cx="533400" cy="0"/>
          </a:xfrm>
          <a:prstGeom prst="line">
            <a:avLst/>
          </a:prstGeom>
          <a:ln w="25400">
            <a:solidFill>
              <a:srgbClr val="9C90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F7946BA-803D-E269-6A9C-EA1EC146312D}"/>
              </a:ext>
            </a:extLst>
          </p:cNvPr>
          <p:cNvSpPr txBox="1"/>
          <p:nvPr/>
        </p:nvSpPr>
        <p:spPr>
          <a:xfrm>
            <a:off x="914400" y="7569200"/>
            <a:ext cx="8509000" cy="39498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900" b="1">
                <a:solidFill>
                  <a:srgbClr val="867C0E"/>
                </a:solidFill>
                <a:latin typeface="Aptos" panose="020B0004020202020204" pitchFamily="34" charset="0"/>
              </a:rPr>
              <a:t>Call to action: Partner with us to create impact.</a:t>
            </a:r>
          </a:p>
        </p:txBody>
      </p:sp>
      <p:sp>
        <p:nvSpPr>
          <p:cNvPr id="27" name="Rectangle: Rounded Corners 26">
            <a:hlinkClick r:id="rId2"/>
            <a:extLst>
              <a:ext uri="{FF2B5EF4-FFF2-40B4-BE49-F238E27FC236}">
                <a16:creationId xmlns:a16="http://schemas.microsoft.com/office/drawing/2014/main" id="{6A2EFB40-F418-212C-D58A-654B36E22183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42B9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03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E64454-7070-B51A-B5BE-B0386DDAC8D4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321702-F17A-0E55-9289-CB0A73E678D2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563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0F7EFC-105C-C7B2-B166-B682678B84E4}"/>
              </a:ext>
            </a:extLst>
          </p:cNvPr>
          <p:cNvSpPr txBox="1"/>
          <p:nvPr/>
        </p:nvSpPr>
        <p:spPr>
          <a:xfrm>
            <a:off x="558800" y="215900"/>
            <a:ext cx="2286000" cy="4257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1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A73D79-7200-5E36-8FA2-A3B2F3D1BCEE}"/>
              </a:ext>
            </a:extLst>
          </p:cNvPr>
          <p:cNvSpPr txBox="1"/>
          <p:nvPr/>
        </p:nvSpPr>
        <p:spPr>
          <a:xfrm>
            <a:off x="12192000" y="254000"/>
            <a:ext cx="3302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F2EADC"/>
                </a:solidFill>
                <a:latin typeface="Aptos" panose="020B0004020202020204" pitchFamily="34" charset="0"/>
              </a:rPr>
              <a:t>Demo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EF065-2388-E154-CDFC-D40EECCF77E7}"/>
              </a:ext>
            </a:extLst>
          </p:cNvPr>
          <p:cNvSpPr txBox="1"/>
          <p:nvPr/>
        </p:nvSpPr>
        <p:spPr>
          <a:xfrm>
            <a:off x="736600" y="1308100"/>
            <a:ext cx="10414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3200" b="1">
                <a:solidFill>
                  <a:srgbClr val="563B18"/>
                </a:solidFill>
                <a:latin typeface="Aptos" panose="020B0004020202020204" pitchFamily="34" charset="0"/>
              </a:rPr>
              <a:t>Demo 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C9C18-8F70-642B-7129-C6096521638D}"/>
              </a:ext>
            </a:extLst>
          </p:cNvPr>
          <p:cNvSpPr txBox="1"/>
          <p:nvPr/>
        </p:nvSpPr>
        <p:spPr>
          <a:xfrm>
            <a:off x="787400" y="2095500"/>
            <a:ext cx="99060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700">
                <a:solidFill>
                  <a:srgbClr val="6B6152"/>
                </a:solidFill>
                <a:latin typeface="Aptos" panose="020B0004020202020204" pitchFamily="34" charset="0"/>
              </a:rPr>
              <a:t>Explore Edufirst through the product demo on every slide.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DAC001-9A50-CE48-AD9C-FA42DEEE1E6E}"/>
              </a:ext>
            </a:extLst>
          </p:cNvPr>
          <p:cNvSpPr/>
          <p:nvPr/>
        </p:nvSpPr>
        <p:spPr>
          <a:xfrm>
            <a:off x="863600" y="3022600"/>
            <a:ext cx="6731000" cy="39370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0EF2A2-E61B-0228-D933-555120AE8C22}"/>
              </a:ext>
            </a:extLst>
          </p:cNvPr>
          <p:cNvSpPr txBox="1"/>
          <p:nvPr/>
        </p:nvSpPr>
        <p:spPr>
          <a:xfrm>
            <a:off x="1092200" y="3200400"/>
            <a:ext cx="6273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867C0E"/>
                </a:solidFill>
                <a:latin typeface="Aptos" panose="020B0004020202020204" pitchFamily="34" charset="0"/>
              </a:rPr>
              <a:t>Demo Areas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7CA152-4C6F-C974-7188-6541805D53ED}"/>
              </a:ext>
            </a:extLst>
          </p:cNvPr>
          <p:cNvSpPr txBox="1"/>
          <p:nvPr/>
        </p:nvSpPr>
        <p:spPr>
          <a:xfrm>
            <a:off x="1092200" y="3683000"/>
            <a:ext cx="6273800" cy="96436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Student learning dashboard and achievement points.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Teacher grading, feedback, analytics, and AI teaching tools.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Parent communication, attendance, homework, and progress updates.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Admin analytics, reports, curriculum progress, and institution-level decisions.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F6118B-FCF8-E0C9-4DE7-18D8E2F464BC}"/>
              </a:ext>
            </a:extLst>
          </p:cNvPr>
          <p:cNvSpPr/>
          <p:nvPr/>
        </p:nvSpPr>
        <p:spPr>
          <a:xfrm>
            <a:off x="8153400" y="3022600"/>
            <a:ext cx="6731000" cy="39370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90B4BD-F883-CF47-5C00-54E34E718A2A}"/>
              </a:ext>
            </a:extLst>
          </p:cNvPr>
          <p:cNvSpPr txBox="1"/>
          <p:nvPr/>
        </p:nvSpPr>
        <p:spPr>
          <a:xfrm>
            <a:off x="8382000" y="3200400"/>
            <a:ext cx="6273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0953B4"/>
                </a:solidFill>
                <a:latin typeface="Aptos" panose="020B0004020202020204" pitchFamily="34" charset="0"/>
              </a:rPr>
              <a:t>What To Show Live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43BFC7-AAD7-4939-14F1-5BC6FB2223FC}"/>
              </a:ext>
            </a:extLst>
          </p:cNvPr>
          <p:cNvSpPr txBox="1"/>
          <p:nvPr/>
        </p:nvSpPr>
        <p:spPr>
          <a:xfrm>
            <a:off x="8382000" y="3683000"/>
            <a:ext cx="6273800" cy="138499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Personalized learning path.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Knowledge-gap report.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Connected dashboard across roles.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Curriculum mapping and safe school setup.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Give-back features: forums, events, teacher development, and student rewards.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85AC31-BA63-210D-6890-B775850864DF}"/>
              </a:ext>
            </a:extLst>
          </p:cNvPr>
          <p:cNvSpPr txBox="1"/>
          <p:nvPr/>
        </p:nvSpPr>
        <p:spPr>
          <a:xfrm>
            <a:off x="914400" y="7569200"/>
            <a:ext cx="8509000" cy="39498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900" b="1">
                <a:solidFill>
                  <a:srgbClr val="867C0E"/>
                </a:solidFill>
                <a:latin typeface="Aptos" panose="020B0004020202020204" pitchFamily="34" charset="0"/>
              </a:rPr>
              <a:t>Call to action: Click the demo link and view the platform.</a:t>
            </a:r>
          </a:p>
        </p:txBody>
      </p:sp>
      <p:sp>
        <p:nvSpPr>
          <p:cNvPr id="15" name="Rectangle: Rounded Corners 14">
            <a:hlinkClick r:id="rId2"/>
            <a:extLst>
              <a:ext uri="{FF2B5EF4-FFF2-40B4-BE49-F238E27FC236}">
                <a16:creationId xmlns:a16="http://schemas.microsoft.com/office/drawing/2014/main" id="{E9B01899-7DE3-A33C-A6AE-4748F0D2C168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42B9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583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66F928-9498-8998-E350-D1E2D6C3D84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075CC4-1C96-F8B5-F9C8-36467E190651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563B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C357E-7DB9-000B-3FC3-E86C33975384}"/>
              </a:ext>
            </a:extLst>
          </p:cNvPr>
          <p:cNvSpPr txBox="1"/>
          <p:nvPr/>
        </p:nvSpPr>
        <p:spPr>
          <a:xfrm>
            <a:off x="558800" y="215900"/>
            <a:ext cx="2286000" cy="4257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1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43DD1-1B5C-1995-F62A-D12065DCCC76}"/>
              </a:ext>
            </a:extLst>
          </p:cNvPr>
          <p:cNvSpPr txBox="1"/>
          <p:nvPr/>
        </p:nvSpPr>
        <p:spPr>
          <a:xfrm>
            <a:off x="12192000" y="254000"/>
            <a:ext cx="3302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F2EADC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FFFAA-E07B-9FFA-28BD-52779725CD27}"/>
              </a:ext>
            </a:extLst>
          </p:cNvPr>
          <p:cNvSpPr txBox="1"/>
          <p:nvPr/>
        </p:nvSpPr>
        <p:spPr>
          <a:xfrm>
            <a:off x="736600" y="1333500"/>
            <a:ext cx="11430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3200" b="1">
                <a:solidFill>
                  <a:srgbClr val="563B18"/>
                </a:solidFill>
                <a:latin typeface="Aptos" panose="020B0004020202020204" pitchFamily="34" charset="0"/>
              </a:rPr>
              <a:t>Building the Future of Education, One Learner 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438CE-8359-A52A-D5BA-B50A32F02AFA}"/>
              </a:ext>
            </a:extLst>
          </p:cNvPr>
          <p:cNvSpPr txBox="1"/>
          <p:nvPr/>
        </p:nvSpPr>
        <p:spPr>
          <a:xfrm>
            <a:off x="812800" y="2476500"/>
            <a:ext cx="11684000" cy="71814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>
                <a:solidFill>
                  <a:srgbClr val="6B6152"/>
                </a:solidFill>
                <a:latin typeface="Aptos" panose="020B0004020202020204" pitchFamily="34" charset="0"/>
              </a:rPr>
              <a:t>Edufirst combines AI, learning science, teacher empowerment, student motivation, and community development into one future-ready education ecosystem.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48CC56-6F0B-CFCB-844C-2324F7C28696}"/>
              </a:ext>
            </a:extLst>
          </p:cNvPr>
          <p:cNvSpPr/>
          <p:nvPr/>
        </p:nvSpPr>
        <p:spPr>
          <a:xfrm>
            <a:off x="1219200" y="3746500"/>
            <a:ext cx="6223000" cy="31115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D57310-ED0D-1B92-A3E1-4ECCB289FE9E}"/>
              </a:ext>
            </a:extLst>
          </p:cNvPr>
          <p:cNvSpPr txBox="1"/>
          <p:nvPr/>
        </p:nvSpPr>
        <p:spPr>
          <a:xfrm>
            <a:off x="1447800" y="3924300"/>
            <a:ext cx="5765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867C0E"/>
                </a:solidFill>
                <a:latin typeface="Aptos" panose="020B0004020202020204" pitchFamily="34" charset="0"/>
              </a:rPr>
              <a:t>Why It Matters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469688-5C75-8673-BAF7-609A590C1C07}"/>
              </a:ext>
            </a:extLst>
          </p:cNvPr>
          <p:cNvSpPr txBox="1"/>
          <p:nvPr/>
        </p:nvSpPr>
        <p:spPr>
          <a:xfrm>
            <a:off x="1447800" y="4406900"/>
            <a:ext cx="5765800" cy="116955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Identifies knowledge gaps and learning difficulties early.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Personalizes support while keeping teachers central to the process.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Improves communication between school, home, and management.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Encourages self-learning through recognition, achievement points, and growth milestones.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1A3AEE-E0F9-D363-D476-9119FE51F230}"/>
              </a:ext>
            </a:extLst>
          </p:cNvPr>
          <p:cNvSpPr/>
          <p:nvPr/>
        </p:nvSpPr>
        <p:spPr>
          <a:xfrm>
            <a:off x="8445500" y="3746500"/>
            <a:ext cx="6223000" cy="3111500"/>
          </a:xfrm>
          <a:prstGeom prst="roundRect">
            <a:avLst/>
          </a:prstGeom>
          <a:solidFill>
            <a:srgbClr val="FFFFFF"/>
          </a:solidFill>
          <a:ln>
            <a:solidFill>
              <a:srgbClr val="E3D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B10A54-3B60-3E73-AA65-8A3D8C0C98DC}"/>
              </a:ext>
            </a:extLst>
          </p:cNvPr>
          <p:cNvSpPr txBox="1"/>
          <p:nvPr/>
        </p:nvSpPr>
        <p:spPr>
          <a:xfrm>
            <a:off x="8674100" y="3924300"/>
            <a:ext cx="57658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b="1">
                <a:solidFill>
                  <a:srgbClr val="563B18"/>
                </a:solidFill>
                <a:latin typeface="Aptos" panose="020B0004020202020204" pitchFamily="34" charset="0"/>
              </a:rPr>
              <a:t>Final Message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0F8993-69B0-FE2E-7BFA-5C77F5A20D75}"/>
              </a:ext>
            </a:extLst>
          </p:cNvPr>
          <p:cNvSpPr txBox="1"/>
          <p:nvPr/>
        </p:nvSpPr>
        <p:spPr>
          <a:xfrm>
            <a:off x="8674100" y="4406900"/>
            <a:ext cx="5765800" cy="96436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Education in these new times needs practical technology and a strong human mission.</a:t>
            </a:r>
          </a:p>
          <a:p>
            <a:r>
              <a:rPr lang="en-US" sz="1400">
                <a:solidFill>
                  <a:srgbClr val="42372D"/>
                </a:solidFill>
                <a:latin typeface="Aptos" panose="020B0004020202020204" pitchFamily="34" charset="0"/>
              </a:rPr>
              <a:t>• Edufirst helps schools become adaptive, inclusive, data-aware, and ready for the newer times to come.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63DF68-1E9E-47E6-AE98-0D288C566808}"/>
              </a:ext>
            </a:extLst>
          </p:cNvPr>
          <p:cNvSpPr txBox="1"/>
          <p:nvPr/>
        </p:nvSpPr>
        <p:spPr>
          <a:xfrm>
            <a:off x="914400" y="7569200"/>
            <a:ext cx="9017000" cy="39498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900" b="1">
                <a:solidFill>
                  <a:srgbClr val="867C0E"/>
                </a:solidFill>
                <a:latin typeface="Aptos" panose="020B0004020202020204" pitchFamily="34" charset="0"/>
              </a:rPr>
              <a:t>Call to action: Let us build future-ready schools together.</a:t>
            </a:r>
          </a:p>
        </p:txBody>
      </p:sp>
      <p:sp>
        <p:nvSpPr>
          <p:cNvPr id="15" name="Rectangle: Rounded Corners 14">
            <a:hlinkClick r:id="rId2"/>
            <a:extLst>
              <a:ext uri="{FF2B5EF4-FFF2-40B4-BE49-F238E27FC236}">
                <a16:creationId xmlns:a16="http://schemas.microsoft.com/office/drawing/2014/main" id="{642B9AEC-020A-825D-5E6E-2F535B443954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42B9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874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</Words>
  <Application>Microsoft Office PowerPoint</Application>
  <PresentationFormat>Custom</PresentationFormat>
  <Paragraphs>133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2026-10-13T12:26:24Z</dcterms:created>
  <dcterms:modified xsi:type="dcterms:W3CDTF">2026-10-13T12:26:24Z</dcterms:modified>
</cp:coreProperties>
</file>