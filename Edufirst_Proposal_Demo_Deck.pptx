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8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1623-CC88-EB21-F060-63C7525F6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42528-2877-A41E-7F87-0D39B696D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F12C3-FC44-572A-D904-42068F88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0A371-EDD4-0F4C-CC7D-197BDB26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8B0F6-3A9E-74D8-9C2F-B4CCF2EB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3FE32-5CA3-FE9C-2630-6BC74F90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C617F-FCE6-DE24-FF3D-B0539558B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9330B-BB3A-B152-77D7-95CEAE11F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B4980-3B5C-267D-9E5B-C4D8EDB26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AEB54-6487-D414-7E1E-05A5E9AD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0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4AE22-6931-CAC0-EA5D-8E776532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F3DBC-5B3D-E6E7-D2AB-64D77077E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7B97C-F176-12BE-451F-125869D2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5D92-A639-9632-6883-D9271A26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87DC5-C49D-AB8A-CA47-0C2E7B5D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2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01C4-D125-817C-5120-6A9869D2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87E88-54EB-BFA4-F18E-E4F1B85BC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6BB85-4C7B-B423-AA0C-CF7DC8CDF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EAD1D-66EA-4945-822D-D7E7FE654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E0E73-048F-10BC-3359-357CD7A6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118D7-D864-9678-747D-45137224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57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2207-8B04-768F-FDC4-3389BCA5D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9F167-CE7C-8FC8-3DB4-C47BA8AA7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790E0-FA38-D2DD-8AE2-90325EC71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0C405-362F-B0CE-C946-0CE21165F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70341-BB27-6A1D-21F5-4120CCC7E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A63396-D672-4623-EE52-BA3B23D6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7797C-0025-3772-C641-6D2B7388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FFEB6-8714-EE10-D7F8-852A1881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5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628F-9FD2-9A3A-C5BF-D9E7B3A5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92C2B-D360-A066-0700-76D8A32A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1C1AB-6C12-8D7B-5484-653E6389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35839-531E-6E4A-F875-054B7013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4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DB003-8A46-DA46-4C62-D94C8EE1B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F037B2-A11F-B365-5D84-6F7E0C46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AFBEA-8E7F-092C-6A18-00AF76988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1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4F69-A708-06D5-A0EC-25BFDA74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0BC32-C6AD-313C-0D54-E8C0FA359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A0EC1-4759-E9F8-3DB2-5B8618B11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A53BF-0F29-0516-54C2-3FED5690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AC3F3-B4BC-1274-F032-A23DE21A2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62279-2FC0-733C-78EE-DC4A5575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1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8231-CAB9-38DC-DB68-E4615B189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F78B0B-C4A5-A8C4-90FA-7085A62C0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83BA6-50B9-2828-1EEC-44B4F54AE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551AC-A8DE-EBE7-ABB6-7FC53507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79375-E71D-FF03-027F-0482A107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15955-0965-4071-EA4B-DF56E068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6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6D9AA-9137-7538-6221-13A87921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1E157-200E-97C7-F28E-46B8F3A48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2B00-6197-3A4C-EF53-511EA291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6D1C1-FBC8-D995-8314-E0321091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2EF8-590F-A97A-699D-B13B6B4C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21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CD7C6-3077-A762-1292-44ED5BF24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7C4CB-65CA-2C04-0161-93A8323D0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2C7B0-4F65-A51B-1802-C33531FD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7A8E7-E6B9-8942-215F-F11CC763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A3DFC-9380-00E6-5054-CDA1C255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1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755600-A785-17F6-B43D-37F327FE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EA2E-10CB-611E-28E7-00A213D87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4F5A4-F924-575B-530D-07CC7B28B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75D3C2-BF03-4A4B-9CA5-1A598DDE76AA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94160-121E-5678-7284-61AE3E3E6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D9C2A-1B66-D433-3914-400F626C0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D5D78-A7DD-4C94-86F1-54E3D1ED0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0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3A359F-856B-651B-D814-CC45FECCD849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7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0DF5DB-E5CE-5C5D-4662-E713176583A7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5C3B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CBAC2-CA06-0F10-7094-D64316FB7D19}"/>
              </a:ext>
            </a:extLst>
          </p:cNvPr>
          <p:cNvSpPr txBox="1"/>
          <p:nvPr/>
        </p:nvSpPr>
        <p:spPr>
          <a:xfrm>
            <a:off x="533400" y="228600"/>
            <a:ext cx="2286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B2137-001D-ED3C-DB4D-41380A2F9C53}"/>
              </a:ext>
            </a:extLst>
          </p:cNvPr>
          <p:cNvSpPr txBox="1"/>
          <p:nvPr/>
        </p:nvSpPr>
        <p:spPr>
          <a:xfrm>
            <a:off x="685800" y="1397000"/>
            <a:ext cx="8255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5C3B16"/>
                </a:solidFill>
                <a:latin typeface="Aptos" panose="020B0004020202020204" pitchFamily="34" charset="0"/>
              </a:rPr>
              <a:t>Make Education More Engaging, Effective and Accessible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317E8-5B2F-9ED4-79ED-DF54156A8ABE}"/>
              </a:ext>
            </a:extLst>
          </p:cNvPr>
          <p:cNvSpPr txBox="1"/>
          <p:nvPr/>
        </p:nvSpPr>
        <p:spPr>
          <a:xfrm>
            <a:off x="736600" y="2362200"/>
            <a:ext cx="825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635D4F"/>
                </a:solidFill>
                <a:latin typeface="Aptos" panose="020B0004020202020204" pitchFamily="34" charset="0"/>
              </a:rPr>
              <a:t>A learner-centered and teacher-empowered platform built for the future of education.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24DA6-5D2F-E471-3D95-694A107AC4E5}"/>
              </a:ext>
            </a:extLst>
          </p:cNvPr>
          <p:cNvSpPr txBox="1"/>
          <p:nvPr/>
        </p:nvSpPr>
        <p:spPr>
          <a:xfrm>
            <a:off x="914400" y="3429000"/>
            <a:ext cx="7874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Combines AI, learning science, curriculum mapping, and real-time analytics.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Supports students, teachers, parents, and school management in one experience.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Turns daily academic activity into visible growth and timely action.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Demo feature: student dashboard and personalized learning view.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B8774D-6041-3412-91F5-80C1310763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1460500"/>
            <a:ext cx="5461000" cy="5461000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58091A-E63E-D433-0056-AA00BB0206EA}"/>
              </a:ext>
            </a:extLst>
          </p:cNvPr>
          <p:cNvSpPr txBox="1"/>
          <p:nvPr/>
        </p:nvSpPr>
        <p:spPr>
          <a:xfrm>
            <a:off x="914400" y="75946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867C0E"/>
                </a:solidFill>
                <a:latin typeface="Aptos" panose="020B0004020202020204" pitchFamily="34" charset="0"/>
              </a:rPr>
              <a:t>Call to action: Experience the future of learning.</a:t>
            </a:r>
          </a:p>
        </p:txBody>
      </p:sp>
      <p:sp>
        <p:nvSpPr>
          <p:cNvPr id="11" name="Rectangle: Rounded Corners 10">
            <a:hlinkClick r:id="rId3"/>
            <a:extLst>
              <a:ext uri="{FF2B5EF4-FFF2-40B4-BE49-F238E27FC236}">
                <a16:creationId xmlns:a16="http://schemas.microsoft.com/office/drawing/2014/main" id="{EAB7F559-0914-8553-FBAD-82A8215CEDF0}"/>
              </a:ext>
            </a:extLst>
          </p:cNvPr>
          <p:cNvSpPr/>
          <p:nvPr/>
        </p:nvSpPr>
        <p:spPr>
          <a:xfrm>
            <a:off x="11303000" y="8077200"/>
            <a:ext cx="4191000" cy="609600"/>
          </a:xfrm>
          <a:prstGeom prst="roundRect">
            <a:avLst/>
          </a:prstGeom>
          <a:solidFill>
            <a:srgbClr val="29B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 panose="020B0004020202020204" pitchFamily="34" charset="0"/>
              </a:rPr>
              <a:t>Demo: https://electroniceducare.com</a:t>
            </a:r>
          </a:p>
        </p:txBody>
      </p:sp>
    </p:spTree>
    <p:extLst>
      <p:ext uri="{BB962C8B-B14F-4D97-AF65-F5344CB8AC3E}">
        <p14:creationId xmlns:p14="http://schemas.microsoft.com/office/powerpoint/2010/main" val="3925261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D303A-A97D-E3FF-B7EB-0176FB853F8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7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56EFD7-B422-7926-D1BD-59FD9F95327A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5C3B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91777-2759-66A9-A4CE-C6EF4B72A7FA}"/>
              </a:ext>
            </a:extLst>
          </p:cNvPr>
          <p:cNvSpPr txBox="1"/>
          <p:nvPr/>
        </p:nvSpPr>
        <p:spPr>
          <a:xfrm>
            <a:off x="533400" y="228600"/>
            <a:ext cx="2286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90D9A-85E9-A26A-BA7B-EA36EDCDF160}"/>
              </a:ext>
            </a:extLst>
          </p:cNvPr>
          <p:cNvSpPr txBox="1"/>
          <p:nvPr/>
        </p:nvSpPr>
        <p:spPr>
          <a:xfrm>
            <a:off x="685800" y="1397000"/>
            <a:ext cx="8255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5C3B16"/>
                </a:solidFill>
                <a:latin typeface="Aptos" panose="020B0004020202020204" pitchFamily="34" charset="0"/>
              </a:rPr>
              <a:t>Learner-Centered. Teacher-Empowered. Future-Ready.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65E16-0E7F-B21A-C8AE-911F682BCD85}"/>
              </a:ext>
            </a:extLst>
          </p:cNvPr>
          <p:cNvSpPr txBox="1"/>
          <p:nvPr/>
        </p:nvSpPr>
        <p:spPr>
          <a:xfrm>
            <a:off x="736600" y="2362200"/>
            <a:ext cx="825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635D4F"/>
                </a:solidFill>
                <a:latin typeface="Aptos" panose="020B0004020202020204" pitchFamily="34" charset="0"/>
              </a:rPr>
              <a:t>Learning that understands every student and gives teachers faster, clearer support.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8B0AE5-E36A-2FF1-61F3-32602EE407F8}"/>
              </a:ext>
            </a:extLst>
          </p:cNvPr>
          <p:cNvSpPr txBox="1"/>
          <p:nvPr/>
        </p:nvSpPr>
        <p:spPr>
          <a:xfrm>
            <a:off x="914400" y="3429000"/>
            <a:ext cx="7874000" cy="25853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Builds critical thinking, creativity, problem-solving, self-identity, and collaboration.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Promotes experiential learning through doing, exploring, practice, and reflection.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Uses adaptive content, evidence-based observations, and knowledge-gap tracking.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Reduces correction time and gives teachers instant feedback, lesson insights, and progress signals.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Demo feature: AI-powered student progress and knowledge-gap report.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F64A0D-B3DA-1DE7-4BA0-3A84BF94F3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1460500"/>
            <a:ext cx="5461000" cy="5461000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365CDA-CC8C-0CCE-BE8F-650E54A0A39B}"/>
              </a:ext>
            </a:extLst>
          </p:cNvPr>
          <p:cNvSpPr txBox="1"/>
          <p:nvPr/>
        </p:nvSpPr>
        <p:spPr>
          <a:xfrm>
            <a:off x="914400" y="75946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867C0E"/>
                </a:solidFill>
                <a:latin typeface="Aptos" panose="020B0004020202020204" pitchFamily="34" charset="0"/>
              </a:rPr>
              <a:t>Call to action: See how learning becomes personal.</a:t>
            </a:r>
          </a:p>
        </p:txBody>
      </p:sp>
      <p:sp>
        <p:nvSpPr>
          <p:cNvPr id="11" name="Rectangle: Rounded Corners 10">
            <a:hlinkClick r:id="rId3"/>
            <a:extLst>
              <a:ext uri="{FF2B5EF4-FFF2-40B4-BE49-F238E27FC236}">
                <a16:creationId xmlns:a16="http://schemas.microsoft.com/office/drawing/2014/main" id="{5FCAD4AB-EDB1-7CEE-1296-2B9499D5EB2D}"/>
              </a:ext>
            </a:extLst>
          </p:cNvPr>
          <p:cNvSpPr/>
          <p:nvPr/>
        </p:nvSpPr>
        <p:spPr>
          <a:xfrm>
            <a:off x="11303000" y="8077200"/>
            <a:ext cx="4191000" cy="609600"/>
          </a:xfrm>
          <a:prstGeom prst="roundRect">
            <a:avLst/>
          </a:prstGeom>
          <a:solidFill>
            <a:srgbClr val="29B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 panose="020B0004020202020204" pitchFamily="34" charset="0"/>
              </a:rPr>
              <a:t>Demo: https://electroniceducare.com</a:t>
            </a:r>
          </a:p>
        </p:txBody>
      </p:sp>
    </p:spTree>
    <p:extLst>
      <p:ext uri="{BB962C8B-B14F-4D97-AF65-F5344CB8AC3E}">
        <p14:creationId xmlns:p14="http://schemas.microsoft.com/office/powerpoint/2010/main" val="118295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2D2B61-FE10-429C-8140-3CE8F8A83E4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7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2A2C0-BD04-5DF1-CEDC-054F6DC680F0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5C3B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EEA9C-328B-718A-821B-84C8AEE72092}"/>
              </a:ext>
            </a:extLst>
          </p:cNvPr>
          <p:cNvSpPr txBox="1"/>
          <p:nvPr/>
        </p:nvSpPr>
        <p:spPr>
          <a:xfrm>
            <a:off x="533400" y="228600"/>
            <a:ext cx="2286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0B0ED-D96A-3688-FF59-1688CB4FAAA0}"/>
              </a:ext>
            </a:extLst>
          </p:cNvPr>
          <p:cNvSpPr txBox="1"/>
          <p:nvPr/>
        </p:nvSpPr>
        <p:spPr>
          <a:xfrm>
            <a:off x="685800" y="1397000"/>
            <a:ext cx="8255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5C3B16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9C75C-A427-2BDF-F4A0-6EB406527D34}"/>
              </a:ext>
            </a:extLst>
          </p:cNvPr>
          <p:cNvSpPr txBox="1"/>
          <p:nvPr/>
        </p:nvSpPr>
        <p:spPr>
          <a:xfrm>
            <a:off x="736600" y="2362200"/>
            <a:ext cx="825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635D4F"/>
                </a:solidFill>
                <a:latin typeface="Aptos" panose="020B0004020202020204" pitchFamily="34" charset="0"/>
              </a:rPr>
              <a:t>One platform for learning, teaching, communication, documentation, assessment, and reporting.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50733-9B40-6B17-4578-45FD7F82CF60}"/>
              </a:ext>
            </a:extLst>
          </p:cNvPr>
          <p:cNvSpPr txBox="1"/>
          <p:nvPr/>
        </p:nvSpPr>
        <p:spPr>
          <a:xfrm>
            <a:off x="914400" y="3429000"/>
            <a:ext cx="78740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Supports web, Android, and iOS access for schools and families.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Connects performance, attendance, homework, assessments, feedback, reports, and records.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Keeps teachers, parents, students, and management aligned through real-time updates.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Replaces scattered tools with an organized digital workflow.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Demo feature: admin, teacher, parent, and student connected dashboard.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559C04-7265-5FC3-6015-F05CF9EFBC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1460500"/>
            <a:ext cx="5461000" cy="5461000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CC7F6A-AD69-4DD7-3F0E-4361A308E6BB}"/>
              </a:ext>
            </a:extLst>
          </p:cNvPr>
          <p:cNvSpPr txBox="1"/>
          <p:nvPr/>
        </p:nvSpPr>
        <p:spPr>
          <a:xfrm>
            <a:off x="914400" y="75946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867C0E"/>
                </a:solidFill>
                <a:latin typeface="Aptos" panose="020B0004020202020204" pitchFamily="34" charset="0"/>
              </a:rPr>
              <a:t>Call to action: Connect every role in the school.</a:t>
            </a:r>
          </a:p>
        </p:txBody>
      </p:sp>
      <p:sp>
        <p:nvSpPr>
          <p:cNvPr id="11" name="Rectangle: Rounded Corners 10">
            <a:hlinkClick r:id="rId3"/>
            <a:extLst>
              <a:ext uri="{FF2B5EF4-FFF2-40B4-BE49-F238E27FC236}">
                <a16:creationId xmlns:a16="http://schemas.microsoft.com/office/drawing/2014/main" id="{7AD09644-7F4A-3DA5-063E-26BFE133B610}"/>
              </a:ext>
            </a:extLst>
          </p:cNvPr>
          <p:cNvSpPr/>
          <p:nvPr/>
        </p:nvSpPr>
        <p:spPr>
          <a:xfrm>
            <a:off x="11303000" y="8077200"/>
            <a:ext cx="4191000" cy="609600"/>
          </a:xfrm>
          <a:prstGeom prst="roundRect">
            <a:avLst/>
          </a:prstGeom>
          <a:solidFill>
            <a:srgbClr val="29B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 panose="020B0004020202020204" pitchFamily="34" charset="0"/>
              </a:rPr>
              <a:t>Demo: https://electroniceducare.com</a:t>
            </a:r>
          </a:p>
        </p:txBody>
      </p:sp>
    </p:spTree>
    <p:extLst>
      <p:ext uri="{BB962C8B-B14F-4D97-AF65-F5344CB8AC3E}">
        <p14:creationId xmlns:p14="http://schemas.microsoft.com/office/powerpoint/2010/main" val="99913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7CEC09-6949-9B56-4D2E-7C25502FAC8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7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BA555B-1C17-0C8C-7CB9-4B8B7570666E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5C3B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0C97A-9F5D-64DD-BE0B-84B4D27FE4EA}"/>
              </a:ext>
            </a:extLst>
          </p:cNvPr>
          <p:cNvSpPr txBox="1"/>
          <p:nvPr/>
        </p:nvSpPr>
        <p:spPr>
          <a:xfrm>
            <a:off x="533400" y="228600"/>
            <a:ext cx="2286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0176B-49CB-3158-689F-F76895B6283E}"/>
              </a:ext>
            </a:extLst>
          </p:cNvPr>
          <p:cNvSpPr txBox="1"/>
          <p:nvPr/>
        </p:nvSpPr>
        <p:spPr>
          <a:xfrm>
            <a:off x="685800" y="1397000"/>
            <a:ext cx="8255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5C3B16"/>
                </a:solidFill>
                <a:latin typeface="Aptos" panose="020B0004020202020204" pitchFamily="34" charset="0"/>
              </a:rPr>
              <a:t>A Live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E912D-D860-E7D6-38CD-8754B2E7D8A5}"/>
              </a:ext>
            </a:extLst>
          </p:cNvPr>
          <p:cNvSpPr txBox="1"/>
          <p:nvPr/>
        </p:nvSpPr>
        <p:spPr>
          <a:xfrm>
            <a:off x="736600" y="2362200"/>
            <a:ext cx="825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635D4F"/>
                </a:solidFill>
                <a:latin typeface="Aptos" panose="020B0004020202020204" pitchFamily="34" charset="0"/>
              </a:rPr>
              <a:t>From classroom activity to real-time insight, every step becomes measurable and useful.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5A681-7B04-E945-2DC3-FC1F08E2BBBC}"/>
              </a:ext>
            </a:extLst>
          </p:cNvPr>
          <p:cNvSpPr txBox="1"/>
          <p:nvPr/>
        </p:nvSpPr>
        <p:spPr>
          <a:xfrm>
            <a:off x="914400" y="3429000"/>
            <a:ext cx="78740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Students complete lessons, homework, quizzes, tests, and activities.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Teachers record performance, feedback, observations, and learning behavior.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The AI engine identifies difficulty level, knowledge gaps, enquiry needs, and well-being indicators.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Students receive targeted learning paths while parents and management receive actionable insights.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Demo feature: live performance tracking from assignment to feedback.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DD0B54-E137-0223-8504-125960A49D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1460500"/>
            <a:ext cx="5461000" cy="5461000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212F40-3427-3369-CAA5-8745099AFEFB}"/>
              </a:ext>
            </a:extLst>
          </p:cNvPr>
          <p:cNvSpPr txBox="1"/>
          <p:nvPr/>
        </p:nvSpPr>
        <p:spPr>
          <a:xfrm>
            <a:off x="914400" y="75946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867C0E"/>
                </a:solidFill>
                <a:latin typeface="Aptos" panose="020B0004020202020204" pitchFamily="34" charset="0"/>
              </a:rPr>
              <a:t>Call to action: Watch the workflow in action.</a:t>
            </a:r>
          </a:p>
        </p:txBody>
      </p:sp>
      <p:sp>
        <p:nvSpPr>
          <p:cNvPr id="11" name="Rectangle: Rounded Corners 10">
            <a:hlinkClick r:id="rId3"/>
            <a:extLst>
              <a:ext uri="{FF2B5EF4-FFF2-40B4-BE49-F238E27FC236}">
                <a16:creationId xmlns:a16="http://schemas.microsoft.com/office/drawing/2014/main" id="{EDB5BB98-EBF1-ACC6-42E8-24713F3EF5A8}"/>
              </a:ext>
            </a:extLst>
          </p:cNvPr>
          <p:cNvSpPr/>
          <p:nvPr/>
        </p:nvSpPr>
        <p:spPr>
          <a:xfrm>
            <a:off x="11303000" y="8077200"/>
            <a:ext cx="4191000" cy="609600"/>
          </a:xfrm>
          <a:prstGeom prst="roundRect">
            <a:avLst/>
          </a:prstGeom>
          <a:solidFill>
            <a:srgbClr val="29B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 panose="020B0004020202020204" pitchFamily="34" charset="0"/>
              </a:rPr>
              <a:t>Demo: https://electroniceducare.com</a:t>
            </a:r>
          </a:p>
        </p:txBody>
      </p:sp>
    </p:spTree>
    <p:extLst>
      <p:ext uri="{BB962C8B-B14F-4D97-AF65-F5344CB8AC3E}">
        <p14:creationId xmlns:p14="http://schemas.microsoft.com/office/powerpoint/2010/main" val="9780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3CADD2-BCB6-075D-828B-234F7E699712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7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0E18EA-6C97-B739-F8EE-12DA48B4D868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5C3B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E2391-3BF6-2AF8-FEB8-5FF6CBEA9BC4}"/>
              </a:ext>
            </a:extLst>
          </p:cNvPr>
          <p:cNvSpPr txBox="1"/>
          <p:nvPr/>
        </p:nvSpPr>
        <p:spPr>
          <a:xfrm>
            <a:off x="533400" y="228600"/>
            <a:ext cx="2286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98660-948F-F978-A8ED-889AFF90FEFB}"/>
              </a:ext>
            </a:extLst>
          </p:cNvPr>
          <p:cNvSpPr txBox="1"/>
          <p:nvPr/>
        </p:nvSpPr>
        <p:spPr>
          <a:xfrm>
            <a:off x="685800" y="1397000"/>
            <a:ext cx="8255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5C3B16"/>
                </a:solidFill>
                <a:latin typeface="Aptos" panose="020B0004020202020204" pitchFamily="34" charset="0"/>
              </a:rPr>
              <a:t>Safe and Practical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F4B96-DF26-5748-3FAA-08ED78A0615A}"/>
              </a:ext>
            </a:extLst>
          </p:cNvPr>
          <p:cNvSpPr txBox="1"/>
          <p:nvPr/>
        </p:nvSpPr>
        <p:spPr>
          <a:xfrm>
            <a:off x="736600" y="2362200"/>
            <a:ext cx="825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635D4F"/>
                </a:solidFill>
                <a:latin typeface="Aptos" panose="020B0004020202020204" pitchFamily="34" charset="0"/>
              </a:rPr>
              <a:t>Built for real schools, real classrooms, and real constraints.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DE1304-1ABF-FB4A-8E6A-397C4C92B0CC}"/>
              </a:ext>
            </a:extLst>
          </p:cNvPr>
          <p:cNvSpPr txBox="1"/>
          <p:nvPr/>
        </p:nvSpPr>
        <p:spPr>
          <a:xfrm>
            <a:off x="914400" y="3429000"/>
            <a:ext cx="78740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Compact hybrid solution for proficiency-based learning.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Works with formative, summative, and backward curriculum mapping.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Supports gradual adoption where technical infrastructure is limited.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Improves documentation, secure records, communication, planning, and resource allocation.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Demo feature: school setup, class setup, and curriculum mapping module.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C1CE6-F416-F41C-FCE9-DB2444BFC5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1460500"/>
            <a:ext cx="5461000" cy="5461000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83205F-12A2-2E4D-F0F1-4600F3932478}"/>
              </a:ext>
            </a:extLst>
          </p:cNvPr>
          <p:cNvSpPr txBox="1"/>
          <p:nvPr/>
        </p:nvSpPr>
        <p:spPr>
          <a:xfrm>
            <a:off x="914400" y="75946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867C0E"/>
                </a:solidFill>
                <a:latin typeface="Aptos" panose="020B0004020202020204" pitchFamily="34" charset="0"/>
              </a:rPr>
              <a:t>Call to action: Start with a practical pilot.</a:t>
            </a:r>
          </a:p>
        </p:txBody>
      </p:sp>
      <p:sp>
        <p:nvSpPr>
          <p:cNvPr id="11" name="Rectangle: Rounded Corners 10">
            <a:hlinkClick r:id="rId3"/>
            <a:extLst>
              <a:ext uri="{FF2B5EF4-FFF2-40B4-BE49-F238E27FC236}">
                <a16:creationId xmlns:a16="http://schemas.microsoft.com/office/drawing/2014/main" id="{6EC771B8-C072-DDF8-1885-C226E57C8F80}"/>
              </a:ext>
            </a:extLst>
          </p:cNvPr>
          <p:cNvSpPr/>
          <p:nvPr/>
        </p:nvSpPr>
        <p:spPr>
          <a:xfrm>
            <a:off x="11303000" y="8077200"/>
            <a:ext cx="4191000" cy="609600"/>
          </a:xfrm>
          <a:prstGeom prst="roundRect">
            <a:avLst/>
          </a:prstGeom>
          <a:solidFill>
            <a:srgbClr val="29B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 panose="020B0004020202020204" pitchFamily="34" charset="0"/>
              </a:rPr>
              <a:t>Demo: https://electroniceducare.com</a:t>
            </a:r>
          </a:p>
        </p:txBody>
      </p:sp>
    </p:spTree>
    <p:extLst>
      <p:ext uri="{BB962C8B-B14F-4D97-AF65-F5344CB8AC3E}">
        <p14:creationId xmlns:p14="http://schemas.microsoft.com/office/powerpoint/2010/main" val="1446702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F72EB0-D688-F80B-7890-33E78F40C879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7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33FD3C-9C00-F16F-4D66-2A20B8A00BAC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5C3B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2ECAF-FAAC-6DD9-3DC3-BC717DEF753E}"/>
              </a:ext>
            </a:extLst>
          </p:cNvPr>
          <p:cNvSpPr txBox="1"/>
          <p:nvPr/>
        </p:nvSpPr>
        <p:spPr>
          <a:xfrm>
            <a:off x="533400" y="228600"/>
            <a:ext cx="2286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4D00D-366D-142C-9354-462575B3DDF9}"/>
              </a:ext>
            </a:extLst>
          </p:cNvPr>
          <p:cNvSpPr txBox="1"/>
          <p:nvPr/>
        </p:nvSpPr>
        <p:spPr>
          <a:xfrm>
            <a:off x="685800" y="1397000"/>
            <a:ext cx="8255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5C3B16"/>
                </a:solidFill>
                <a:latin typeface="Aptos" panose="020B0004020202020204" pitchFamily="34" charset="0"/>
              </a:rPr>
              <a:t>The Give Back 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957A4-615C-53CB-03F7-42559A6A9A68}"/>
              </a:ext>
            </a:extLst>
          </p:cNvPr>
          <p:cNvSpPr txBox="1"/>
          <p:nvPr/>
        </p:nvSpPr>
        <p:spPr>
          <a:xfrm>
            <a:off x="736600" y="2362200"/>
            <a:ext cx="825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635D4F"/>
                </a:solidFill>
                <a:latin typeface="Aptos" panose="020B0004020202020204" pitchFamily="34" charset="0"/>
              </a:rPr>
              <a:t>Technology should become a bridge for education, not a barrier.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2ECDE-4BFB-5CD3-17BC-4E160EA6DD5A}"/>
              </a:ext>
            </a:extLst>
          </p:cNvPr>
          <p:cNvSpPr txBox="1"/>
          <p:nvPr/>
        </p:nvSpPr>
        <p:spPr>
          <a:xfrm>
            <a:off x="914400" y="3429000"/>
            <a:ext cx="78740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Collaborates with institutions to implement advanced education solutions.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Supports young minds through teacher guidance and daily proficiency development.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Helps students build, retrieve, practice, and reflect on learning objectives.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Aims to improve knowledge retention, learning proficiency, confidence, and outcomes.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Demo feature: community or school partnership support module.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27BFB9-814D-CE42-B555-8E701759A34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1460500"/>
            <a:ext cx="5461000" cy="5461000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1CC84B-8D85-C2BB-3D49-DB8E4E605E80}"/>
              </a:ext>
            </a:extLst>
          </p:cNvPr>
          <p:cNvSpPr txBox="1"/>
          <p:nvPr/>
        </p:nvSpPr>
        <p:spPr>
          <a:xfrm>
            <a:off x="914400" y="75946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867C0E"/>
                </a:solidFill>
                <a:latin typeface="Aptos" panose="020B0004020202020204" pitchFamily="34" charset="0"/>
              </a:rPr>
              <a:t>Call to action: Partner with us to create impact.</a:t>
            </a:r>
          </a:p>
        </p:txBody>
      </p:sp>
      <p:sp>
        <p:nvSpPr>
          <p:cNvPr id="11" name="Rectangle: Rounded Corners 10">
            <a:hlinkClick r:id="rId3"/>
            <a:extLst>
              <a:ext uri="{FF2B5EF4-FFF2-40B4-BE49-F238E27FC236}">
                <a16:creationId xmlns:a16="http://schemas.microsoft.com/office/drawing/2014/main" id="{C4BA685F-85B9-0051-4A47-47750460DB93}"/>
              </a:ext>
            </a:extLst>
          </p:cNvPr>
          <p:cNvSpPr/>
          <p:nvPr/>
        </p:nvSpPr>
        <p:spPr>
          <a:xfrm>
            <a:off x="11303000" y="8077200"/>
            <a:ext cx="4191000" cy="609600"/>
          </a:xfrm>
          <a:prstGeom prst="roundRect">
            <a:avLst/>
          </a:prstGeom>
          <a:solidFill>
            <a:srgbClr val="29B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 panose="020B0004020202020204" pitchFamily="34" charset="0"/>
              </a:rPr>
              <a:t>Demo: https://electroniceducare.com</a:t>
            </a:r>
          </a:p>
        </p:txBody>
      </p:sp>
    </p:spTree>
    <p:extLst>
      <p:ext uri="{BB962C8B-B14F-4D97-AF65-F5344CB8AC3E}">
        <p14:creationId xmlns:p14="http://schemas.microsoft.com/office/powerpoint/2010/main" val="183428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5ABBB8-C75F-0B6F-EB2D-2C4BCF0F2D78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7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70B37-2186-33F9-7E50-2C611F9C790A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5C3B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8F31C-3371-2FC8-7C9C-141B212AE92B}"/>
              </a:ext>
            </a:extLst>
          </p:cNvPr>
          <p:cNvSpPr txBox="1"/>
          <p:nvPr/>
        </p:nvSpPr>
        <p:spPr>
          <a:xfrm>
            <a:off x="533400" y="228600"/>
            <a:ext cx="2286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FF415-47AC-C781-2DDD-C34C2C6C2793}"/>
              </a:ext>
            </a:extLst>
          </p:cNvPr>
          <p:cNvSpPr txBox="1"/>
          <p:nvPr/>
        </p:nvSpPr>
        <p:spPr>
          <a:xfrm>
            <a:off x="685800" y="1397000"/>
            <a:ext cx="8255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5C3B16"/>
                </a:solidFill>
                <a:latin typeface="Aptos" panose="020B0004020202020204" pitchFamily="34" charset="0"/>
              </a:rPr>
              <a:t>Demo Link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C39018-0462-E637-2BE3-578C44EF847C}"/>
              </a:ext>
            </a:extLst>
          </p:cNvPr>
          <p:cNvSpPr txBox="1"/>
          <p:nvPr/>
        </p:nvSpPr>
        <p:spPr>
          <a:xfrm>
            <a:off x="736600" y="2362200"/>
            <a:ext cx="825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635D4F"/>
                </a:solidFill>
                <a:latin typeface="Aptos" panose="020B0004020202020204" pitchFamily="34" charset="0"/>
              </a:rPr>
              <a:t>Explore how Edufirst supports learning, teaching, analytics, and school management.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EA24C-88D2-526D-8BEE-B538795EABE0}"/>
              </a:ext>
            </a:extLst>
          </p:cNvPr>
          <p:cNvSpPr txBox="1"/>
          <p:nvPr/>
        </p:nvSpPr>
        <p:spPr>
          <a:xfrm>
            <a:off x="914400" y="3429000"/>
            <a:ext cx="7874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Student learning dashboard.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Teacher grading, feedback, and AI teaching tools.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Parent communication, attendance, homework, and updates.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AI-powered learning-gap analysis and curriculum progress.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Admin analytics, reporting, and institution-wide decision support.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52CF92-DC85-6938-2356-00854EE955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1460500"/>
            <a:ext cx="5461000" cy="5461000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841913-3CA6-8D3F-580D-1A7A5D88DF54}"/>
              </a:ext>
            </a:extLst>
          </p:cNvPr>
          <p:cNvSpPr txBox="1"/>
          <p:nvPr/>
        </p:nvSpPr>
        <p:spPr>
          <a:xfrm>
            <a:off x="914400" y="75946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867C0E"/>
                </a:solidFill>
                <a:latin typeface="Aptos" panose="020B0004020202020204" pitchFamily="34" charset="0"/>
              </a:rPr>
              <a:t>Call to action: Scan or click to view the demo.</a:t>
            </a:r>
          </a:p>
        </p:txBody>
      </p:sp>
      <p:sp>
        <p:nvSpPr>
          <p:cNvPr id="11" name="Rectangle: Rounded Corners 10">
            <a:hlinkClick r:id="rId3"/>
            <a:extLst>
              <a:ext uri="{FF2B5EF4-FFF2-40B4-BE49-F238E27FC236}">
                <a16:creationId xmlns:a16="http://schemas.microsoft.com/office/drawing/2014/main" id="{98209B18-8C65-3DDB-06B4-14FFE2C59D8F}"/>
              </a:ext>
            </a:extLst>
          </p:cNvPr>
          <p:cNvSpPr/>
          <p:nvPr/>
        </p:nvSpPr>
        <p:spPr>
          <a:xfrm>
            <a:off x="11303000" y="8077200"/>
            <a:ext cx="4191000" cy="609600"/>
          </a:xfrm>
          <a:prstGeom prst="roundRect">
            <a:avLst/>
          </a:prstGeom>
          <a:solidFill>
            <a:srgbClr val="29B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 panose="020B0004020202020204" pitchFamily="34" charset="0"/>
              </a:rPr>
              <a:t>Demo: https://electroniceducare.com</a:t>
            </a:r>
          </a:p>
        </p:txBody>
      </p:sp>
    </p:spTree>
    <p:extLst>
      <p:ext uri="{BB962C8B-B14F-4D97-AF65-F5344CB8AC3E}">
        <p14:creationId xmlns:p14="http://schemas.microsoft.com/office/powerpoint/2010/main" val="407110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D1ADAF-E466-B966-7EE1-E429232156E2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7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2206FD-2A6C-4854-BD3B-EFBBAD5841DB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5C3B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E39AF-162A-0F23-9C2F-A9C6F0C46B0D}"/>
              </a:ext>
            </a:extLst>
          </p:cNvPr>
          <p:cNvSpPr txBox="1"/>
          <p:nvPr/>
        </p:nvSpPr>
        <p:spPr>
          <a:xfrm>
            <a:off x="533400" y="228600"/>
            <a:ext cx="2286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Edufirst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C3CBB-5A1F-B20A-A7A2-FFAEE39A4FCD}"/>
              </a:ext>
            </a:extLst>
          </p:cNvPr>
          <p:cNvSpPr txBox="1"/>
          <p:nvPr/>
        </p:nvSpPr>
        <p:spPr>
          <a:xfrm>
            <a:off x="685800" y="1397000"/>
            <a:ext cx="8255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5C3B16"/>
                </a:solidFill>
                <a:latin typeface="Aptos" panose="020B0004020202020204" pitchFamily="34" charset="0"/>
              </a:rPr>
              <a:t>Building the Future of Education, One Learner at a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5F819-26C0-8E01-9DBB-5DBF7D4981EA}"/>
              </a:ext>
            </a:extLst>
          </p:cNvPr>
          <p:cNvSpPr txBox="1"/>
          <p:nvPr/>
        </p:nvSpPr>
        <p:spPr>
          <a:xfrm>
            <a:off x="736600" y="2362200"/>
            <a:ext cx="825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635D4F"/>
                </a:solidFill>
                <a:latin typeface="Aptos" panose="020B0004020202020204" pitchFamily="34" charset="0"/>
              </a:rPr>
              <a:t>Edufirst brings AI, neuroscience, analytics, and human teaching together.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FD8C7-AE05-60B0-E7E7-9E1EC5F0D4B3}"/>
              </a:ext>
            </a:extLst>
          </p:cNvPr>
          <p:cNvSpPr txBox="1"/>
          <p:nvPr/>
        </p:nvSpPr>
        <p:spPr>
          <a:xfrm>
            <a:off x="914400" y="3429000"/>
            <a:ext cx="7874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Identifies gaps, personalizes support, improves communication, and speeds up decisions.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Makes education more adaptive, practical, inclusive, and deeply human.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Prepares schools for today, tomorrow, and the newer times to come.</a:t>
            </a:r>
          </a:p>
          <a:p>
            <a:r>
              <a:rPr lang="en-US">
                <a:solidFill>
                  <a:srgbClr val="202020"/>
                </a:solidFill>
                <a:latin typeface="Aptos" panose="020B0004020202020204" pitchFamily="34" charset="0"/>
              </a:rPr>
              <a:t>• Demo feature: full ecosystem overview and final product walkthrough.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4DB360-584B-AF6C-AA55-85F73CBBE1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1460500"/>
            <a:ext cx="5461000" cy="5461000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A0C40C-479E-8B96-F6EB-704B37D4B727}"/>
              </a:ext>
            </a:extLst>
          </p:cNvPr>
          <p:cNvSpPr txBox="1"/>
          <p:nvPr/>
        </p:nvSpPr>
        <p:spPr>
          <a:xfrm>
            <a:off x="914400" y="7594600"/>
            <a:ext cx="812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>
                <a:solidFill>
                  <a:srgbClr val="867C0E"/>
                </a:solidFill>
                <a:latin typeface="Aptos" panose="020B0004020202020204" pitchFamily="34" charset="0"/>
              </a:rPr>
              <a:t>Call to action: Let us build future-ready schools together.</a:t>
            </a:r>
          </a:p>
        </p:txBody>
      </p:sp>
      <p:sp>
        <p:nvSpPr>
          <p:cNvPr id="11" name="Rectangle: Rounded Corners 10">
            <a:hlinkClick r:id="rId3"/>
            <a:extLst>
              <a:ext uri="{FF2B5EF4-FFF2-40B4-BE49-F238E27FC236}">
                <a16:creationId xmlns:a16="http://schemas.microsoft.com/office/drawing/2014/main" id="{A8514419-B5FC-3C74-528F-11AE27ACC1B7}"/>
              </a:ext>
            </a:extLst>
          </p:cNvPr>
          <p:cNvSpPr/>
          <p:nvPr/>
        </p:nvSpPr>
        <p:spPr>
          <a:xfrm>
            <a:off x="11303000" y="8077200"/>
            <a:ext cx="4191000" cy="609600"/>
          </a:xfrm>
          <a:prstGeom prst="roundRect">
            <a:avLst/>
          </a:prstGeom>
          <a:solidFill>
            <a:srgbClr val="29B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Aptos" panose="020B0004020202020204" pitchFamily="34" charset="0"/>
              </a:rPr>
              <a:t>Demo: https://electroniceducare.com</a:t>
            </a:r>
          </a:p>
        </p:txBody>
      </p:sp>
    </p:spTree>
    <p:extLst>
      <p:ext uri="{BB962C8B-B14F-4D97-AF65-F5344CB8AC3E}">
        <p14:creationId xmlns:p14="http://schemas.microsoft.com/office/powerpoint/2010/main" val="1084935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</Words>
  <Application>Microsoft Office PowerPoint</Application>
  <PresentationFormat>Custom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2026-10-13T12:15:53Z</dcterms:created>
  <dcterms:modified xsi:type="dcterms:W3CDTF">2026-10-13T12:15:53Z</dcterms:modified>
</cp:coreProperties>
</file>