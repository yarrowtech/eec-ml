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3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09485-2E29-40FC-80D2-3272A40337C3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F49CD-7F56-4866-91CC-B2C39E89C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3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F49CD-7F56-4866-91CC-B2C39E89C3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30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F49CD-7F56-4866-91CC-B2C39E89C3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5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C97F-4D23-45D7-8288-4030AB5CF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1F392-9E65-EA9C-EE0B-3A7B04B72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2C25E-39F8-B745-0734-00B963D6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E2A5F-08C5-4EC1-6380-A539932C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3840-7482-677C-154F-5FB6B5A7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DADD-78C0-0E57-DC8E-B85A3141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7293-EFA1-EA3A-7192-042EFCC4C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226A3-778A-9800-E61A-3A2EAB4B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EC74-138C-5BE9-CCF8-16FA6961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DFB91-AEBF-88CF-8000-2A6DA400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5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D9BD-60E4-6BE1-1EAC-63067599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D3325-D4FF-2A5F-2FCA-8CC33E9A8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B519-21D3-640A-4F46-99B539E6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7CF1-C9AF-6833-B1E6-F60D3FAE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C04D0-BF4F-E3A1-CA93-4D80CBD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8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72DD-28A9-885D-9EAD-98C0278C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8726-22C1-7F07-911F-E77ECA76D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9B61C-E02F-4A90-A419-2024EB61A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F01AA-6A16-90FD-D45B-70E2AB8C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F2BF1-B08E-6F36-A70C-7616A1B6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A663B-2213-548C-A3C6-B7BCD2DE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65C8-5BAF-C81A-9188-03382312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BC402-5B24-7106-681A-029BEB9A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AE1F0-4838-B141-E295-B638F82D2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5D017-4C25-F99C-4E88-D018CACA0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C98D1-0490-F788-B3E7-04ACA4858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9ED35-49A6-6A94-3D28-C5CBFD6C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DBB19-1D8E-BE2A-F143-99EE2F94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9A79F-CDC3-0106-A286-054DCFF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6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E095-0D08-5853-728E-94F5D97D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386C5-F6D8-C182-311C-FCCBE571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3500B-4E2B-9C90-D2C0-94BCA122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8DC8E-4786-F498-7DFA-60E2C0A9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7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AD432-AC32-BB90-C809-2E459068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89E8B-4421-AAD4-A48B-B6E35183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57AC4-2D8F-05A7-C45F-457CD4F2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0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7F5F-CB47-AC80-AE50-9E853121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B7853-D516-D47E-5992-98C97D835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CACA8-CF01-B682-BCCE-96746AADB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B1531-2FED-8DED-BFAC-57B63B9D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15D83-DD9D-C46C-B94D-30677A3C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9A628-00F5-C0E0-738A-BED711B9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9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792A-1B0D-96EC-18D4-6D39D195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CBA97B-4737-0767-ABDE-A9057CEAD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AB543-5992-6792-D43A-0FF215099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F7029-B262-A772-A0C1-4D1850CE4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7AF96-E6C8-AE01-C422-8D0F19AE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220B5-0FE1-987D-0DA4-E0513634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492D-D553-A093-D4CB-70ACDA18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555FD-1F18-6C50-D3E6-8A9E05ADC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88322-868B-19F5-C3B5-695C4D25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2F7B4-9E8F-6E1A-663E-2D3E118F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A962-390C-D805-47AF-BABF32A1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3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7ED80-F6DD-F84B-2378-E58798ACE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8F239-7C02-B747-CA2C-CB664B1A1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56A2-DD44-F4B5-7302-9EE841B6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56BE-3709-3FE3-90F2-6F3B28B8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F374-D7C1-3255-472A-78836F2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6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A2B6C-F99D-B622-7171-5CFE0084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70B25-4326-729E-CAFC-DD3EFC26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41104-5CAD-A956-3CC6-3C5B92D3F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5A8A5-7580-68ED-9A96-489FBEAC7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B6E9-7B2F-F1CD-834C-57987E33E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1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lectroniceducaresales@yarrowtech.co.in" TargetMode="External"/><Relationship Id="rId7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a.me/916293764220" TargetMode="External"/><Relationship Id="rId5" Type="http://schemas.openxmlformats.org/officeDocument/2006/relationships/hyperlink" Target="https://eecdemo.vercel.app/" TargetMode="External"/><Relationship Id="rId4" Type="http://schemas.openxmlformats.org/officeDocument/2006/relationships/hyperlink" Target="https://electroniceducare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wa.me/916293764220" TargetMode="External"/><Relationship Id="rId4" Type="http://schemas.openxmlformats.org/officeDocument/2006/relationships/hyperlink" Target="https://eecdemo.vercel.app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wa.me/916293764220" TargetMode="External"/><Relationship Id="rId4" Type="http://schemas.openxmlformats.org/officeDocument/2006/relationships/hyperlink" Target="https://eecdemo.vercel.ap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a.me/916293764220" TargetMode="External"/><Relationship Id="rId5" Type="http://schemas.openxmlformats.org/officeDocument/2006/relationships/hyperlink" Target="https://eecdemo.vercel.app/" TargetMode="External"/><Relationship Id="rId4" Type="http://schemas.openxmlformats.org/officeDocument/2006/relationships/hyperlink" Target="https://electroniceducare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wa.me/916293764220" TargetMode="External"/><Relationship Id="rId4" Type="http://schemas.openxmlformats.org/officeDocument/2006/relationships/hyperlink" Target="https://eecdemo.vercel.app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eecdemo.vercel.app/teacher/dashboard" TargetMode="External"/><Relationship Id="rId7" Type="http://schemas.openxmlformats.org/officeDocument/2006/relationships/hyperlink" Target="https://wa.me/91629376422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ecdemo.vercel.app/" TargetMode="External"/><Relationship Id="rId5" Type="http://schemas.openxmlformats.org/officeDocument/2006/relationships/hyperlink" Target="https://electroniceducare.com/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wa.me/916293764220" TargetMode="External"/><Relationship Id="rId4" Type="http://schemas.openxmlformats.org/officeDocument/2006/relationships/hyperlink" Target="https://eecdemo.vercel.ap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electroniceducaresales@yarrowtech.co.in" TargetMode="External"/><Relationship Id="rId7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a.me/916293764220" TargetMode="External"/><Relationship Id="rId5" Type="http://schemas.openxmlformats.org/officeDocument/2006/relationships/hyperlink" Target="https://eecdemo.vercel.app/" TargetMode="External"/><Relationship Id="rId4" Type="http://schemas.openxmlformats.org/officeDocument/2006/relationships/hyperlink" Target="https://electroniceducar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15A7FD-FF03-B70C-BE5B-5B74258A67C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1DDB0-7048-1FA5-1C2D-0F5818ECA978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158C3-AF91-DB75-D1E6-E81AD0061CF2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4CE11-E658-9006-8B47-38011D6D6979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Brand, Message &amp;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1EBFC-F0A0-E6F1-8440-76DF5F2DD6AC}"/>
              </a:ext>
            </a:extLst>
          </p:cNvPr>
          <p:cNvSpPr txBox="1"/>
          <p:nvPr/>
        </p:nvSpPr>
        <p:spPr>
          <a:xfrm>
            <a:off x="965200" y="1422400"/>
            <a:ext cx="3302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 dirty="0">
                <a:solidFill>
                  <a:srgbClr val="183B56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BFD99-0689-93F8-B99A-F2A863661E9E}"/>
              </a:ext>
            </a:extLst>
          </p:cNvPr>
          <p:cNvSpPr txBox="1"/>
          <p:nvPr/>
        </p:nvSpPr>
        <p:spPr>
          <a:xfrm>
            <a:off x="1041400" y="2139950"/>
            <a:ext cx="558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86780D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0B130-714A-55B0-E3D8-8D221E8DCAF9}"/>
              </a:ext>
            </a:extLst>
          </p:cNvPr>
          <p:cNvSpPr txBox="1"/>
          <p:nvPr/>
        </p:nvSpPr>
        <p:spPr>
          <a:xfrm>
            <a:off x="1066800" y="2641600"/>
            <a:ext cx="96520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 b="1" dirty="0">
                <a:solidFill>
                  <a:srgbClr val="202020"/>
                </a:solidFill>
                <a:latin typeface="Aptos" panose="020B0004020202020204" pitchFamily="34" charset="0"/>
              </a:rPr>
              <a:t>Brand message: make education more engaging, effective, measurable, and accessible for every learner.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87B4F5-F036-E4D2-50A6-A6D8698E22F5}"/>
              </a:ext>
            </a:extLst>
          </p:cNvPr>
          <p:cNvSpPr/>
          <p:nvPr/>
        </p:nvSpPr>
        <p:spPr>
          <a:xfrm>
            <a:off x="8102600" y="3994414"/>
            <a:ext cx="5969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A91ED-E850-C681-4BC7-BF2839E9D3AB}"/>
              </a:ext>
            </a:extLst>
          </p:cNvPr>
          <p:cNvSpPr txBox="1"/>
          <p:nvPr/>
        </p:nvSpPr>
        <p:spPr>
          <a:xfrm>
            <a:off x="8360382" y="4160466"/>
            <a:ext cx="547234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Brand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B8BF7-8693-17EC-AA7A-CDD482AF38D7}"/>
              </a:ext>
            </a:extLst>
          </p:cNvPr>
          <p:cNvSpPr txBox="1"/>
          <p:nvPr/>
        </p:nvSpPr>
        <p:spPr>
          <a:xfrm>
            <a:off x="8360382" y="4559301"/>
            <a:ext cx="5711218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Learner-centered: each student gets a clearer path to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progress.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Teacher-empowered: teachers get faster feedback, analytics,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support.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School-ready: one connected system for learning,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communication, records, and decisions.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Future-focused: AI, learning science, and practical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implementation for changing times.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2B40BC-6DB7-E0A4-DCAA-754A2692BFD7}"/>
              </a:ext>
            </a:extLst>
          </p:cNvPr>
          <p:cNvSpPr/>
          <p:nvPr/>
        </p:nvSpPr>
        <p:spPr>
          <a:xfrm>
            <a:off x="1346200" y="4008066"/>
            <a:ext cx="5969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C2797-0B32-39CC-5464-5688596C7154}"/>
              </a:ext>
            </a:extLst>
          </p:cNvPr>
          <p:cNvSpPr txBox="1"/>
          <p:nvPr/>
        </p:nvSpPr>
        <p:spPr>
          <a:xfrm>
            <a:off x="1549399" y="4160466"/>
            <a:ext cx="547396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Opening Message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DDE67-34D7-E9BB-197B-245AD2A1AC57}"/>
              </a:ext>
            </a:extLst>
          </p:cNvPr>
          <p:cNvSpPr txBox="1"/>
          <p:nvPr/>
        </p:nvSpPr>
        <p:spPr>
          <a:xfrm>
            <a:off x="1549400" y="4617666"/>
            <a:ext cx="547397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EEC is not only a product; it is a smarter education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ecosystem.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It helps schools understand students better,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support teachers faster, and build long-term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academic growth.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FEF7B3-4B18-0922-EC27-540451069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2447C77-4C5B-5AF4-3CA1-0F7A7FA1C364}"/>
              </a:ext>
            </a:extLst>
          </p:cNvPr>
          <p:cNvSpPr/>
          <p:nvPr/>
        </p:nvSpPr>
        <p:spPr>
          <a:xfrm>
            <a:off x="0" y="7394643"/>
            <a:ext cx="16256000" cy="1705914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Contact Us: +91 6293764220</a:t>
            </a:r>
          </a:p>
          <a:p>
            <a:pPr algn="ctr"/>
            <a:r>
              <a:rPr lang="en-US" sz="2800" dirty="0"/>
              <a:t>Email: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electroniceducaresales@yarrowtech.co.in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/>
              <a:t>3A, Humayun Place, Citi Mart Building, Kolkata - 700087</a:t>
            </a:r>
          </a:p>
        </p:txBody>
      </p:sp>
      <p:sp>
        <p:nvSpPr>
          <p:cNvPr id="4" name="Rectangle: Rounded Corners 3">
            <a:hlinkClick r:id="rId4"/>
            <a:extLst>
              <a:ext uri="{FF2B5EF4-FFF2-40B4-BE49-F238E27FC236}">
                <a16:creationId xmlns:a16="http://schemas.microsoft.com/office/drawing/2014/main" id="{35AF26C2-6E8B-18D8-8018-EA63A9129148}"/>
              </a:ext>
            </a:extLst>
          </p:cNvPr>
          <p:cNvSpPr/>
          <p:nvPr/>
        </p:nvSpPr>
        <p:spPr>
          <a:xfrm>
            <a:off x="703723" y="7991602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Get a Demo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hlinkClick r:id="rId4"/>
            <a:extLst>
              <a:ext uri="{FF2B5EF4-FFF2-40B4-BE49-F238E27FC236}">
                <a16:creationId xmlns:a16="http://schemas.microsoft.com/office/drawing/2014/main" id="{9E6FB3B0-AA84-775D-4FAE-EC5913416825}"/>
              </a:ext>
            </a:extLst>
          </p:cNvPr>
          <p:cNvSpPr/>
          <p:nvPr/>
        </p:nvSpPr>
        <p:spPr>
          <a:xfrm>
            <a:off x="13427459" y="7972552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</a:rPr>
              <a:t>Chat with Us: </a:t>
            </a:r>
          </a:p>
        </p:txBody>
      </p:sp>
      <p:pic>
        <p:nvPicPr>
          <p:cNvPr id="11" name="Picture 2" descr="Whatsapp Logo PNGs for Free Download">
            <a:hlinkClick r:id="rId6"/>
            <a:extLst>
              <a:ext uri="{FF2B5EF4-FFF2-40B4-BE49-F238E27FC236}">
                <a16:creationId xmlns:a16="http://schemas.microsoft.com/office/drawing/2014/main" id="{3764CB51-FC08-2218-9503-9FEE62441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062" y="8013944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76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BD721-5193-F007-A67B-DA2BA4FFF5EB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5566-991B-2536-2541-B807B5E91689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6E195-0DFF-D692-6CB8-A07344E7128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Education Philosophy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2E31C-DCC9-E6D1-37EA-7FDF6D3F7865}"/>
              </a:ext>
            </a:extLst>
          </p:cNvPr>
          <p:cNvSpPr txBox="1"/>
          <p:nvPr/>
        </p:nvSpPr>
        <p:spPr>
          <a:xfrm>
            <a:off x="736600" y="1244600"/>
            <a:ext cx="120650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100" b="1">
                <a:solidFill>
                  <a:srgbClr val="183B56"/>
                </a:solidFill>
                <a:latin typeface="Aptos" panose="020B0004020202020204" pitchFamily="34" charset="0"/>
              </a:rPr>
              <a:t>Make Education More Engaging, Effective and Accessible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13F76-0DC2-AB46-2674-837A35213926}"/>
              </a:ext>
            </a:extLst>
          </p:cNvPr>
          <p:cNvSpPr txBox="1"/>
          <p:nvPr/>
        </p:nvSpPr>
        <p:spPr>
          <a:xfrm>
            <a:off x="787400" y="19685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EEC- ELECTRONIC EDUCARE combines learner-centered design, teacher empowerment, AI support, curriculum mapping, and real-time analytics into one practical education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93D520-5127-7C8F-1CDA-60ECC907BC53}"/>
              </a:ext>
            </a:extLst>
          </p:cNvPr>
          <p:cNvSpPr/>
          <p:nvPr/>
        </p:nvSpPr>
        <p:spPr>
          <a:xfrm>
            <a:off x="8128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40FE1-C83A-78BF-5702-42E7EEB153EA}"/>
              </a:ext>
            </a:extLst>
          </p:cNvPr>
          <p:cNvSpPr txBox="1"/>
          <p:nvPr/>
        </p:nvSpPr>
        <p:spPr>
          <a:xfrm>
            <a:off x="10160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Learner-Centered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31326-5930-CF5F-6BAD-F372153466E8}"/>
              </a:ext>
            </a:extLst>
          </p:cNvPr>
          <p:cNvSpPr txBox="1"/>
          <p:nvPr/>
        </p:nvSpPr>
        <p:spPr>
          <a:xfrm>
            <a:off x="1016000" y="3530600"/>
            <a:ext cx="42418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Builds critical thinking, creativity, problem-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solving, collaboration, and self-identity.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Promotes experiential learning where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students learn by doing, exploring,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practicing, and reflecting.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Supports adaptive and cognitive learning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through tailor-made content.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Focuses on well-being across physical,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emotional and  social development.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40D59B-C2E0-1C2F-5638-3598B03E453B}"/>
              </a:ext>
            </a:extLst>
          </p:cNvPr>
          <p:cNvSpPr/>
          <p:nvPr/>
        </p:nvSpPr>
        <p:spPr>
          <a:xfrm>
            <a:off x="59055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F2AE05-2971-B1D5-5888-AB4CDC2BA38F}"/>
              </a:ext>
            </a:extLst>
          </p:cNvPr>
          <p:cNvSpPr txBox="1"/>
          <p:nvPr/>
        </p:nvSpPr>
        <p:spPr>
          <a:xfrm>
            <a:off x="61087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Teacher-Empowered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DDB3F-5A79-38C7-B06A-F5B3DBA3C775}"/>
              </a:ext>
            </a:extLst>
          </p:cNvPr>
          <p:cNvSpPr txBox="1"/>
          <p:nvPr/>
        </p:nvSpPr>
        <p:spPr>
          <a:xfrm>
            <a:off x="6108700" y="3530600"/>
            <a:ext cx="42418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Reduces the time taken to correct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classwork, homework, tests, and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evaluations.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Gives immediate feedback on concepts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students may find difficult.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Helps teachers identify knowledge gaps,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difficulty levels, enquiry needs, and learning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patterns.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Supports lesson planning, syllabus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fulfillment, curriculum mapping,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classroom decisions.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B6E9FB-3EB9-8774-D6E0-15FF2A3416E8}"/>
              </a:ext>
            </a:extLst>
          </p:cNvPr>
          <p:cNvSpPr/>
          <p:nvPr/>
        </p:nvSpPr>
        <p:spPr>
          <a:xfrm>
            <a:off x="109982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84AF9-9FD7-EBB8-A2CE-7C54C86E72B4}"/>
              </a:ext>
            </a:extLst>
          </p:cNvPr>
          <p:cNvSpPr txBox="1"/>
          <p:nvPr/>
        </p:nvSpPr>
        <p:spPr>
          <a:xfrm>
            <a:off x="112014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EEC AI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24A74-9CE4-3125-0DD9-1DA5CD155C7A}"/>
              </a:ext>
            </a:extLst>
          </p:cNvPr>
          <p:cNvSpPr txBox="1"/>
          <p:nvPr/>
        </p:nvSpPr>
        <p:spPr>
          <a:xfrm>
            <a:off x="11201400" y="3530600"/>
            <a:ext cx="42418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Uses learning science and AI &amp; Machine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Learning  to track development in real time.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Provides actionable intelligence for teachers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management.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Improves knowledge retention, proficiency,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academic outcomes.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Helps bridge knowledge gaps and supports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long-lasting learning.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EE6457-A656-F16D-2400-10D4D4D1D7AB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55DDAB-427C-8D25-85AF-7BF3C6FE9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4" name="Rectangle: Rounded Corners 23">
            <a:hlinkClick r:id="rId3"/>
            <a:extLst>
              <a:ext uri="{FF2B5EF4-FFF2-40B4-BE49-F238E27FC236}">
                <a16:creationId xmlns:a16="http://schemas.microsoft.com/office/drawing/2014/main" id="{AED4723B-C757-05AC-7E9C-66DFBD7691CF}"/>
              </a:ext>
            </a:extLst>
          </p:cNvPr>
          <p:cNvSpPr/>
          <p:nvPr/>
        </p:nvSpPr>
        <p:spPr>
          <a:xfrm>
            <a:off x="6511182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Get a Demo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hlinkClick r:id="rId3"/>
            <a:extLst>
              <a:ext uri="{FF2B5EF4-FFF2-40B4-BE49-F238E27FC236}">
                <a16:creationId xmlns:a16="http://schemas.microsoft.com/office/drawing/2014/main" id="{583B98C2-1BD2-780F-054B-6EFC7D876B5D}"/>
              </a:ext>
            </a:extLst>
          </p:cNvPr>
          <p:cNvSpPr/>
          <p:nvPr/>
        </p:nvSpPr>
        <p:spPr>
          <a:xfrm>
            <a:off x="8773588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</a:rPr>
              <a:t>Chat with Us: </a:t>
            </a:r>
          </a:p>
        </p:txBody>
      </p:sp>
      <p:pic>
        <p:nvPicPr>
          <p:cNvPr id="26" name="Picture 2" descr="Whatsapp Logo PNGs for Free Download">
            <a:hlinkClick r:id="rId5"/>
            <a:extLst>
              <a:ext uri="{FF2B5EF4-FFF2-40B4-BE49-F238E27FC236}">
                <a16:creationId xmlns:a16="http://schemas.microsoft.com/office/drawing/2014/main" id="{B3600453-1C77-7047-CECE-0A94C5945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191" y="8020449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94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D94CE2-731E-5892-4194-D1E07BB7776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9374A-1BD8-2C29-7931-DAA027CFD12E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CBF6E-EAD0-4ECE-A6D7-63775BC91617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2EAE2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03604-AA3D-B195-10D5-E69ECA9F3AF8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20816-52C7-3B50-61CA-A1425052B24E}"/>
              </a:ext>
            </a:extLst>
          </p:cNvPr>
          <p:cNvSpPr txBox="1"/>
          <p:nvPr/>
        </p:nvSpPr>
        <p:spPr>
          <a:xfrm>
            <a:off x="787400" y="19939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single platform for learning, teaching, communication, documentation, assessment, analytics, and school management.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A04A95-26DD-478C-3879-29BFB5B50B4B}"/>
              </a:ext>
            </a:extLst>
          </p:cNvPr>
          <p:cNvSpPr/>
          <p:nvPr/>
        </p:nvSpPr>
        <p:spPr>
          <a:xfrm>
            <a:off x="7200900" y="4478041"/>
            <a:ext cx="1651000" cy="16510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EEC
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93D9D4-B346-940B-A5A5-C903B64F8A1E}"/>
              </a:ext>
            </a:extLst>
          </p:cNvPr>
          <p:cNvSpPr/>
          <p:nvPr/>
        </p:nvSpPr>
        <p:spPr>
          <a:xfrm>
            <a:off x="4991100" y="3054350"/>
            <a:ext cx="1333500" cy="13335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6E8321-DDC1-1290-7FD4-771BA65FCC00}"/>
              </a:ext>
            </a:extLst>
          </p:cNvPr>
          <p:cNvSpPr/>
          <p:nvPr/>
        </p:nvSpPr>
        <p:spPr>
          <a:xfrm>
            <a:off x="9880600" y="3030463"/>
            <a:ext cx="1333500" cy="13335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FBD24C-18DD-DC26-BB66-7FAB975876EA}"/>
              </a:ext>
            </a:extLst>
          </p:cNvPr>
          <p:cNvSpPr/>
          <p:nvPr/>
        </p:nvSpPr>
        <p:spPr>
          <a:xfrm>
            <a:off x="4975563" y="5664588"/>
            <a:ext cx="1333500" cy="13335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2F8D19-7C44-83DF-F425-266D49CCAFB9}"/>
              </a:ext>
            </a:extLst>
          </p:cNvPr>
          <p:cNvSpPr/>
          <p:nvPr/>
        </p:nvSpPr>
        <p:spPr>
          <a:xfrm>
            <a:off x="9880600" y="5696535"/>
            <a:ext cx="1333500" cy="13335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A6D5DF-110D-731D-C3E3-148CBA30EEFD}"/>
              </a:ext>
            </a:extLst>
          </p:cNvPr>
          <p:cNvSpPr/>
          <p:nvPr/>
        </p:nvSpPr>
        <p:spPr>
          <a:xfrm>
            <a:off x="7340600" y="2458035"/>
            <a:ext cx="1333500" cy="1333500"/>
          </a:xfrm>
          <a:prstGeom prst="ellipse">
            <a:avLst/>
          </a:prstGeom>
          <a:solidFill>
            <a:srgbClr val="AB5464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E0136-1BA0-15C3-0492-89D8A24E21F5}"/>
              </a:ext>
            </a:extLst>
          </p:cNvPr>
          <p:cNvSpPr/>
          <p:nvPr/>
        </p:nvSpPr>
        <p:spPr>
          <a:xfrm>
            <a:off x="7350125" y="7145264"/>
            <a:ext cx="1333500" cy="13335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D32027-33F0-A228-3A97-F6863F7889C9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6129313" y="4192563"/>
            <a:ext cx="1188228" cy="675004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7F84DE-84F5-6B95-9D08-F07BDDF410B1}"/>
              </a:ext>
            </a:extLst>
          </p:cNvPr>
          <p:cNvCxnSpPr>
            <a:cxnSpLocks/>
          </p:cNvCxnSpPr>
          <p:nvPr/>
        </p:nvCxnSpPr>
        <p:spPr>
          <a:xfrm flipH="1">
            <a:off x="8693150" y="3879453"/>
            <a:ext cx="1289050" cy="900585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4CAE46-08CA-94A1-F9D1-A40B6709981F}"/>
              </a:ext>
            </a:extLst>
          </p:cNvPr>
          <p:cNvCxnSpPr>
            <a:cxnSpLocks/>
          </p:cNvCxnSpPr>
          <p:nvPr/>
        </p:nvCxnSpPr>
        <p:spPr>
          <a:xfrm flipV="1">
            <a:off x="6182311" y="5718483"/>
            <a:ext cx="1135230" cy="350136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DC6955-01DA-0CFB-12FF-D9D0CA7089A7}"/>
              </a:ext>
            </a:extLst>
          </p:cNvPr>
          <p:cNvCxnSpPr>
            <a:cxnSpLocks/>
          </p:cNvCxnSpPr>
          <p:nvPr/>
        </p:nvCxnSpPr>
        <p:spPr>
          <a:xfrm flipH="1" flipV="1">
            <a:off x="8797925" y="5664588"/>
            <a:ext cx="1125562" cy="490643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9F7396-8BC5-CDA8-C8CD-10B68886DD9A}"/>
              </a:ext>
            </a:extLst>
          </p:cNvPr>
          <p:cNvCxnSpPr>
            <a:cxnSpLocks/>
            <a:stCxn id="14" idx="4"/>
            <a:endCxn id="9" idx="0"/>
          </p:cNvCxnSpPr>
          <p:nvPr/>
        </p:nvCxnSpPr>
        <p:spPr>
          <a:xfrm>
            <a:off x="8007350" y="3791535"/>
            <a:ext cx="19050" cy="686506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B836E3-72D4-B88E-24FF-BC46DC588BF2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V="1">
            <a:off x="8016875" y="6129041"/>
            <a:ext cx="9525" cy="1016223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28B0E3-BF30-0057-CAC9-64BF84D504EE}"/>
              </a:ext>
            </a:extLst>
          </p:cNvPr>
          <p:cNvSpPr/>
          <p:nvPr/>
        </p:nvSpPr>
        <p:spPr>
          <a:xfrm>
            <a:off x="812800" y="3111500"/>
            <a:ext cx="3782154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5BBCDA-1A0F-4FFC-F635-C0407A9F3FEE}"/>
              </a:ext>
            </a:extLst>
          </p:cNvPr>
          <p:cNvSpPr txBox="1"/>
          <p:nvPr/>
        </p:nvSpPr>
        <p:spPr>
          <a:xfrm>
            <a:off x="1016000" y="3263900"/>
            <a:ext cx="330835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What The Ecosystem Includes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614C63-4BE6-61F8-E918-D28FD7648EAE}"/>
              </a:ext>
            </a:extLst>
          </p:cNvPr>
          <p:cNvSpPr txBox="1"/>
          <p:nvPr/>
        </p:nvSpPr>
        <p:spPr>
          <a:xfrm>
            <a:off x="1015999" y="3721100"/>
            <a:ext cx="3259113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Web, Android, and iOS portals for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practical access.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Attendance, homework, 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assessments, communication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feedback, journal feeding,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collaborative learning spaces.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Business intelligence over school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management systems.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Health records, learning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objectives, well-being,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evidence-based observations.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1966C5-AA7A-757B-57AE-F167F45A9638}"/>
              </a:ext>
            </a:extLst>
          </p:cNvPr>
          <p:cNvSpPr/>
          <p:nvPr/>
        </p:nvSpPr>
        <p:spPr>
          <a:xfrm>
            <a:off x="12039600" y="3111500"/>
            <a:ext cx="34925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2A1062-6C57-5C4A-D52F-6D13A1ECB369}"/>
              </a:ext>
            </a:extLst>
          </p:cNvPr>
          <p:cNvSpPr txBox="1"/>
          <p:nvPr/>
        </p:nvSpPr>
        <p:spPr>
          <a:xfrm>
            <a:off x="12242800" y="3263900"/>
            <a:ext cx="28956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 dirty="0">
                <a:solidFill>
                  <a:srgbClr val="09A370"/>
                </a:solidFill>
                <a:latin typeface="Aptos" panose="020B0004020202020204" pitchFamily="34" charset="0"/>
              </a:rPr>
              <a:t>What It Improves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D1D087-6CEA-7E3F-1069-B8B7D3EAE7F1}"/>
              </a:ext>
            </a:extLst>
          </p:cNvPr>
          <p:cNvSpPr txBox="1"/>
          <p:nvPr/>
        </p:nvSpPr>
        <p:spPr>
          <a:xfrm>
            <a:off x="12242800" y="3721100"/>
            <a:ext cx="32893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Pinpoints knowledge gaps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and difficulty levels with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better analytics.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decision-making.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Supports one-on-one learning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where needed.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Creates a single source of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truth for students, teachers,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parents, and management.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DBE61C-952B-E866-6399-FEEA1B09E984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04CD789-938E-9D33-393C-167A934EF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AB4E8056-392D-5689-B3F2-ED429B977543}"/>
              </a:ext>
            </a:extLst>
          </p:cNvPr>
          <p:cNvSpPr txBox="1"/>
          <p:nvPr/>
        </p:nvSpPr>
        <p:spPr>
          <a:xfrm>
            <a:off x="4858503" y="3351996"/>
            <a:ext cx="1581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Student
Learning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179462-60D6-2ADE-EB4B-35CA887F04DF}"/>
              </a:ext>
            </a:extLst>
          </p:cNvPr>
          <p:cNvSpPr txBox="1"/>
          <p:nvPr/>
        </p:nvSpPr>
        <p:spPr>
          <a:xfrm>
            <a:off x="7216775" y="2825764"/>
            <a:ext cx="1581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Curriculum
Mapping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D4636C-10D6-E465-006B-D3D1FF518DA7}"/>
              </a:ext>
            </a:extLst>
          </p:cNvPr>
          <p:cNvSpPr txBox="1"/>
          <p:nvPr/>
        </p:nvSpPr>
        <p:spPr>
          <a:xfrm>
            <a:off x="9772987" y="3351530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Teacher
Support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C4362D-5F18-9398-6E97-854B755035D7}"/>
              </a:ext>
            </a:extLst>
          </p:cNvPr>
          <p:cNvSpPr txBox="1"/>
          <p:nvPr/>
        </p:nvSpPr>
        <p:spPr>
          <a:xfrm>
            <a:off x="9756775" y="5986825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Admin
Analytics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1F01A8-F854-C856-12D3-0CC0D40E4A1F}"/>
              </a:ext>
            </a:extLst>
          </p:cNvPr>
          <p:cNvSpPr txBox="1"/>
          <p:nvPr/>
        </p:nvSpPr>
        <p:spPr>
          <a:xfrm>
            <a:off x="7235825" y="7328823"/>
            <a:ext cx="1581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Records 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&amp;
Reports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E2D13E-6846-ABB7-193B-EF7C5A96777F}"/>
              </a:ext>
            </a:extLst>
          </p:cNvPr>
          <p:cNvSpPr txBox="1"/>
          <p:nvPr/>
        </p:nvSpPr>
        <p:spPr>
          <a:xfrm>
            <a:off x="4833079" y="5965059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Parent
Updates</a:t>
            </a:r>
          </a:p>
        </p:txBody>
      </p:sp>
      <p:sp>
        <p:nvSpPr>
          <p:cNvPr id="28" name="Rectangle: Rounded Corners 27">
            <a:hlinkClick r:id="rId3"/>
            <a:extLst>
              <a:ext uri="{FF2B5EF4-FFF2-40B4-BE49-F238E27FC236}">
                <a16:creationId xmlns:a16="http://schemas.microsoft.com/office/drawing/2014/main" id="{1B5AE74E-F146-0285-1723-FCD1B3002B95}"/>
              </a:ext>
            </a:extLst>
          </p:cNvPr>
          <p:cNvSpPr/>
          <p:nvPr/>
        </p:nvSpPr>
        <p:spPr>
          <a:xfrm>
            <a:off x="703723" y="7991602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Get a Demo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hlinkClick r:id="rId3"/>
            <a:extLst>
              <a:ext uri="{FF2B5EF4-FFF2-40B4-BE49-F238E27FC236}">
                <a16:creationId xmlns:a16="http://schemas.microsoft.com/office/drawing/2014/main" id="{DC3E1610-06E0-6A53-477C-124B347B3697}"/>
              </a:ext>
            </a:extLst>
          </p:cNvPr>
          <p:cNvSpPr/>
          <p:nvPr/>
        </p:nvSpPr>
        <p:spPr>
          <a:xfrm>
            <a:off x="13427459" y="7972552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</a:rPr>
              <a:t>Chat with Us: </a:t>
            </a:r>
          </a:p>
        </p:txBody>
      </p:sp>
      <p:pic>
        <p:nvPicPr>
          <p:cNvPr id="32" name="Picture 2" descr="Whatsapp Logo PNGs for Free Download">
            <a:hlinkClick r:id="rId5"/>
            <a:extLst>
              <a:ext uri="{FF2B5EF4-FFF2-40B4-BE49-F238E27FC236}">
                <a16:creationId xmlns:a16="http://schemas.microsoft.com/office/drawing/2014/main" id="{5D45AE05-C273-C1D0-F499-B8D1242D5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062" y="8013944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92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5A779-CD50-ED6A-A782-280BC5E4760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142209-8B31-3E10-FE26-CF0AB86F9A1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856E1-F31B-8058-97A5-6F42832F58F1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Live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47C46-3BF7-A526-1745-25E9F9D1789B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A Live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B9848-A331-170D-A3B5-C88DCC8B8A54}"/>
              </a:ext>
            </a:extLst>
          </p:cNvPr>
          <p:cNvSpPr txBox="1"/>
          <p:nvPr/>
        </p:nvSpPr>
        <p:spPr>
          <a:xfrm>
            <a:off x="787400" y="19939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EEC-ELECTRONIC EDUCARE turns classroom activity, teacher observation, and student practice into real-time insight for faster support.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0F8E55-D867-4105-97F1-09200B851204}"/>
              </a:ext>
            </a:extLst>
          </p:cNvPr>
          <p:cNvSpPr/>
          <p:nvPr/>
        </p:nvSpPr>
        <p:spPr>
          <a:xfrm>
            <a:off x="1905000" y="3281640"/>
            <a:ext cx="1168400" cy="11684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E0569D-2F32-5711-8D39-BE6CD1038CC1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3073400" y="3865840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AAB77ED-BD11-FB2F-A8DE-2427B24A10A3}"/>
              </a:ext>
            </a:extLst>
          </p:cNvPr>
          <p:cNvSpPr/>
          <p:nvPr/>
        </p:nvSpPr>
        <p:spPr>
          <a:xfrm>
            <a:off x="4127500" y="3281640"/>
            <a:ext cx="1168400" cy="11684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72C92-C69D-496F-0DFC-7DAD5187CAA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5295900" y="3865840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D417969-D9F8-D790-A16F-FDB839698F92}"/>
              </a:ext>
            </a:extLst>
          </p:cNvPr>
          <p:cNvSpPr/>
          <p:nvPr/>
        </p:nvSpPr>
        <p:spPr>
          <a:xfrm>
            <a:off x="6350000" y="3281640"/>
            <a:ext cx="1168400" cy="11684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1EE8F5-E0C5-5D33-FE82-29823B4F1FB1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7518400" y="3865840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CAB306B-B26D-2BB5-97A0-E1547C7B5D2A}"/>
              </a:ext>
            </a:extLst>
          </p:cNvPr>
          <p:cNvSpPr/>
          <p:nvPr/>
        </p:nvSpPr>
        <p:spPr>
          <a:xfrm>
            <a:off x="8572500" y="3281640"/>
            <a:ext cx="1168400" cy="11684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A76543-C18A-49B8-EFA2-0D4156D692F6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9740900" y="3865840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B31F0A0-8022-B08F-D110-D249072037D6}"/>
              </a:ext>
            </a:extLst>
          </p:cNvPr>
          <p:cNvSpPr/>
          <p:nvPr/>
        </p:nvSpPr>
        <p:spPr>
          <a:xfrm>
            <a:off x="10795000" y="3281640"/>
            <a:ext cx="1168400" cy="11684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840D8E-21CF-6394-1AAC-10FE2134D172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>
            <a:off x="11963400" y="3865840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1876AB9-0AEB-693B-FC01-F766BB913A39}"/>
              </a:ext>
            </a:extLst>
          </p:cNvPr>
          <p:cNvSpPr/>
          <p:nvPr/>
        </p:nvSpPr>
        <p:spPr>
          <a:xfrm>
            <a:off x="13017500" y="3281640"/>
            <a:ext cx="1168400" cy="11684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8FE93A-6370-36FA-F317-CD803A68B9EB}"/>
              </a:ext>
            </a:extLst>
          </p:cNvPr>
          <p:cNvSpPr/>
          <p:nvPr/>
        </p:nvSpPr>
        <p:spPr>
          <a:xfrm>
            <a:off x="1143000" y="4966105"/>
            <a:ext cx="6667500" cy="2388747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1101E-E4C4-41A6-F3E1-130AAA436D6E}"/>
              </a:ext>
            </a:extLst>
          </p:cNvPr>
          <p:cNvSpPr txBox="1"/>
          <p:nvPr/>
        </p:nvSpPr>
        <p:spPr>
          <a:xfrm>
            <a:off x="1377950" y="5072510"/>
            <a:ext cx="62611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How The Workflow Moves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6EDD23-F519-AF5E-4B4F-5FE932D8DC7E}"/>
              </a:ext>
            </a:extLst>
          </p:cNvPr>
          <p:cNvSpPr txBox="1"/>
          <p:nvPr/>
        </p:nvSpPr>
        <p:spPr>
          <a:xfrm>
            <a:off x="1346200" y="5505797"/>
            <a:ext cx="64643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Students complete lessons, homework, quizzes, tests, and activities.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Teachers add observations, feedback, class performance,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learning behavior.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The AI engine checks knowledge gaps, level of difficulty, enquiry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needs, and well-being signals.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Students receive targeted learning paths while teachers and parents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get timely updates.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855CE9-734F-4DEC-4556-8DFD6CE92CAD}"/>
              </a:ext>
            </a:extLst>
          </p:cNvPr>
          <p:cNvSpPr/>
          <p:nvPr/>
        </p:nvSpPr>
        <p:spPr>
          <a:xfrm>
            <a:off x="8445500" y="4966105"/>
            <a:ext cx="6667500" cy="2355571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C69C3-7492-A39C-8F17-B7600C61E653}"/>
              </a:ext>
            </a:extLst>
          </p:cNvPr>
          <p:cNvSpPr txBox="1"/>
          <p:nvPr/>
        </p:nvSpPr>
        <p:spPr>
          <a:xfrm>
            <a:off x="8680450" y="5072510"/>
            <a:ext cx="62611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B076F-E0A8-3F7C-C69A-8AE78BAA43FC}"/>
              </a:ext>
            </a:extLst>
          </p:cNvPr>
          <p:cNvSpPr txBox="1"/>
          <p:nvPr/>
        </p:nvSpPr>
        <p:spPr>
          <a:xfrm>
            <a:off x="8680450" y="5448637"/>
            <a:ext cx="643255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Faster grading and immediate feedback reduce delay between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learning and correction.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Timely evaluations help schools act before small gaps become long-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term learning problems.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Each cycle creates stronger data for curriculum progress, student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growth, and school planning.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A012BC-2979-4CFB-9179-F32A640D9FA3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12C16D0-6E07-A842-B201-FD4A5712B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365FD5D-BF64-48C1-EE11-AB1784863BE4}"/>
              </a:ext>
            </a:extLst>
          </p:cNvPr>
          <p:cNvSpPr txBox="1"/>
          <p:nvPr/>
        </p:nvSpPr>
        <p:spPr>
          <a:xfrm>
            <a:off x="1994981" y="3635007"/>
            <a:ext cx="988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Learn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8E263B-51F0-95D4-CEAF-5E1639B5621B}"/>
              </a:ext>
            </a:extLst>
          </p:cNvPr>
          <p:cNvSpPr txBox="1"/>
          <p:nvPr/>
        </p:nvSpPr>
        <p:spPr>
          <a:xfrm>
            <a:off x="3866880" y="3635007"/>
            <a:ext cx="1689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Practice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1AF5C5-FFFD-4232-7AC9-D2485A8ED8C7}"/>
              </a:ext>
            </a:extLst>
          </p:cNvPr>
          <p:cNvSpPr txBox="1"/>
          <p:nvPr/>
        </p:nvSpPr>
        <p:spPr>
          <a:xfrm>
            <a:off x="6318790" y="3642851"/>
            <a:ext cx="123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Record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8CCB63-0803-C89A-CF5F-29D66398188A}"/>
              </a:ext>
            </a:extLst>
          </p:cNvPr>
          <p:cNvSpPr txBox="1"/>
          <p:nvPr/>
        </p:nvSpPr>
        <p:spPr>
          <a:xfrm>
            <a:off x="8550072" y="3665784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Analyze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47BCC0-233C-CE77-A01A-08035F97F862}"/>
              </a:ext>
            </a:extLst>
          </p:cNvPr>
          <p:cNvSpPr txBox="1"/>
          <p:nvPr/>
        </p:nvSpPr>
        <p:spPr>
          <a:xfrm>
            <a:off x="10763791" y="3665784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Support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BB01FC-3A28-2927-3F1D-D23CB2DD5D86}"/>
              </a:ext>
            </a:extLst>
          </p:cNvPr>
          <p:cNvSpPr txBox="1"/>
          <p:nvPr/>
        </p:nvSpPr>
        <p:spPr>
          <a:xfrm>
            <a:off x="12998045" y="3642851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3D38A9E6-7D86-593D-E34F-6A0128F19BC3}"/>
              </a:ext>
            </a:extLst>
          </p:cNvPr>
          <p:cNvCxnSpPr>
            <a:stCxn id="46" idx="3"/>
            <a:endCxn id="9" idx="2"/>
          </p:cNvCxnSpPr>
          <p:nvPr/>
        </p:nvCxnSpPr>
        <p:spPr>
          <a:xfrm flipH="1">
            <a:off x="1905000" y="3842906"/>
            <a:ext cx="12337645" cy="22934"/>
          </a:xfrm>
          <a:prstGeom prst="curvedConnector5">
            <a:avLst>
              <a:gd name="adj1" fmla="val -3551"/>
              <a:gd name="adj2" fmla="val -4994619"/>
              <a:gd name="adj3" fmla="val 1027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hlinkClick r:id="rId4"/>
            <a:extLst>
              <a:ext uri="{FF2B5EF4-FFF2-40B4-BE49-F238E27FC236}">
                <a16:creationId xmlns:a16="http://schemas.microsoft.com/office/drawing/2014/main" id="{295DB7BE-509C-1443-609E-CEE586D10AB6}"/>
              </a:ext>
            </a:extLst>
          </p:cNvPr>
          <p:cNvSpPr/>
          <p:nvPr/>
        </p:nvSpPr>
        <p:spPr>
          <a:xfrm>
            <a:off x="6511182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Get a Demo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: Rounded Corners 36">
            <a:hlinkClick r:id="rId4"/>
            <a:extLst>
              <a:ext uri="{FF2B5EF4-FFF2-40B4-BE49-F238E27FC236}">
                <a16:creationId xmlns:a16="http://schemas.microsoft.com/office/drawing/2014/main" id="{1BCB0581-B47E-82E0-522E-E770B93E8D45}"/>
              </a:ext>
            </a:extLst>
          </p:cNvPr>
          <p:cNvSpPr/>
          <p:nvPr/>
        </p:nvSpPr>
        <p:spPr>
          <a:xfrm>
            <a:off x="8773588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</a:rPr>
              <a:t>Chat with Us: </a:t>
            </a:r>
          </a:p>
        </p:txBody>
      </p:sp>
      <p:pic>
        <p:nvPicPr>
          <p:cNvPr id="38" name="Picture 2" descr="Whatsapp Logo PNGs for Free Download">
            <a:hlinkClick r:id="rId6"/>
            <a:extLst>
              <a:ext uri="{FF2B5EF4-FFF2-40B4-BE49-F238E27FC236}">
                <a16:creationId xmlns:a16="http://schemas.microsoft.com/office/drawing/2014/main" id="{611769FC-408C-E442-6618-E0BABD441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191" y="8020449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37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38A711-63A6-CDFE-972E-CFDD549248D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89E6DA-2A1C-9ABA-4F25-47BC1CE8EE6A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EABBA-3852-1BBF-EED0-350C9BD2969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E5F7C-5DCA-1DB6-3BB5-0872968EEEC3}"/>
              </a:ext>
            </a:extLst>
          </p:cNvPr>
          <p:cNvSpPr txBox="1"/>
          <p:nvPr/>
        </p:nvSpPr>
        <p:spPr>
          <a:xfrm>
            <a:off x="736600" y="1244600"/>
            <a:ext cx="10414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Safe and Practical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64DB-384E-626B-FB59-82EED125CEC4}"/>
              </a:ext>
            </a:extLst>
          </p:cNvPr>
          <p:cNvSpPr txBox="1"/>
          <p:nvPr/>
        </p:nvSpPr>
        <p:spPr>
          <a:xfrm>
            <a:off x="787400" y="19939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Built for real schools, real classrooms, existing constraints, and gradual adoption.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D157C6-D77F-BB0C-D52F-EBFB648E1963}"/>
              </a:ext>
            </a:extLst>
          </p:cNvPr>
          <p:cNvSpPr/>
          <p:nvPr/>
        </p:nvSpPr>
        <p:spPr>
          <a:xfrm>
            <a:off x="9144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30236-79FC-D27B-1E28-A36964FB1D57}"/>
              </a:ext>
            </a:extLst>
          </p:cNvPr>
          <p:cNvSpPr txBox="1"/>
          <p:nvPr/>
        </p:nvSpPr>
        <p:spPr>
          <a:xfrm>
            <a:off x="11176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Practical Adoption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20DD3-AA17-2101-8C29-FF7693F1C04F}"/>
              </a:ext>
            </a:extLst>
          </p:cNvPr>
          <p:cNvSpPr txBox="1"/>
          <p:nvPr/>
        </p:nvSpPr>
        <p:spPr>
          <a:xfrm>
            <a:off x="1117600" y="3594100"/>
            <a:ext cx="39116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Compact hybrid solution for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proficiency-based learning.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Works with formative, summative,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backward curriculum mapping.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Can support schools where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technical infrastructure is still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developing.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Reduces administrative pressure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instead of creating another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disconnected process.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BDAFB6-600F-6A4A-8586-8C0B9755F6CE}"/>
              </a:ext>
            </a:extLst>
          </p:cNvPr>
          <p:cNvSpPr/>
          <p:nvPr/>
        </p:nvSpPr>
        <p:spPr>
          <a:xfrm>
            <a:off x="59690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2DFDA-A1C4-FAEA-BE08-576429DF04D1}"/>
              </a:ext>
            </a:extLst>
          </p:cNvPr>
          <p:cNvSpPr txBox="1"/>
          <p:nvPr/>
        </p:nvSpPr>
        <p:spPr>
          <a:xfrm>
            <a:off x="61722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School Readiness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787D1-38AA-BF56-AD20-7F0309B629CB}"/>
              </a:ext>
            </a:extLst>
          </p:cNvPr>
          <p:cNvSpPr txBox="1"/>
          <p:nvPr/>
        </p:nvSpPr>
        <p:spPr>
          <a:xfrm>
            <a:off x="6172200" y="3594100"/>
            <a:ext cx="39116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Uses present data for improvement, </a:t>
            </a:r>
            <a:b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</a:br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planning, and decision-making.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Supports management, teachers,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students through phased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onboarding.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Keeps records, assessments,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documentation,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communication structured.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makes progress easier to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68B5C6-4C13-C4B5-1E7C-10B8BC06590F}"/>
              </a:ext>
            </a:extLst>
          </p:cNvPr>
          <p:cNvSpPr/>
          <p:nvPr/>
        </p:nvSpPr>
        <p:spPr>
          <a:xfrm>
            <a:off x="110236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26979-472B-0A7A-0E99-424321D90C9E}"/>
              </a:ext>
            </a:extLst>
          </p:cNvPr>
          <p:cNvSpPr txBox="1"/>
          <p:nvPr/>
        </p:nvSpPr>
        <p:spPr>
          <a:xfrm>
            <a:off x="112268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Risk-Aware Rollout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9AE19-6E49-693C-1464-C3065B58ADAF}"/>
              </a:ext>
            </a:extLst>
          </p:cNvPr>
          <p:cNvSpPr txBox="1"/>
          <p:nvPr/>
        </p:nvSpPr>
        <p:spPr>
          <a:xfrm>
            <a:off x="11226800" y="3594100"/>
            <a:ext cx="39116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Start with a pilot class or subject.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Validate workflows with teachers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before full adoption.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Train users role by role: admin,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teacher, parent, and student.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Expand based on measurable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usage, feedback, and learning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outcomes.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4CA590-2B5C-1719-AC70-7A08E8252435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8E5DF1-DEBE-DAA8-2152-2F19164E8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19" name="Rectangle: Rounded Corners 18">
            <a:hlinkClick r:id="rId3"/>
            <a:extLst>
              <a:ext uri="{FF2B5EF4-FFF2-40B4-BE49-F238E27FC236}">
                <a16:creationId xmlns:a16="http://schemas.microsoft.com/office/drawing/2014/main" id="{54BE79CF-F275-5513-57BF-57A2DD15CA7C}"/>
              </a:ext>
            </a:extLst>
          </p:cNvPr>
          <p:cNvSpPr/>
          <p:nvPr/>
        </p:nvSpPr>
        <p:spPr>
          <a:xfrm>
            <a:off x="6511182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Get a Demo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hlinkClick r:id="rId3"/>
            <a:extLst>
              <a:ext uri="{FF2B5EF4-FFF2-40B4-BE49-F238E27FC236}">
                <a16:creationId xmlns:a16="http://schemas.microsoft.com/office/drawing/2014/main" id="{A570586D-5076-4F64-343C-5080008428B9}"/>
              </a:ext>
            </a:extLst>
          </p:cNvPr>
          <p:cNvSpPr/>
          <p:nvPr/>
        </p:nvSpPr>
        <p:spPr>
          <a:xfrm>
            <a:off x="8773588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</a:rPr>
              <a:t>Chat with Us: </a:t>
            </a:r>
          </a:p>
        </p:txBody>
      </p:sp>
      <p:pic>
        <p:nvPicPr>
          <p:cNvPr id="24" name="Picture 2" descr="Whatsapp Logo PNGs for Free Download">
            <a:hlinkClick r:id="rId5"/>
            <a:extLst>
              <a:ext uri="{FF2B5EF4-FFF2-40B4-BE49-F238E27FC236}">
                <a16:creationId xmlns:a16="http://schemas.microsoft.com/office/drawing/2014/main" id="{283371FF-EC2B-5DE2-E0EE-EF2C0CDFB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191" y="8020449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09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9D813-0A9B-30AD-DE4E-D5C1F39FC575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BA7CE-11D2-2BBB-D497-5ADE2DBEA9A7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B82CF-B875-5B39-6530-83D3BAB2B6C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FB0F6-8FDE-AF3B-B726-FB1CD3B2E9F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The Give Back 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160DB-C5C6-33E0-F9DE-C373C19BF233}"/>
              </a:ext>
            </a:extLst>
          </p:cNvPr>
          <p:cNvSpPr txBox="1"/>
          <p:nvPr/>
        </p:nvSpPr>
        <p:spPr>
          <a:xfrm>
            <a:off x="787400" y="1993900"/>
            <a:ext cx="12192000" cy="6604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The way we make this initiative different is the larger mission behind it: alongside the tech, EEC-ELECTRONIC EDUCARE builds a platform that gives back to the education community.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18FED4-C687-5C97-CD32-B637D943F3FF}"/>
              </a:ext>
            </a:extLst>
          </p:cNvPr>
          <p:cNvSpPr/>
          <p:nvPr/>
        </p:nvSpPr>
        <p:spPr>
          <a:xfrm>
            <a:off x="914400" y="3022599"/>
            <a:ext cx="4318000" cy="3183647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501C8-0D5C-D2B3-A4ED-8CDB40690F0D}"/>
              </a:ext>
            </a:extLst>
          </p:cNvPr>
          <p:cNvSpPr txBox="1"/>
          <p:nvPr/>
        </p:nvSpPr>
        <p:spPr>
          <a:xfrm>
            <a:off x="11176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For Teachers (</a:t>
            </a:r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  <a:hlinkClick r:id="rId3"/>
              </a:rPr>
              <a:t>Demo</a:t>
            </a:r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BF570-6A15-A5F8-9E34-7F6DBDF2C673}"/>
              </a:ext>
            </a:extLst>
          </p:cNvPr>
          <p:cNvSpPr txBox="1"/>
          <p:nvPr/>
        </p:nvSpPr>
        <p:spPr>
          <a:xfrm>
            <a:off x="1117600" y="3632200"/>
            <a:ext cx="40894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Teacher-development initiatives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practical training.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Education discussion forums for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sharing classroom ideas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challenges.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Knowledge events, workshops,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progressive assessment practices for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rapidly changing times.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F251AD-CC0E-3155-511F-6C3E8298465B}"/>
              </a:ext>
            </a:extLst>
          </p:cNvPr>
          <p:cNvSpPr/>
          <p:nvPr/>
        </p:nvSpPr>
        <p:spPr>
          <a:xfrm>
            <a:off x="5969000" y="3022600"/>
            <a:ext cx="4318000" cy="3183646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5FC2B-953F-2A97-A6D6-B4D3F074F4F3}"/>
              </a:ext>
            </a:extLst>
          </p:cNvPr>
          <p:cNvSpPr txBox="1"/>
          <p:nvPr/>
        </p:nvSpPr>
        <p:spPr>
          <a:xfrm>
            <a:off x="61722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For Students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52630F-8093-C078-EA57-6B5C9685B4B1}"/>
              </a:ext>
            </a:extLst>
          </p:cNvPr>
          <p:cNvSpPr txBox="1"/>
          <p:nvPr/>
        </p:nvSpPr>
        <p:spPr>
          <a:xfrm>
            <a:off x="6172200" y="3632200"/>
            <a:ext cx="41148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Achievement points when students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attempt to learn independently.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Badges, milestones, streaks,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progress recognition for practice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reflection.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Motivation that rewards effort,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consistency, curiosity,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improvement.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85B769-22CB-B15B-5B09-DA246C2F0A04}"/>
              </a:ext>
            </a:extLst>
          </p:cNvPr>
          <p:cNvSpPr/>
          <p:nvPr/>
        </p:nvSpPr>
        <p:spPr>
          <a:xfrm>
            <a:off x="11023600" y="3022600"/>
            <a:ext cx="4318000" cy="3183646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FF0F0-EF11-05C6-7064-7381FCC45E13}"/>
              </a:ext>
            </a:extLst>
          </p:cNvPr>
          <p:cNvSpPr txBox="1"/>
          <p:nvPr/>
        </p:nvSpPr>
        <p:spPr>
          <a:xfrm>
            <a:off x="112268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For The Ecosystem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A3F47-6FC8-124D-2630-1449B5D46ED1}"/>
              </a:ext>
            </a:extLst>
          </p:cNvPr>
          <p:cNvSpPr txBox="1"/>
          <p:nvPr/>
        </p:nvSpPr>
        <p:spPr>
          <a:xfrm>
            <a:off x="11226800" y="3632200"/>
            <a:ext cx="41148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Community initiatives that make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education support more accessible.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A shared space for schools,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educators and parents.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Continuous improvement through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forums, events, data-backed insights,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and real classroom feedback.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842922-9FB6-0A73-B58D-90AD1B9F3B15}"/>
              </a:ext>
            </a:extLst>
          </p:cNvPr>
          <p:cNvSpPr/>
          <p:nvPr/>
        </p:nvSpPr>
        <p:spPr>
          <a:xfrm>
            <a:off x="2336800" y="6550125"/>
            <a:ext cx="1651000" cy="729853"/>
          </a:xfrm>
          <a:prstGeom prst="round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63EB50-C84F-FD51-3DFF-0F0974F884DE}"/>
              </a:ext>
            </a:extLst>
          </p:cNvPr>
          <p:cNvSpPr/>
          <p:nvPr/>
        </p:nvSpPr>
        <p:spPr>
          <a:xfrm>
            <a:off x="4660900" y="6550125"/>
            <a:ext cx="1651000" cy="729853"/>
          </a:xfrm>
          <a:prstGeom prst="roundRect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03B7BE-BBC1-FCB7-E28D-90D40FD8B327}"/>
              </a:ext>
            </a:extLst>
          </p:cNvPr>
          <p:cNvSpPr/>
          <p:nvPr/>
        </p:nvSpPr>
        <p:spPr>
          <a:xfrm>
            <a:off x="6985000" y="6540499"/>
            <a:ext cx="1651000" cy="729853"/>
          </a:xfrm>
          <a:prstGeom prst="roundRect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4B78C9-66DC-497E-8DBE-C432F71ABD08}"/>
              </a:ext>
            </a:extLst>
          </p:cNvPr>
          <p:cNvSpPr/>
          <p:nvPr/>
        </p:nvSpPr>
        <p:spPr>
          <a:xfrm>
            <a:off x="9461500" y="6540499"/>
            <a:ext cx="1651000" cy="729853"/>
          </a:xfrm>
          <a:prstGeom prst="roundRect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F94F6F-B861-F3D0-6A88-A6272F254C9E}"/>
              </a:ext>
            </a:extLst>
          </p:cNvPr>
          <p:cNvSpPr/>
          <p:nvPr/>
        </p:nvSpPr>
        <p:spPr>
          <a:xfrm>
            <a:off x="12065000" y="6519692"/>
            <a:ext cx="1651000" cy="729853"/>
          </a:xfrm>
          <a:prstGeom prst="roundRect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D9FC48-3231-9D04-0ACC-FE0168DA296F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532BE8A-FE68-4EA0-4D28-491B030B95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C543BF-91BA-50F8-436D-A9C2DF33852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987800" y="6915052"/>
            <a:ext cx="673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84BAF0-B4FB-D84D-D360-3BF15D7F9430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6311900" y="6905426"/>
            <a:ext cx="673100" cy="9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D532FE-B2DF-07B8-11ED-69DAA48F0FD3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636000" y="6905426"/>
            <a:ext cx="825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1DABB7-2036-1AA7-31C7-13627E3D4D0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11112500" y="6884619"/>
            <a:ext cx="952500" cy="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3A8E912-78A8-193C-AE16-663BE76BCF09}"/>
              </a:ext>
            </a:extLst>
          </p:cNvPr>
          <p:cNvSpPr txBox="1"/>
          <p:nvPr/>
        </p:nvSpPr>
        <p:spPr>
          <a:xfrm>
            <a:off x="2495955" y="6656890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Develop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D09CA0-D175-BD1C-9DB9-12545DFA0610}"/>
              </a:ext>
            </a:extLst>
          </p:cNvPr>
          <p:cNvSpPr txBox="1"/>
          <p:nvPr/>
        </p:nvSpPr>
        <p:spPr>
          <a:xfrm>
            <a:off x="4747233" y="6688435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Discuss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3021D-419E-4FE0-6865-D4DF79D16C42}"/>
              </a:ext>
            </a:extLst>
          </p:cNvPr>
          <p:cNvSpPr txBox="1"/>
          <p:nvPr/>
        </p:nvSpPr>
        <p:spPr>
          <a:xfrm>
            <a:off x="7073900" y="6691606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Assess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502BA0-2474-56D0-110C-E7B92CB4D228}"/>
              </a:ext>
            </a:extLst>
          </p:cNvPr>
          <p:cNvSpPr txBox="1"/>
          <p:nvPr/>
        </p:nvSpPr>
        <p:spPr>
          <a:xfrm>
            <a:off x="9539320" y="6693163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Reward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223709-B6B2-583D-DC42-B9ABFAE57044}"/>
              </a:ext>
            </a:extLst>
          </p:cNvPr>
          <p:cNvSpPr txBox="1"/>
          <p:nvPr/>
        </p:nvSpPr>
        <p:spPr>
          <a:xfrm>
            <a:off x="12123365" y="6673707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Grow</a:t>
            </a:r>
          </a:p>
        </p:txBody>
      </p:sp>
      <p:sp>
        <p:nvSpPr>
          <p:cNvPr id="24" name="Rectangle: Rounded Corners 23">
            <a:hlinkClick r:id="rId5"/>
            <a:extLst>
              <a:ext uri="{FF2B5EF4-FFF2-40B4-BE49-F238E27FC236}">
                <a16:creationId xmlns:a16="http://schemas.microsoft.com/office/drawing/2014/main" id="{2DF682C7-16A6-D370-1CCE-DA4873550BBA}"/>
              </a:ext>
            </a:extLst>
          </p:cNvPr>
          <p:cNvSpPr/>
          <p:nvPr/>
        </p:nvSpPr>
        <p:spPr>
          <a:xfrm>
            <a:off x="6511182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Get a Demo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hlinkClick r:id="rId5"/>
            <a:extLst>
              <a:ext uri="{FF2B5EF4-FFF2-40B4-BE49-F238E27FC236}">
                <a16:creationId xmlns:a16="http://schemas.microsoft.com/office/drawing/2014/main" id="{6058BC77-C561-0DC8-73BB-98849705FB8E}"/>
              </a:ext>
            </a:extLst>
          </p:cNvPr>
          <p:cNvSpPr/>
          <p:nvPr/>
        </p:nvSpPr>
        <p:spPr>
          <a:xfrm>
            <a:off x="8773588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</a:rPr>
              <a:t>Chat with Us: </a:t>
            </a:r>
          </a:p>
        </p:txBody>
      </p:sp>
      <p:pic>
        <p:nvPicPr>
          <p:cNvPr id="27" name="Picture 2" descr="Whatsapp Logo PNGs for Free Download">
            <a:hlinkClick r:id="rId7"/>
            <a:extLst>
              <a:ext uri="{FF2B5EF4-FFF2-40B4-BE49-F238E27FC236}">
                <a16:creationId xmlns:a16="http://schemas.microsoft.com/office/drawing/2014/main" id="{593699F6-474D-61B5-7F18-33391DDDA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191" y="8020449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06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286B5-74F8-BB33-3A2D-BA4C72E49901}"/>
              </a:ext>
            </a:extLst>
          </p:cNvPr>
          <p:cNvSpPr/>
          <p:nvPr/>
        </p:nvSpPr>
        <p:spPr>
          <a:xfrm>
            <a:off x="-29723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07803-C9ED-B06C-0763-601C02DBFD12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A717-C63D-1AE5-4CBD-8059B973D31C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Onboarding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8DBD5-AAED-8875-D74C-F9EB93C0807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 dirty="0">
                <a:solidFill>
                  <a:srgbClr val="183B56"/>
                </a:solidFill>
                <a:latin typeface="Aptos" panose="020B0004020202020204" pitchFamily="34" charset="0"/>
              </a:rPr>
              <a:t>School Onboarding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24A6B-66BE-AECA-2E65-C8FE615A9B17}"/>
              </a:ext>
            </a:extLst>
          </p:cNvPr>
          <p:cNvSpPr txBox="1"/>
          <p:nvPr/>
        </p:nvSpPr>
        <p:spPr>
          <a:xfrm>
            <a:off x="787400" y="1993900"/>
            <a:ext cx="1143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supportive onboarding path that helps schools join quickly, organise their ecosystem, and improve learning outcomes without heavy IT pressure.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E56E0B-6A4E-8640-94FF-E55C86418B01}"/>
              </a:ext>
            </a:extLst>
          </p:cNvPr>
          <p:cNvSpPr/>
          <p:nvPr/>
        </p:nvSpPr>
        <p:spPr>
          <a:xfrm>
            <a:off x="1270000" y="4714789"/>
            <a:ext cx="6350000" cy="2831083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73B5F-9B00-532F-5796-206751932264}"/>
              </a:ext>
            </a:extLst>
          </p:cNvPr>
          <p:cNvSpPr txBox="1"/>
          <p:nvPr/>
        </p:nvSpPr>
        <p:spPr>
          <a:xfrm>
            <a:off x="1473200" y="4866622"/>
            <a:ext cx="6146800" cy="27084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A Smooth Start for Schools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Cloud-based software with no heavy IT infrastructure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required.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Data migration or entry support to organize school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records quickly.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Staff and system training so teachers, admins, and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parents can use the platform confidently.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Early optimization to help the school ecosystem move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toward better child growth and stronger academic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results.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3C63E0-CD0F-02ED-6FE6-D229F697E2D6}"/>
              </a:ext>
            </a:extLst>
          </p:cNvPr>
          <p:cNvSpPr/>
          <p:nvPr/>
        </p:nvSpPr>
        <p:spPr>
          <a:xfrm>
            <a:off x="8439150" y="4714786"/>
            <a:ext cx="6350000" cy="2831082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7A1AC-8003-F02E-DAD4-3E3F1EC6C53C}"/>
              </a:ext>
            </a:extLst>
          </p:cNvPr>
          <p:cNvSpPr txBox="1"/>
          <p:nvPr/>
        </p:nvSpPr>
        <p:spPr>
          <a:xfrm>
            <a:off x="8716252" y="4823142"/>
            <a:ext cx="6072897" cy="27084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What EEC Provides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Onboarding support, training, and maintenance services.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Role-based guidance for management, teachers,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students, and parents.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Practical setup of attendance, homework, assessments,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communication, reports, and financial fee collections.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Up to 4 free add-ons to help schools include extra needs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during onboarding.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Continuous feedback and improvement so the platform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supports real school goals.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31B36C-FB25-1499-535C-FFF5333BA9AC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1B5E64E-EE35-8EE1-7A3A-ADE6CE54E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9C9DB525-95CB-62E6-2B0E-C8B5CD23AD89}"/>
              </a:ext>
            </a:extLst>
          </p:cNvPr>
          <p:cNvSpPr/>
          <p:nvPr/>
        </p:nvSpPr>
        <p:spPr>
          <a:xfrm>
            <a:off x="2048753" y="3029922"/>
            <a:ext cx="1168400" cy="11684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C45150-3919-FA80-BE5B-728BB21CBB9B}"/>
              </a:ext>
            </a:extLst>
          </p:cNvPr>
          <p:cNvCxnSpPr>
            <a:cxnSpLocks/>
            <a:stCxn id="26" idx="6"/>
            <a:endCxn id="29" idx="2"/>
          </p:cNvCxnSpPr>
          <p:nvPr/>
        </p:nvCxnSpPr>
        <p:spPr>
          <a:xfrm>
            <a:off x="3217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C1A66A0-A821-AF55-0CB7-48D854C1AA0C}"/>
              </a:ext>
            </a:extLst>
          </p:cNvPr>
          <p:cNvSpPr/>
          <p:nvPr/>
        </p:nvSpPr>
        <p:spPr>
          <a:xfrm>
            <a:off x="4271253" y="3029922"/>
            <a:ext cx="1168400" cy="11684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D2A649-B1D6-9DDB-CBE0-0E6A94B82D8A}"/>
              </a:ext>
            </a:extLst>
          </p:cNvPr>
          <p:cNvCxnSpPr>
            <a:cxnSpLocks/>
            <a:stCxn id="29" idx="6"/>
            <a:endCxn id="31" idx="2"/>
          </p:cNvCxnSpPr>
          <p:nvPr/>
        </p:nvCxnSpPr>
        <p:spPr>
          <a:xfrm>
            <a:off x="54396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8BD82F6C-FE91-EAD4-6C45-6028316502A5}"/>
              </a:ext>
            </a:extLst>
          </p:cNvPr>
          <p:cNvSpPr/>
          <p:nvPr/>
        </p:nvSpPr>
        <p:spPr>
          <a:xfrm>
            <a:off x="6493753" y="3029922"/>
            <a:ext cx="1168400" cy="11684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5DD364-DB5D-E7B1-771C-BAF995502D57}"/>
              </a:ext>
            </a:extLst>
          </p:cNvPr>
          <p:cNvCxnSpPr>
            <a:cxnSpLocks/>
            <a:stCxn id="31" idx="6"/>
            <a:endCxn id="33" idx="2"/>
          </p:cNvCxnSpPr>
          <p:nvPr/>
        </p:nvCxnSpPr>
        <p:spPr>
          <a:xfrm>
            <a:off x="7662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DC0FB74-5961-077A-4FF3-D8A1DD2B3A42}"/>
              </a:ext>
            </a:extLst>
          </p:cNvPr>
          <p:cNvSpPr/>
          <p:nvPr/>
        </p:nvSpPr>
        <p:spPr>
          <a:xfrm>
            <a:off x="8716253" y="3029922"/>
            <a:ext cx="1168400" cy="11684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5B5FF7-24F6-54D8-0A8E-00818067DA32}"/>
              </a:ext>
            </a:extLst>
          </p:cNvPr>
          <p:cNvCxnSpPr>
            <a:cxnSpLocks/>
            <a:stCxn id="33" idx="6"/>
            <a:endCxn id="35" idx="2"/>
          </p:cNvCxnSpPr>
          <p:nvPr/>
        </p:nvCxnSpPr>
        <p:spPr>
          <a:xfrm>
            <a:off x="98846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E0F8CD7B-BF39-1EFE-75BD-7DDBEE1AA125}"/>
              </a:ext>
            </a:extLst>
          </p:cNvPr>
          <p:cNvSpPr/>
          <p:nvPr/>
        </p:nvSpPr>
        <p:spPr>
          <a:xfrm>
            <a:off x="10938753" y="3029922"/>
            <a:ext cx="1168400" cy="11684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39740A3-1834-2E1B-52F2-D01217B28D90}"/>
              </a:ext>
            </a:extLst>
          </p:cNvPr>
          <p:cNvCxnSpPr>
            <a:cxnSpLocks/>
            <a:stCxn id="35" idx="6"/>
            <a:endCxn id="37" idx="2"/>
          </p:cNvCxnSpPr>
          <p:nvPr/>
        </p:nvCxnSpPr>
        <p:spPr>
          <a:xfrm>
            <a:off x="12107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A972410-4E10-B5D0-6C7F-CB4D08B8FA23}"/>
              </a:ext>
            </a:extLst>
          </p:cNvPr>
          <p:cNvSpPr/>
          <p:nvPr/>
        </p:nvSpPr>
        <p:spPr>
          <a:xfrm>
            <a:off x="13161253" y="3029922"/>
            <a:ext cx="1168400" cy="11684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ECD9AC-E2EE-F501-887D-ABB5819054F5}"/>
              </a:ext>
            </a:extLst>
          </p:cNvPr>
          <p:cNvSpPr txBox="1"/>
          <p:nvPr/>
        </p:nvSpPr>
        <p:spPr>
          <a:xfrm>
            <a:off x="1736117" y="3400031"/>
            <a:ext cx="179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Discovery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ED8987-0969-B368-9799-123B7280AE2E}"/>
              </a:ext>
            </a:extLst>
          </p:cNvPr>
          <p:cNvSpPr txBox="1"/>
          <p:nvPr/>
        </p:nvSpPr>
        <p:spPr>
          <a:xfrm>
            <a:off x="4030088" y="3247103"/>
            <a:ext cx="1689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Quick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Setup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B1808-F429-EEE2-F5BA-8422B8598E94}"/>
              </a:ext>
            </a:extLst>
          </p:cNvPr>
          <p:cNvSpPr txBox="1"/>
          <p:nvPr/>
        </p:nvSpPr>
        <p:spPr>
          <a:xfrm>
            <a:off x="6462543" y="3216038"/>
            <a:ext cx="1230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Role Training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0E1FBB-38C2-8EF6-F37D-C998A410F69A}"/>
              </a:ext>
            </a:extLst>
          </p:cNvPr>
          <p:cNvSpPr txBox="1"/>
          <p:nvPr/>
        </p:nvSpPr>
        <p:spPr>
          <a:xfrm>
            <a:off x="8695987" y="3320915"/>
            <a:ext cx="124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Live Walkthrough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A8F7A3-3470-4D63-C526-30C8C0CAF610}"/>
              </a:ext>
            </a:extLst>
          </p:cNvPr>
          <p:cNvSpPr txBox="1"/>
          <p:nvPr/>
        </p:nvSpPr>
        <p:spPr>
          <a:xfrm>
            <a:off x="10907544" y="3414066"/>
            <a:ext cx="124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Feedback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D9AEED-8E02-0D53-9626-9E917D389C76}"/>
              </a:ext>
            </a:extLst>
          </p:cNvPr>
          <p:cNvSpPr txBox="1"/>
          <p:nvPr/>
        </p:nvSpPr>
        <p:spPr>
          <a:xfrm>
            <a:off x="13141798" y="3391133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Scale</a:t>
            </a:r>
          </a:p>
        </p:txBody>
      </p:sp>
      <p:sp>
        <p:nvSpPr>
          <p:cNvPr id="4" name="Rectangle: Rounded Corners 3">
            <a:hlinkClick r:id="rId3"/>
            <a:extLst>
              <a:ext uri="{FF2B5EF4-FFF2-40B4-BE49-F238E27FC236}">
                <a16:creationId xmlns:a16="http://schemas.microsoft.com/office/drawing/2014/main" id="{4A96F354-1637-9983-5DC0-9D870D4FF26D}"/>
              </a:ext>
            </a:extLst>
          </p:cNvPr>
          <p:cNvSpPr/>
          <p:nvPr/>
        </p:nvSpPr>
        <p:spPr>
          <a:xfrm>
            <a:off x="6511182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Get a Demo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hlinkClick r:id="rId3"/>
            <a:extLst>
              <a:ext uri="{FF2B5EF4-FFF2-40B4-BE49-F238E27FC236}">
                <a16:creationId xmlns:a16="http://schemas.microsoft.com/office/drawing/2014/main" id="{C8D064F5-0324-8DF4-2C70-59BE6D2AEBAF}"/>
              </a:ext>
            </a:extLst>
          </p:cNvPr>
          <p:cNvSpPr/>
          <p:nvPr/>
        </p:nvSpPr>
        <p:spPr>
          <a:xfrm>
            <a:off x="8773588" y="7979057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</a:rPr>
              <a:t>Chat with Us: </a:t>
            </a:r>
          </a:p>
        </p:txBody>
      </p:sp>
      <p:pic>
        <p:nvPicPr>
          <p:cNvPr id="9" name="Picture 2" descr="Whatsapp Logo PNGs for Free Download">
            <a:hlinkClick r:id="rId5"/>
            <a:extLst>
              <a:ext uri="{FF2B5EF4-FFF2-40B4-BE49-F238E27FC236}">
                <a16:creationId xmlns:a16="http://schemas.microsoft.com/office/drawing/2014/main" id="{F949B63D-9810-46E8-C437-E96AC8A4C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191" y="8020449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67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CF17C-A522-2F7F-0B33-75903B63F6C8}"/>
              </a:ext>
            </a:extLst>
          </p:cNvPr>
          <p:cNvSpPr/>
          <p:nvPr/>
        </p:nvSpPr>
        <p:spPr>
          <a:xfrm>
            <a:off x="29723" y="-32757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2CDE7-ED80-3946-BAA7-817669A7FE5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DC4B1-B161-9070-D677-879CC99111B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26CDA-1F22-BF59-49E3-BF7B85FA40E2}"/>
              </a:ext>
            </a:extLst>
          </p:cNvPr>
          <p:cNvSpPr txBox="1"/>
          <p:nvPr/>
        </p:nvSpPr>
        <p:spPr>
          <a:xfrm>
            <a:off x="736600" y="1333500"/>
            <a:ext cx="1168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83B56"/>
                </a:solidFill>
                <a:latin typeface="Aptos" panose="020B0004020202020204" pitchFamily="34" charset="0"/>
              </a:rPr>
              <a:t>Building the Future of Education, One Learner at a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8382A-FB15-9901-F36F-56D08EDEB34D}"/>
              </a:ext>
            </a:extLst>
          </p:cNvPr>
          <p:cNvSpPr txBox="1"/>
          <p:nvPr/>
        </p:nvSpPr>
        <p:spPr>
          <a:xfrm>
            <a:off x="812800" y="2476500"/>
            <a:ext cx="1219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dirty="0">
                <a:solidFill>
                  <a:srgbClr val="4B4152"/>
                </a:solidFill>
                <a:latin typeface="Aptos" panose="020B0004020202020204" pitchFamily="34" charset="0"/>
              </a:rPr>
              <a:t>EEC - ELECTRONIC EDUCARE brings AI, learning science, teacher empowerment, student motivation, and community development into one future-ready education ecosystem.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6D71EB-ABA9-BA9A-53E6-9EE1345A8BB7}"/>
              </a:ext>
            </a:extLst>
          </p:cNvPr>
          <p:cNvSpPr/>
          <p:nvPr/>
        </p:nvSpPr>
        <p:spPr>
          <a:xfrm>
            <a:off x="12192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8F842-5C05-7373-DB31-879409E4C8D7}"/>
              </a:ext>
            </a:extLst>
          </p:cNvPr>
          <p:cNvSpPr txBox="1"/>
          <p:nvPr/>
        </p:nvSpPr>
        <p:spPr>
          <a:xfrm>
            <a:off x="1422400" y="3898900"/>
            <a:ext cx="5816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26A14-C87B-29BA-726C-142F58163982}"/>
              </a:ext>
            </a:extLst>
          </p:cNvPr>
          <p:cNvSpPr txBox="1"/>
          <p:nvPr/>
        </p:nvSpPr>
        <p:spPr>
          <a:xfrm>
            <a:off x="1422400" y="4356100"/>
            <a:ext cx="58166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• Identifies knowledge gaps and learning difficulties early.</a:t>
            </a:r>
          </a:p>
          <a:p>
            <a:r>
              <a:rPr lang="en-US" dirty="0">
                <a:latin typeface="Aptos" panose="020B0004020202020204" pitchFamily="34" charset="0"/>
              </a:rPr>
              <a:t>• Personalizes support while keeping teachers central to </a:t>
            </a:r>
          </a:p>
          <a:p>
            <a:r>
              <a:rPr lang="en-US" dirty="0">
                <a:latin typeface="Aptos" panose="020B0004020202020204" pitchFamily="34" charset="0"/>
              </a:rPr>
              <a:t>   the process.</a:t>
            </a:r>
          </a:p>
          <a:p>
            <a:r>
              <a:rPr lang="en-US" dirty="0">
                <a:latin typeface="Aptos" panose="020B0004020202020204" pitchFamily="34" charset="0"/>
              </a:rPr>
              <a:t>• Improves communication between school, home, and </a:t>
            </a:r>
          </a:p>
          <a:p>
            <a:r>
              <a:rPr lang="en-US" dirty="0">
                <a:latin typeface="Aptos" panose="020B0004020202020204" pitchFamily="34" charset="0"/>
              </a:rPr>
              <a:t>    management.</a:t>
            </a:r>
          </a:p>
          <a:p>
            <a:r>
              <a:rPr lang="en-US" dirty="0">
                <a:latin typeface="Aptos" panose="020B0004020202020204" pitchFamily="34" charset="0"/>
              </a:rPr>
              <a:t>• Encourages self-learning through achievement points </a:t>
            </a:r>
          </a:p>
          <a:p>
            <a:r>
              <a:rPr lang="en-US" dirty="0">
                <a:latin typeface="Aptos" panose="020B0004020202020204" pitchFamily="34" charset="0"/>
              </a:rPr>
              <a:t>   and growth milestones.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F2324-0449-78A8-3DD5-5527E9ECCBBF}"/>
              </a:ext>
            </a:extLst>
          </p:cNvPr>
          <p:cNvSpPr/>
          <p:nvPr/>
        </p:nvSpPr>
        <p:spPr>
          <a:xfrm>
            <a:off x="84455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0933C-DEA4-773F-28BB-59D18D3E08CD}"/>
              </a:ext>
            </a:extLst>
          </p:cNvPr>
          <p:cNvSpPr txBox="1"/>
          <p:nvPr/>
        </p:nvSpPr>
        <p:spPr>
          <a:xfrm>
            <a:off x="8648700" y="3898900"/>
            <a:ext cx="60198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Final Message</a:t>
            </a:r>
          </a:p>
          <a:p>
            <a:r>
              <a:rPr lang="en-US" sz="1600" dirty="0"/>
              <a:t>• Education in these new times needs practical technology, research-backed learning, and a strong human mission.</a:t>
            </a:r>
          </a:p>
          <a:p>
            <a:r>
              <a:rPr lang="en-US" sz="1600" dirty="0"/>
              <a:t>• EEC supports NEP-aligned education by encouraging critical thinking, creativity, problem-solving, and experiential learning.</a:t>
            </a:r>
          </a:p>
          <a:p>
            <a:r>
              <a:rPr lang="en-US" sz="1600" dirty="0"/>
              <a:t>• Learning science and AI &amp; Machine Learning help schools track development in real time and bridge knowledge gaps early.</a:t>
            </a:r>
          </a:p>
          <a:p>
            <a:r>
              <a:rPr lang="en-US" sz="1600" dirty="0"/>
              <a:t>• The technology is based on over a decade of research and represents the future of education.</a:t>
            </a:r>
          </a:p>
          <a:p>
            <a:r>
              <a:rPr lang="en-US" sz="1600" dirty="0"/>
              <a:t>• EEC helps schools become adaptive, inclusive, data-aware, and ready for the newer times to come.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4EB6D9-3D33-00B0-D1C5-EA07AB1BC55E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0798B7-7613-033F-503C-B82F9790E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EEF1645-3132-BF71-6EA9-987A2E415600}"/>
              </a:ext>
            </a:extLst>
          </p:cNvPr>
          <p:cNvSpPr/>
          <p:nvPr/>
        </p:nvSpPr>
        <p:spPr>
          <a:xfrm>
            <a:off x="0" y="7394643"/>
            <a:ext cx="16256000" cy="1705914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Contact Us: +91 6293764220</a:t>
            </a:r>
          </a:p>
          <a:p>
            <a:pPr algn="ctr"/>
            <a:r>
              <a:rPr lang="en-US" sz="2800" dirty="0"/>
              <a:t>Email: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electroniceducaresales@yarrowtech.co.in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/>
              <a:t>3A, Humayun Place, Citi Mart Building, Kolkata - 700087</a:t>
            </a:r>
          </a:p>
        </p:txBody>
      </p:sp>
      <p:sp>
        <p:nvSpPr>
          <p:cNvPr id="4" name="Rectangle: Rounded Corners 3">
            <a:hlinkClick r:id="rId4"/>
            <a:extLst>
              <a:ext uri="{FF2B5EF4-FFF2-40B4-BE49-F238E27FC236}">
                <a16:creationId xmlns:a16="http://schemas.microsoft.com/office/drawing/2014/main" id="{CA012B89-70EA-CA46-7046-722EA8CE7570}"/>
              </a:ext>
            </a:extLst>
          </p:cNvPr>
          <p:cNvSpPr/>
          <p:nvPr/>
        </p:nvSpPr>
        <p:spPr>
          <a:xfrm>
            <a:off x="703723" y="7991602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Get a Demo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hlinkClick r:id="rId4"/>
            <a:extLst>
              <a:ext uri="{FF2B5EF4-FFF2-40B4-BE49-F238E27FC236}">
                <a16:creationId xmlns:a16="http://schemas.microsoft.com/office/drawing/2014/main" id="{6AC4F95A-631F-2B27-C852-9DE986CFB4BB}"/>
              </a:ext>
            </a:extLst>
          </p:cNvPr>
          <p:cNvSpPr/>
          <p:nvPr/>
        </p:nvSpPr>
        <p:spPr>
          <a:xfrm>
            <a:off x="13427459" y="7972552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</a:rPr>
              <a:t>Chat with Us: </a:t>
            </a:r>
          </a:p>
        </p:txBody>
      </p:sp>
      <p:pic>
        <p:nvPicPr>
          <p:cNvPr id="14" name="Picture 2" descr="Whatsapp Logo PNGs for Free Download">
            <a:hlinkClick r:id="rId6"/>
            <a:extLst>
              <a:ext uri="{FF2B5EF4-FFF2-40B4-BE49-F238E27FC236}">
                <a16:creationId xmlns:a16="http://schemas.microsoft.com/office/drawing/2014/main" id="{E0A8AA05-8C19-F3DB-AFD6-2DB14CD3C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062" y="8013944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30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1501</Words>
  <Application>Microsoft Office PowerPoint</Application>
  <PresentationFormat>Custom</PresentationFormat>
  <Paragraphs>257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76</cp:revision>
  <dcterms:created xsi:type="dcterms:W3CDTF">2026-10-13T12:50:40Z</dcterms:created>
  <dcterms:modified xsi:type="dcterms:W3CDTF">2026-10-14T13:23:54Z</dcterms:modified>
</cp:coreProperties>
</file>