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83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C97F-4D23-45D7-8288-4030AB5CF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1F392-9E65-EA9C-EE0B-3A7B04B72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2C25E-39F8-B745-0734-00B963D62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E2A5F-08C5-4EC1-6380-A539932CE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D3840-7482-677C-154F-5FB6B5A7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8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5DADD-78C0-0E57-DC8E-B85A3141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67293-EFA1-EA3A-7192-042EFCC4C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226A3-778A-9800-E61A-3A2EAB4BA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1EC74-138C-5BE9-CCF8-16FA69612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DFB91-AEBF-88CF-8000-2A6DA4008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56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2D9BD-60E4-6BE1-1EAC-630675994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D3325-D4FF-2A5F-2FCA-8CC33E9A8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6B519-21D3-640A-4F46-99B539E6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C7CF1-C9AF-6833-B1E6-F60D3FAE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C04D0-BF4F-E3A1-CA93-4D80CBD1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8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72DD-28A9-885D-9EAD-98C0278C2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18726-22C1-7F07-911F-E77ECA76D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9B61C-E02F-4A90-A419-2024EB61A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F01AA-6A16-90FD-D45B-70E2AB8CF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F2BF1-B08E-6F36-A70C-7616A1B6F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A663B-2213-548C-A3C6-B7BCD2DEA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17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265C8-5BAF-C81A-9188-03382312B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BC402-5B24-7106-681A-029BEB9AE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AE1F0-4838-B141-E295-B638F82D2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5D017-4C25-F99C-4E88-D018CACA0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2C98D1-0490-F788-B3E7-04ACA4858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9ED35-49A6-6A94-3D28-C5CBFD6CE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DBB19-1D8E-BE2A-F143-99EE2F940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39A79F-CDC3-0106-A286-054DCFF4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69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DE095-0D08-5853-728E-94F5D97D0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C386C5-F6D8-C182-311C-FCCBE571C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13500B-4E2B-9C90-D2C0-94BCA122D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8DC8E-4786-F498-7DFA-60E2C0A9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76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8AD432-AC32-BB90-C809-2E4590680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B89E8B-4421-AAD4-A48B-B6E351835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57AC4-2D8F-05A7-C45F-457CD4F2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20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47F5F-CB47-AC80-AE50-9E8531213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B7853-D516-D47E-5992-98C97D835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CACA8-CF01-B682-BCCE-96746AADB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B1531-2FED-8DED-BFAC-57B63B9DB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15D83-DD9D-C46C-B94D-30677A3C2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9A628-00F5-C0E0-738A-BED711B9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98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792A-1B0D-96EC-18D4-6D39D195D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CBA97B-4737-0767-ABDE-A9057CEAD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AB543-5992-6792-D43A-0FF215099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F7029-B262-A772-A0C1-4D1850CE4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7AF96-E6C8-AE01-C422-8D0F19AED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220B5-0FE1-987D-0DA4-E0513634C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0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492D-D553-A093-D4CB-70ACDA18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555FD-1F18-6C50-D3E6-8A9E05ADC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88322-868B-19F5-C3B5-695C4D251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2F7B4-9E8F-6E1A-663E-2D3E118F6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7A962-390C-D805-47AF-BABF32A1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35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E7ED80-F6DD-F84B-2378-E58798ACE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8F239-7C02-B747-CA2C-CB664B1A1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456A2-DD44-F4B5-7302-9EE841B6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A56BE-3709-3FE3-90F2-6F3B28B86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9F374-D7C1-3255-472A-78836F24B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6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6A2B6C-F99D-B622-7171-5CFE00842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70B25-4326-729E-CAFC-DD3EFC266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41104-5CAD-A956-3CC6-3C5B92D3F5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E1EB7-2816-4BF9-B52E-A87DB908E9AD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5A8A5-7580-68ED-9A96-489FBEAC7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FB6E9-7B2F-F1CD-834C-57987E33E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19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electroniceducare.com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15A7FD-FF03-B70C-BE5B-5B74258A67C7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D1DDB0-7048-1FA5-1C2D-0F5818ECA978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56385C-F9C6-F90C-3A43-D4F9962FE4FE}"/>
              </a:ext>
            </a:extLst>
          </p:cNvPr>
          <p:cNvSpPr txBox="1"/>
          <p:nvPr/>
        </p:nvSpPr>
        <p:spPr>
          <a:xfrm>
            <a:off x="558800" y="127000"/>
            <a:ext cx="1397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F49A43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7158C3-AF91-DB75-D1E6-E81AD0061CF2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ELECTRONI EDUCARE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4CE11-E658-9006-8B47-38011D6D6979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Brand, Message &amp; 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1EBFC-F0A0-E6F1-8440-76DF5F2DD6AC}"/>
              </a:ext>
            </a:extLst>
          </p:cNvPr>
          <p:cNvSpPr txBox="1"/>
          <p:nvPr/>
        </p:nvSpPr>
        <p:spPr>
          <a:xfrm>
            <a:off x="965200" y="1422400"/>
            <a:ext cx="330200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5400" b="1">
                <a:solidFill>
                  <a:srgbClr val="183B56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3BFD99-0689-93F8-B99A-F2A863661E9E}"/>
              </a:ext>
            </a:extLst>
          </p:cNvPr>
          <p:cNvSpPr txBox="1"/>
          <p:nvPr/>
        </p:nvSpPr>
        <p:spPr>
          <a:xfrm>
            <a:off x="1041400" y="2387600"/>
            <a:ext cx="558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86780D"/>
                </a:solidFill>
                <a:latin typeface="Aptos" panose="020B0004020202020204" pitchFamily="34" charset="0"/>
              </a:rPr>
              <a:t>ELECTRONI EDUCARE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0B130-714A-55B0-E3D8-8D221E8DCAF9}"/>
              </a:ext>
            </a:extLst>
          </p:cNvPr>
          <p:cNvSpPr txBox="1"/>
          <p:nvPr/>
        </p:nvSpPr>
        <p:spPr>
          <a:xfrm>
            <a:off x="1066800" y="3175000"/>
            <a:ext cx="9652000" cy="86177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500" b="1">
                <a:solidFill>
                  <a:srgbClr val="202020"/>
                </a:solidFill>
                <a:latin typeface="Aptos" panose="020B0004020202020204" pitchFamily="34" charset="0"/>
              </a:rPr>
              <a:t>Brand message: make education more engaging, effective, measurable, and accessible for every learner.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0064EB-504D-6B2F-D7B4-B5ADC7785E90}"/>
              </a:ext>
            </a:extLst>
          </p:cNvPr>
          <p:cNvSpPr/>
          <p:nvPr/>
        </p:nvSpPr>
        <p:spPr>
          <a:xfrm>
            <a:off x="1066800" y="4508500"/>
            <a:ext cx="4572000" cy="2730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F2A645-41C5-08B8-37EC-E215B3982977}"/>
              </a:ext>
            </a:extLst>
          </p:cNvPr>
          <p:cNvSpPr txBox="1"/>
          <p:nvPr/>
        </p:nvSpPr>
        <p:spPr>
          <a:xfrm>
            <a:off x="1270000" y="4660900"/>
            <a:ext cx="4165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183B56"/>
                </a:solidFill>
                <a:latin typeface="Aptos" panose="020B0004020202020204" pitchFamily="34" charset="0"/>
              </a:rPr>
              <a:t>Where To Place The Logo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CA0022-8359-8371-7B04-CBFF53789363}"/>
              </a:ext>
            </a:extLst>
          </p:cNvPr>
          <p:cNvSpPr txBox="1"/>
          <p:nvPr/>
        </p:nvSpPr>
        <p:spPr>
          <a:xfrm>
            <a:off x="1270000" y="5118100"/>
            <a:ext cx="4165600" cy="12926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Top-left on every slide header for brand recall.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Large hero logo on this first brand-value page.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Footer or closing slide beside the demo link and final call to action.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Use the short logo as eec and the full name as ELECTRONI EDUCARE.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87B4F5-F036-E4D2-50A6-A6D8698E22F5}"/>
              </a:ext>
            </a:extLst>
          </p:cNvPr>
          <p:cNvSpPr/>
          <p:nvPr/>
        </p:nvSpPr>
        <p:spPr>
          <a:xfrm>
            <a:off x="6248400" y="4508500"/>
            <a:ext cx="4572000" cy="2730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0A91ED-E850-C681-4BC7-BF2839E9D3AB}"/>
              </a:ext>
            </a:extLst>
          </p:cNvPr>
          <p:cNvSpPr txBox="1"/>
          <p:nvPr/>
        </p:nvSpPr>
        <p:spPr>
          <a:xfrm>
            <a:off x="6451600" y="4660900"/>
            <a:ext cx="4165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86880E"/>
                </a:solidFill>
                <a:latin typeface="Aptos" panose="020B0004020202020204" pitchFamily="34" charset="0"/>
              </a:rPr>
              <a:t>Brand Value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8B8BF7-8693-17EC-AA7A-CDD482AF38D7}"/>
              </a:ext>
            </a:extLst>
          </p:cNvPr>
          <p:cNvSpPr txBox="1"/>
          <p:nvPr/>
        </p:nvSpPr>
        <p:spPr>
          <a:xfrm>
            <a:off x="6451600" y="5118100"/>
            <a:ext cx="41656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Learner-centered: each student gets a clearer path to progress.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Teacher-empowered: teachers get faster feedback, analytics, and support.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School-ready: one connected system for learning, communication, records, and decisions.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Future-focused: AI, learning science, and practical implementation for changing times.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32B40BC-6DB7-E0A4-DCAA-754A2692BFD7}"/>
              </a:ext>
            </a:extLst>
          </p:cNvPr>
          <p:cNvSpPr/>
          <p:nvPr/>
        </p:nvSpPr>
        <p:spPr>
          <a:xfrm>
            <a:off x="11430000" y="4508500"/>
            <a:ext cx="3556000" cy="2730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7C2797-0B32-39CC-5464-5688596C7154}"/>
              </a:ext>
            </a:extLst>
          </p:cNvPr>
          <p:cNvSpPr txBox="1"/>
          <p:nvPr/>
        </p:nvSpPr>
        <p:spPr>
          <a:xfrm>
            <a:off x="11633200" y="4660900"/>
            <a:ext cx="3149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09A370"/>
                </a:solidFill>
                <a:latin typeface="Aptos" panose="020B0004020202020204" pitchFamily="34" charset="0"/>
              </a:rPr>
              <a:t>Opening Message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3DDE67-34D7-E9BB-197B-245AD2A1AC57}"/>
              </a:ext>
            </a:extLst>
          </p:cNvPr>
          <p:cNvSpPr txBox="1"/>
          <p:nvPr/>
        </p:nvSpPr>
        <p:spPr>
          <a:xfrm>
            <a:off x="11633200" y="5118100"/>
            <a:ext cx="3149600" cy="10926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EEC is not only a product; it is a smarter education ecosystem.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It helps schools understand students better, support teachers faster, and build long-term academic growth.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A78AE0-920A-2C7B-AB36-7F87E3C96AF2}"/>
              </a:ext>
            </a:extLst>
          </p:cNvPr>
          <p:cNvSpPr txBox="1"/>
          <p:nvPr/>
        </p:nvSpPr>
        <p:spPr>
          <a:xfrm>
            <a:off x="1041400" y="7569200"/>
            <a:ext cx="9144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Begin with the brand promise, then show the live platform.</a:t>
            </a:r>
          </a:p>
        </p:txBody>
      </p:sp>
      <p:sp>
        <p:nvSpPr>
          <p:cNvPr id="20" name="Rectangle: Rounded Corners 19">
            <a:hlinkClick r:id="rId2"/>
            <a:extLst>
              <a:ext uri="{FF2B5EF4-FFF2-40B4-BE49-F238E27FC236}">
                <a16:creationId xmlns:a16="http://schemas.microsoft.com/office/drawing/2014/main" id="{56D84D18-4DAD-7BF0-B18B-72EC68BC0020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769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9BD721-5193-F007-A67B-DA2BA4FFF5EB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0A5566-991B-2536-2541-B807B5E91689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4220C5-6C2E-DA8F-47E7-7A4EB5F26A68}"/>
              </a:ext>
            </a:extLst>
          </p:cNvPr>
          <p:cNvSpPr txBox="1"/>
          <p:nvPr/>
        </p:nvSpPr>
        <p:spPr>
          <a:xfrm>
            <a:off x="558800" y="127000"/>
            <a:ext cx="1397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F49A43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8A74CC-DBAD-D119-9F8C-F1EB858A3586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ELECTRONI EDUCARE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A6E195-0DFF-D692-6CB8-A07344E71282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Education Philosophy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B2E31C-DCC9-E6D1-37EA-7FDF6D3F7865}"/>
              </a:ext>
            </a:extLst>
          </p:cNvPr>
          <p:cNvSpPr txBox="1"/>
          <p:nvPr/>
        </p:nvSpPr>
        <p:spPr>
          <a:xfrm>
            <a:off x="736600" y="1244600"/>
            <a:ext cx="12065000" cy="5693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100" b="1">
                <a:solidFill>
                  <a:srgbClr val="183B56"/>
                </a:solidFill>
                <a:latin typeface="Aptos" panose="020B0004020202020204" pitchFamily="34" charset="0"/>
              </a:rPr>
              <a:t>Make Education More Engaging, Effective and Accessible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013F76-0DC2-AB46-2674-837A35213926}"/>
              </a:ext>
            </a:extLst>
          </p:cNvPr>
          <p:cNvSpPr txBox="1"/>
          <p:nvPr/>
        </p:nvSpPr>
        <p:spPr>
          <a:xfrm>
            <a:off x="787400" y="1968500"/>
            <a:ext cx="1168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EEC combines learner-centered design, teacher empowerment, AI support, curriculum mapping, and real-time analytics into one practical education platform.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93D520-5127-7C8F-1CDA-60ECC907BC53}"/>
              </a:ext>
            </a:extLst>
          </p:cNvPr>
          <p:cNvSpPr/>
          <p:nvPr/>
        </p:nvSpPr>
        <p:spPr>
          <a:xfrm>
            <a:off x="812800" y="2921000"/>
            <a:ext cx="4445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140FE1-C83A-78BF-5702-42E7EEB153EA}"/>
              </a:ext>
            </a:extLst>
          </p:cNvPr>
          <p:cNvSpPr txBox="1"/>
          <p:nvPr/>
        </p:nvSpPr>
        <p:spPr>
          <a:xfrm>
            <a:off x="1016000" y="3073400"/>
            <a:ext cx="4038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86880E"/>
                </a:solidFill>
                <a:latin typeface="Aptos" panose="020B0004020202020204" pitchFamily="34" charset="0"/>
              </a:rPr>
              <a:t>Learner-Centered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D31326-5930-CF5F-6BAD-F372153466E8}"/>
              </a:ext>
            </a:extLst>
          </p:cNvPr>
          <p:cNvSpPr txBox="1"/>
          <p:nvPr/>
        </p:nvSpPr>
        <p:spPr>
          <a:xfrm>
            <a:off x="1016000" y="3530600"/>
            <a:ext cx="40386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Builds critical thinking, creativity, problem-solving, collaboration, and self-identity.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Promotes experiential learning where students learn by doing, exploring, practicing, and reflecting.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Supports adaptive and cognitive learning through tailor-made content.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Focuses on well-being across physical, mental, emotional, social, and psychological development.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140D59B-C2E0-1C2F-5638-3598B03E453B}"/>
              </a:ext>
            </a:extLst>
          </p:cNvPr>
          <p:cNvSpPr/>
          <p:nvPr/>
        </p:nvSpPr>
        <p:spPr>
          <a:xfrm>
            <a:off x="5905500" y="2921000"/>
            <a:ext cx="4445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F2AE05-2971-B1D5-5888-AB4CDC2BA38F}"/>
              </a:ext>
            </a:extLst>
          </p:cNvPr>
          <p:cNvSpPr txBox="1"/>
          <p:nvPr/>
        </p:nvSpPr>
        <p:spPr>
          <a:xfrm>
            <a:off x="6108700" y="3073400"/>
            <a:ext cx="4038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183B56"/>
                </a:solidFill>
                <a:latin typeface="Aptos" panose="020B0004020202020204" pitchFamily="34" charset="0"/>
              </a:rPr>
              <a:t>Teacher-Empowered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ADDB3F-5A79-38C7-B06A-F5B3DBA3C775}"/>
              </a:ext>
            </a:extLst>
          </p:cNvPr>
          <p:cNvSpPr txBox="1"/>
          <p:nvPr/>
        </p:nvSpPr>
        <p:spPr>
          <a:xfrm>
            <a:off x="6108700" y="3530600"/>
            <a:ext cx="40386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Reduces the time taken to correct classwork, homework, tests, and evaluations.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Gives immediate feedback on concepts students may find difficult.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Helps teachers identify knowledge gaps, difficulty levels, enquiry needs, and learning patterns.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Supports lesson planning, syllabus fulfillment, curriculum mapping, and classroom decisions.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5B6E9FB-3EB9-8774-D6E0-15FF2A3416E8}"/>
              </a:ext>
            </a:extLst>
          </p:cNvPr>
          <p:cNvSpPr/>
          <p:nvPr/>
        </p:nvSpPr>
        <p:spPr>
          <a:xfrm>
            <a:off x="10998200" y="2921000"/>
            <a:ext cx="4445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184AF9-9FD7-EBB8-A2CE-7C54C86E72B4}"/>
              </a:ext>
            </a:extLst>
          </p:cNvPr>
          <p:cNvSpPr txBox="1"/>
          <p:nvPr/>
        </p:nvSpPr>
        <p:spPr>
          <a:xfrm>
            <a:off x="11201400" y="3073400"/>
            <a:ext cx="4038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09A370"/>
                </a:solidFill>
                <a:latin typeface="Aptos" panose="020B0004020202020204" pitchFamily="34" charset="0"/>
              </a:rPr>
              <a:t>EEC AI Engine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624A74-9CE4-3125-0DD9-1DA5CD155C7A}"/>
              </a:ext>
            </a:extLst>
          </p:cNvPr>
          <p:cNvSpPr txBox="1"/>
          <p:nvPr/>
        </p:nvSpPr>
        <p:spPr>
          <a:xfrm>
            <a:off x="11201400" y="3530600"/>
            <a:ext cx="40386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Uses learning science, neuroscience, and AI to track development in real time.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Provides actionable intelligence for teachers and management.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Improves knowledge retention, proficiency, and academic outcomes.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Helps bridge knowledge gaps and supports long-lasting learning.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CB74F3-CA04-8499-2E09-D4C88791415B}"/>
              </a:ext>
            </a:extLst>
          </p:cNvPr>
          <p:cNvSpPr txBox="1"/>
          <p:nvPr/>
        </p:nvSpPr>
        <p:spPr>
          <a:xfrm>
            <a:off x="914400" y="7569200"/>
            <a:ext cx="9652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See how learning becomes personal while teachers remain central.</a:t>
            </a:r>
          </a:p>
        </p:txBody>
      </p:sp>
      <p:sp>
        <p:nvSpPr>
          <p:cNvPr id="19" name="Rectangle: Rounded Corners 18">
            <a:hlinkClick r:id="rId2"/>
            <a:extLst>
              <a:ext uri="{FF2B5EF4-FFF2-40B4-BE49-F238E27FC236}">
                <a16:creationId xmlns:a16="http://schemas.microsoft.com/office/drawing/2014/main" id="{0004AAAB-A058-2543-6DBE-5768BF5F002A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946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D94CE2-731E-5892-4194-D1E07BB77767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09374A-1BD8-2C29-7931-DAA027CFD12E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768466-7365-76D2-B65B-704182746BDF}"/>
              </a:ext>
            </a:extLst>
          </p:cNvPr>
          <p:cNvSpPr txBox="1"/>
          <p:nvPr/>
        </p:nvSpPr>
        <p:spPr>
          <a:xfrm>
            <a:off x="558800" y="127000"/>
            <a:ext cx="1397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F49A43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0AA66-E655-547A-A06C-6D58B1570931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ELECTRONI EDUCARE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CBF6E-EAD0-4ECE-A6D7-63775BC91617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Connected Ecosystem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003604-AA3D-B195-10D5-E69ECA9F3AF8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One Connected Ecosystem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520816-52C7-3B50-61CA-A1425052B24E}"/>
              </a:ext>
            </a:extLst>
          </p:cNvPr>
          <p:cNvSpPr txBox="1"/>
          <p:nvPr/>
        </p:nvSpPr>
        <p:spPr>
          <a:xfrm>
            <a:off x="787400" y="1993900"/>
            <a:ext cx="1168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A single platform for learning, teaching, communication, documentation, assessment, analytics, and school management.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A04A95-26DD-478C-3879-29BFB5B50B4B}"/>
              </a:ext>
            </a:extLst>
          </p:cNvPr>
          <p:cNvSpPr/>
          <p:nvPr/>
        </p:nvSpPr>
        <p:spPr>
          <a:xfrm>
            <a:off x="6921500" y="3810000"/>
            <a:ext cx="1651000" cy="1651000"/>
          </a:xfrm>
          <a:prstGeom prst="ellipse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EEC
Platform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193D9D4-B346-940B-A5A5-C903B64F8A1E}"/>
              </a:ext>
            </a:extLst>
          </p:cNvPr>
          <p:cNvSpPr/>
          <p:nvPr/>
        </p:nvSpPr>
        <p:spPr>
          <a:xfrm>
            <a:off x="4191000" y="2984500"/>
            <a:ext cx="1333500" cy="1333500"/>
          </a:xfrm>
          <a:prstGeom prst="ellipse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Student
Learning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66E8321-DDC1-1290-7FD4-771BA65FCC00}"/>
              </a:ext>
            </a:extLst>
          </p:cNvPr>
          <p:cNvSpPr/>
          <p:nvPr/>
        </p:nvSpPr>
        <p:spPr>
          <a:xfrm>
            <a:off x="9334500" y="2984500"/>
            <a:ext cx="1333500" cy="1333500"/>
          </a:xfrm>
          <a:prstGeom prst="ellipse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Teacher
Support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7FBD24C-18DD-DC26-BB66-7FAB975876EA}"/>
              </a:ext>
            </a:extLst>
          </p:cNvPr>
          <p:cNvSpPr/>
          <p:nvPr/>
        </p:nvSpPr>
        <p:spPr>
          <a:xfrm>
            <a:off x="4191000" y="5143500"/>
            <a:ext cx="1333500" cy="1333500"/>
          </a:xfrm>
          <a:prstGeom prst="ellipse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Parent
Updates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B2F8D19-7C44-83DF-F425-266D49CCAFB9}"/>
              </a:ext>
            </a:extLst>
          </p:cNvPr>
          <p:cNvSpPr/>
          <p:nvPr/>
        </p:nvSpPr>
        <p:spPr>
          <a:xfrm>
            <a:off x="9334500" y="5143500"/>
            <a:ext cx="1333500" cy="1333500"/>
          </a:xfrm>
          <a:prstGeom prst="ellipse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Admin
Analytics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A6D5DF-110D-731D-C3E3-148CBA30EEFD}"/>
              </a:ext>
            </a:extLst>
          </p:cNvPr>
          <p:cNvSpPr/>
          <p:nvPr/>
        </p:nvSpPr>
        <p:spPr>
          <a:xfrm>
            <a:off x="6794500" y="1905000"/>
            <a:ext cx="1333500" cy="1333500"/>
          </a:xfrm>
          <a:prstGeom prst="ellipse">
            <a:avLst/>
          </a:prstGeom>
          <a:solidFill>
            <a:srgbClr val="AB54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Curriculum
Mapping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DE0136-1BA0-15C3-0492-89D8A24E21F5}"/>
              </a:ext>
            </a:extLst>
          </p:cNvPr>
          <p:cNvSpPr/>
          <p:nvPr/>
        </p:nvSpPr>
        <p:spPr>
          <a:xfrm>
            <a:off x="6794500" y="6604000"/>
            <a:ext cx="1333500" cy="1333500"/>
          </a:xfrm>
          <a:prstGeom prst="ellipse">
            <a:avLst/>
          </a:prstGeom>
          <a:solidFill>
            <a:srgbClr val="0C41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Records &amp;
Reports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FD32027-33F0-A228-3A97-F6863F7889C9}"/>
              </a:ext>
            </a:extLst>
          </p:cNvPr>
          <p:cNvCxnSpPr/>
          <p:nvPr/>
        </p:nvCxnSpPr>
        <p:spPr>
          <a:xfrm>
            <a:off x="5524500" y="3657600"/>
            <a:ext cx="1397000" cy="68580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7F84DE-84F5-6B95-9D08-F07BDDF410B1}"/>
              </a:ext>
            </a:extLst>
          </p:cNvPr>
          <p:cNvCxnSpPr/>
          <p:nvPr/>
        </p:nvCxnSpPr>
        <p:spPr>
          <a:xfrm flipH="1">
            <a:off x="8572500" y="3657600"/>
            <a:ext cx="762000" cy="68580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4CAE46-08CA-94A1-F9D1-A40B6709981F}"/>
              </a:ext>
            </a:extLst>
          </p:cNvPr>
          <p:cNvCxnSpPr/>
          <p:nvPr/>
        </p:nvCxnSpPr>
        <p:spPr>
          <a:xfrm flipV="1">
            <a:off x="5524500" y="4927600"/>
            <a:ext cx="1397000" cy="88900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BDC6955-01DA-0CFB-12FF-D9D0CA7089A7}"/>
              </a:ext>
            </a:extLst>
          </p:cNvPr>
          <p:cNvCxnSpPr/>
          <p:nvPr/>
        </p:nvCxnSpPr>
        <p:spPr>
          <a:xfrm flipH="1" flipV="1">
            <a:off x="8572500" y="4927600"/>
            <a:ext cx="762000" cy="88900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F9F7396-8BC5-CDA8-C8CD-10B68886DD9A}"/>
              </a:ext>
            </a:extLst>
          </p:cNvPr>
          <p:cNvCxnSpPr/>
          <p:nvPr/>
        </p:nvCxnSpPr>
        <p:spPr>
          <a:xfrm>
            <a:off x="7467600" y="3238500"/>
            <a:ext cx="152400" cy="57150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B836E3-72D4-B88E-24FF-BC46DC588BF2}"/>
              </a:ext>
            </a:extLst>
          </p:cNvPr>
          <p:cNvCxnSpPr/>
          <p:nvPr/>
        </p:nvCxnSpPr>
        <p:spPr>
          <a:xfrm flipV="1">
            <a:off x="7620000" y="5461000"/>
            <a:ext cx="0" cy="114300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528B0E3-BF30-0057-CAC9-64BF84D504EE}"/>
              </a:ext>
            </a:extLst>
          </p:cNvPr>
          <p:cNvSpPr/>
          <p:nvPr/>
        </p:nvSpPr>
        <p:spPr>
          <a:xfrm>
            <a:off x="812800" y="3111500"/>
            <a:ext cx="33020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5BBCDA-1A0F-4FFC-F635-C0407A9F3FEE}"/>
              </a:ext>
            </a:extLst>
          </p:cNvPr>
          <p:cNvSpPr txBox="1"/>
          <p:nvPr/>
        </p:nvSpPr>
        <p:spPr>
          <a:xfrm>
            <a:off x="1016000" y="3263900"/>
            <a:ext cx="28956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86880E"/>
                </a:solidFill>
                <a:latin typeface="Aptos" panose="020B0004020202020204" pitchFamily="34" charset="0"/>
              </a:rPr>
              <a:t>What The Ecosystem Includes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614C63-4BE6-61F8-E918-D28FD7648EAE}"/>
              </a:ext>
            </a:extLst>
          </p:cNvPr>
          <p:cNvSpPr txBox="1"/>
          <p:nvPr/>
        </p:nvSpPr>
        <p:spPr>
          <a:xfrm>
            <a:off x="1016000" y="3721100"/>
            <a:ext cx="2895600" cy="22929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Web, Android, and iOS portals for practical access.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Attendance, homework, assessments, communication feedback, journal feeding, and collaborative learning spaces.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Business intelligence over school management systems.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Health records, learning objectives, well-being, and evidence-based observations.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C1966C5-AA7A-757B-57AE-F167F45A9638}"/>
              </a:ext>
            </a:extLst>
          </p:cNvPr>
          <p:cNvSpPr/>
          <p:nvPr/>
        </p:nvSpPr>
        <p:spPr>
          <a:xfrm>
            <a:off x="12039600" y="3111500"/>
            <a:ext cx="33020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2A1062-6C57-5C4A-D52F-6D13A1ECB369}"/>
              </a:ext>
            </a:extLst>
          </p:cNvPr>
          <p:cNvSpPr txBox="1"/>
          <p:nvPr/>
        </p:nvSpPr>
        <p:spPr>
          <a:xfrm>
            <a:off x="12242800" y="3263900"/>
            <a:ext cx="2895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09A370"/>
                </a:solidFill>
                <a:latin typeface="Aptos" panose="020B0004020202020204" pitchFamily="34" charset="0"/>
              </a:rPr>
              <a:t>What It Improves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D1D087-6CEA-7E3F-1069-B8B7D3EAE7F1}"/>
              </a:ext>
            </a:extLst>
          </p:cNvPr>
          <p:cNvSpPr txBox="1"/>
          <p:nvPr/>
        </p:nvSpPr>
        <p:spPr>
          <a:xfrm>
            <a:off x="12242800" y="3721100"/>
            <a:ext cx="2895600" cy="18928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Pinpoints knowledge gaps and difficulty levels with better analytics.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Improves resource allocation and decision-making.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Supports one-on-one learning where needed.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Creates a single source of truth for students, teachers, parents, and management.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075D45-2BB6-A2BB-F424-ECE39EF255F5}"/>
              </a:ext>
            </a:extLst>
          </p:cNvPr>
          <p:cNvSpPr txBox="1"/>
          <p:nvPr/>
        </p:nvSpPr>
        <p:spPr>
          <a:xfrm>
            <a:off x="914400" y="7569200"/>
            <a:ext cx="9652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Connect every role in the school through one live ecosystem.</a:t>
            </a:r>
          </a:p>
        </p:txBody>
      </p:sp>
      <p:sp>
        <p:nvSpPr>
          <p:cNvPr id="29" name="Rectangle: Rounded Corners 28">
            <a:hlinkClick r:id="rId2"/>
            <a:extLst>
              <a:ext uri="{FF2B5EF4-FFF2-40B4-BE49-F238E27FC236}">
                <a16:creationId xmlns:a16="http://schemas.microsoft.com/office/drawing/2014/main" id="{DCC8FB56-E384-1AFA-7593-216E3D27B7F6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923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75A779-CD50-ED6A-A782-280BC5E4760E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142209-8B31-3E10-FE26-CF0AB86F9A10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5E892-67EE-AD5E-06F7-7B52DCCE2486}"/>
              </a:ext>
            </a:extLst>
          </p:cNvPr>
          <p:cNvSpPr txBox="1"/>
          <p:nvPr/>
        </p:nvSpPr>
        <p:spPr>
          <a:xfrm>
            <a:off x="558800" y="127000"/>
            <a:ext cx="1397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F49A43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F23583-C11A-21CA-6D2D-E983F1EC5460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ELECTRONI EDUCARE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856E1-F31B-8058-97A5-6F42832F58F1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Live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47C46-3BF7-A526-1745-25E9F9D1789B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A Live Workflow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BB9848-A331-170D-A3B5-C88DCC8B8A54}"/>
              </a:ext>
            </a:extLst>
          </p:cNvPr>
          <p:cNvSpPr txBox="1"/>
          <p:nvPr/>
        </p:nvSpPr>
        <p:spPr>
          <a:xfrm>
            <a:off x="787400" y="19939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EEC turns classroom activity, teacher observation, and student practice into real-time insight for faster support.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0F8E55-D867-4105-97F1-09200B851204}"/>
              </a:ext>
            </a:extLst>
          </p:cNvPr>
          <p:cNvSpPr/>
          <p:nvPr/>
        </p:nvSpPr>
        <p:spPr>
          <a:xfrm>
            <a:off x="1016000" y="3619500"/>
            <a:ext cx="1168400" cy="1168400"/>
          </a:xfrm>
          <a:prstGeom prst="ellipse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Learn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E0569D-2F32-5711-8D39-BE6CD1038CC1}"/>
              </a:ext>
            </a:extLst>
          </p:cNvPr>
          <p:cNvCxnSpPr/>
          <p:nvPr/>
        </p:nvCxnSpPr>
        <p:spPr>
          <a:xfrm>
            <a:off x="2184400" y="4203700"/>
            <a:ext cx="419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AAB77ED-BD11-FB2F-A8DE-2427B24A10A3}"/>
              </a:ext>
            </a:extLst>
          </p:cNvPr>
          <p:cNvSpPr/>
          <p:nvPr/>
        </p:nvSpPr>
        <p:spPr>
          <a:xfrm>
            <a:off x="3238500" y="3619500"/>
            <a:ext cx="1168400" cy="1168400"/>
          </a:xfrm>
          <a:prstGeom prst="ellipse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Practice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A072C92-C69D-496F-0DFC-7DAD5187CAA6}"/>
              </a:ext>
            </a:extLst>
          </p:cNvPr>
          <p:cNvCxnSpPr/>
          <p:nvPr/>
        </p:nvCxnSpPr>
        <p:spPr>
          <a:xfrm>
            <a:off x="4406900" y="4203700"/>
            <a:ext cx="419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D417969-D9F8-D790-A16F-FDB839698F92}"/>
              </a:ext>
            </a:extLst>
          </p:cNvPr>
          <p:cNvSpPr/>
          <p:nvPr/>
        </p:nvSpPr>
        <p:spPr>
          <a:xfrm>
            <a:off x="5461000" y="3619500"/>
            <a:ext cx="1168400" cy="1168400"/>
          </a:xfrm>
          <a:prstGeom prst="ellipse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Record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1EE8F5-E0C5-5D33-FE82-29823B4F1FB1}"/>
              </a:ext>
            </a:extLst>
          </p:cNvPr>
          <p:cNvCxnSpPr/>
          <p:nvPr/>
        </p:nvCxnSpPr>
        <p:spPr>
          <a:xfrm>
            <a:off x="6629400" y="4203700"/>
            <a:ext cx="419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CAB306B-B26D-2BB5-97A0-E1547C7B5D2A}"/>
              </a:ext>
            </a:extLst>
          </p:cNvPr>
          <p:cNvSpPr/>
          <p:nvPr/>
        </p:nvSpPr>
        <p:spPr>
          <a:xfrm>
            <a:off x="7683500" y="3619500"/>
            <a:ext cx="1168400" cy="1168400"/>
          </a:xfrm>
          <a:prstGeom prst="ellipse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Analyze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A76543-C18A-49B8-EFA2-0D4156D692F6}"/>
              </a:ext>
            </a:extLst>
          </p:cNvPr>
          <p:cNvCxnSpPr/>
          <p:nvPr/>
        </p:nvCxnSpPr>
        <p:spPr>
          <a:xfrm>
            <a:off x="8851900" y="4203700"/>
            <a:ext cx="419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B31F0A0-8022-B08F-D110-D249072037D6}"/>
              </a:ext>
            </a:extLst>
          </p:cNvPr>
          <p:cNvSpPr/>
          <p:nvPr/>
        </p:nvSpPr>
        <p:spPr>
          <a:xfrm>
            <a:off x="9906000" y="3619500"/>
            <a:ext cx="1168400" cy="1168400"/>
          </a:xfrm>
          <a:prstGeom prst="ellipse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Support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0840D8E-21CF-6394-1AAC-10FE2134D172}"/>
              </a:ext>
            </a:extLst>
          </p:cNvPr>
          <p:cNvCxnSpPr/>
          <p:nvPr/>
        </p:nvCxnSpPr>
        <p:spPr>
          <a:xfrm>
            <a:off x="11074400" y="4203700"/>
            <a:ext cx="419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91876AB9-0AEB-693B-FC01-F766BB913A39}"/>
              </a:ext>
            </a:extLst>
          </p:cNvPr>
          <p:cNvSpPr/>
          <p:nvPr/>
        </p:nvSpPr>
        <p:spPr>
          <a:xfrm>
            <a:off x="12128500" y="3619500"/>
            <a:ext cx="1168400" cy="1168400"/>
          </a:xfrm>
          <a:prstGeom prst="ellipse">
            <a:avLst/>
          </a:prstGeom>
          <a:solidFill>
            <a:srgbClr val="0C41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Improve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18FE93A-6370-36FA-F317-CD803A68B9EB}"/>
              </a:ext>
            </a:extLst>
          </p:cNvPr>
          <p:cNvSpPr/>
          <p:nvPr/>
        </p:nvSpPr>
        <p:spPr>
          <a:xfrm>
            <a:off x="1143000" y="5461000"/>
            <a:ext cx="6667500" cy="16510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21101E-E4C4-41A6-F3E1-130AAA436D6E}"/>
              </a:ext>
            </a:extLst>
          </p:cNvPr>
          <p:cNvSpPr txBox="1"/>
          <p:nvPr/>
        </p:nvSpPr>
        <p:spPr>
          <a:xfrm>
            <a:off x="1346200" y="5613400"/>
            <a:ext cx="62611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183B56"/>
                </a:solidFill>
                <a:latin typeface="Aptos" panose="020B0004020202020204" pitchFamily="34" charset="0"/>
              </a:rPr>
              <a:t>How The Workflow Moves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6EDD23-F519-AF5E-4B4F-5FE932D8DC7E}"/>
              </a:ext>
            </a:extLst>
          </p:cNvPr>
          <p:cNvSpPr txBox="1"/>
          <p:nvPr/>
        </p:nvSpPr>
        <p:spPr>
          <a:xfrm>
            <a:off x="1346200" y="6070600"/>
            <a:ext cx="6261100" cy="12926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Students complete lessons, homework, quizzes, tests, and activities.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Teachers add observations, feedback, class performance, and learning behavior.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The AI engine checks knowledge gaps, level of difficulty, enquiry needs, and well-being signals.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Students receive targeted learning paths while teachers and parents get timely updates.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9855CE9-734F-4DEC-4556-8DFD6CE92CAD}"/>
              </a:ext>
            </a:extLst>
          </p:cNvPr>
          <p:cNvSpPr/>
          <p:nvPr/>
        </p:nvSpPr>
        <p:spPr>
          <a:xfrm>
            <a:off x="8445500" y="5461000"/>
            <a:ext cx="6667500" cy="16510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7C69C3-7492-A39C-8F17-B7600C61E653}"/>
              </a:ext>
            </a:extLst>
          </p:cNvPr>
          <p:cNvSpPr txBox="1"/>
          <p:nvPr/>
        </p:nvSpPr>
        <p:spPr>
          <a:xfrm>
            <a:off x="8648700" y="5613400"/>
            <a:ext cx="62611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86880E"/>
                </a:solidFill>
                <a:latin typeface="Aptos" panose="020B0004020202020204" pitchFamily="34" charset="0"/>
              </a:rPr>
              <a:t>Why It Matters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9B076F-E0A8-3F7C-C69A-8AE78BAA43FC}"/>
              </a:ext>
            </a:extLst>
          </p:cNvPr>
          <p:cNvSpPr txBox="1"/>
          <p:nvPr/>
        </p:nvSpPr>
        <p:spPr>
          <a:xfrm>
            <a:off x="8648700" y="6070600"/>
            <a:ext cx="6261100" cy="12926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Faster grading and immediate feedback reduce delay between learning and correction.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Timely evaluations help schools act before small gaps become long-term learning problems.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Each cycle creates stronger data for curriculum progress, student growth, and school planning.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C67A2E-3BA7-6021-2A10-32566A203FAF}"/>
              </a:ext>
            </a:extLst>
          </p:cNvPr>
          <p:cNvSpPr txBox="1"/>
          <p:nvPr/>
        </p:nvSpPr>
        <p:spPr>
          <a:xfrm>
            <a:off x="914400" y="7569200"/>
            <a:ext cx="9652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Watch the workflow from assignment to feedback to improvement.</a:t>
            </a:r>
          </a:p>
        </p:txBody>
      </p:sp>
      <p:sp>
        <p:nvSpPr>
          <p:cNvPr id="27" name="Rectangle: Rounded Corners 26">
            <a:hlinkClick r:id="rId2"/>
            <a:extLst>
              <a:ext uri="{FF2B5EF4-FFF2-40B4-BE49-F238E27FC236}">
                <a16:creationId xmlns:a16="http://schemas.microsoft.com/office/drawing/2014/main" id="{5A2D37F0-3A9E-8DE3-C318-893400575CF0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375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38A711-63A6-CDFE-972E-CFDD549248DE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89E6DA-2A1C-9ABA-4F25-47BC1CE8EE6A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A19416-9EBF-96DB-1435-1E4FDC5B448B}"/>
              </a:ext>
            </a:extLst>
          </p:cNvPr>
          <p:cNvSpPr txBox="1"/>
          <p:nvPr/>
        </p:nvSpPr>
        <p:spPr>
          <a:xfrm>
            <a:off x="558800" y="127000"/>
            <a:ext cx="1397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F49A43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94C073-4C58-303E-7BB6-AC488D46AC6B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ELECTRONI EDUCARE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EABBA-3852-1BBF-EED0-350C9BD29692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Implementation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EE5F7C-5DCA-1DB6-3BB5-0872968EEEC3}"/>
              </a:ext>
            </a:extLst>
          </p:cNvPr>
          <p:cNvSpPr txBox="1"/>
          <p:nvPr/>
        </p:nvSpPr>
        <p:spPr>
          <a:xfrm>
            <a:off x="736600" y="1244600"/>
            <a:ext cx="10414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Safe and Practical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D764DB-384E-626B-FB59-82EED125CEC4}"/>
              </a:ext>
            </a:extLst>
          </p:cNvPr>
          <p:cNvSpPr txBox="1"/>
          <p:nvPr/>
        </p:nvSpPr>
        <p:spPr>
          <a:xfrm>
            <a:off x="787400" y="19939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Built for real schools, real classrooms, existing constraints, and gradual adoption.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D157C6-D77F-BB0C-D52F-EBFB648E1963}"/>
              </a:ext>
            </a:extLst>
          </p:cNvPr>
          <p:cNvSpPr/>
          <p:nvPr/>
        </p:nvSpPr>
        <p:spPr>
          <a:xfrm>
            <a:off x="914400" y="2984500"/>
            <a:ext cx="4318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E30236-79FC-D27B-1E28-A36964FB1D57}"/>
              </a:ext>
            </a:extLst>
          </p:cNvPr>
          <p:cNvSpPr txBox="1"/>
          <p:nvPr/>
        </p:nvSpPr>
        <p:spPr>
          <a:xfrm>
            <a:off x="1117600" y="3136900"/>
            <a:ext cx="3911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183B56"/>
                </a:solidFill>
                <a:latin typeface="Aptos" panose="020B0004020202020204" pitchFamily="34" charset="0"/>
              </a:rPr>
              <a:t>Practical Adoption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620DD3-AA17-2101-8C29-FF7693F1C04F}"/>
              </a:ext>
            </a:extLst>
          </p:cNvPr>
          <p:cNvSpPr txBox="1"/>
          <p:nvPr/>
        </p:nvSpPr>
        <p:spPr>
          <a:xfrm>
            <a:off x="1117600" y="3594100"/>
            <a:ext cx="39116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Compact hybrid solution for proficiency-based learning.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Works with formative, summative, and backward curriculum mapping.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Can support schools where technical infrastructure is still developing.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Reduces administrative pressure instead of creating another disconnected process.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BDAFB6-600F-6A4A-8586-8C0B9755F6CE}"/>
              </a:ext>
            </a:extLst>
          </p:cNvPr>
          <p:cNvSpPr/>
          <p:nvPr/>
        </p:nvSpPr>
        <p:spPr>
          <a:xfrm>
            <a:off x="5969000" y="2984500"/>
            <a:ext cx="4318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02DFDA-A1C4-FAEA-BE08-576429DF04D1}"/>
              </a:ext>
            </a:extLst>
          </p:cNvPr>
          <p:cNvSpPr txBox="1"/>
          <p:nvPr/>
        </p:nvSpPr>
        <p:spPr>
          <a:xfrm>
            <a:off x="6172200" y="3136900"/>
            <a:ext cx="3911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86880E"/>
                </a:solidFill>
                <a:latin typeface="Aptos" panose="020B0004020202020204" pitchFamily="34" charset="0"/>
              </a:rPr>
              <a:t>School Readiness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4787D1-38AA-BF56-AD20-7F0309B629CB}"/>
              </a:ext>
            </a:extLst>
          </p:cNvPr>
          <p:cNvSpPr txBox="1"/>
          <p:nvPr/>
        </p:nvSpPr>
        <p:spPr>
          <a:xfrm>
            <a:off x="6172200" y="3594100"/>
            <a:ext cx="3911600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Uses present data for improvement, planning, and decision-making.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Supports management, teachers, and students through phased onboarding.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Keeps records, assessments, documentation, and communication structured.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Improves resource allocation and makes progress easier to review.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568B5C6-4C13-C4B5-1E7C-10B8BC06590F}"/>
              </a:ext>
            </a:extLst>
          </p:cNvPr>
          <p:cNvSpPr/>
          <p:nvPr/>
        </p:nvSpPr>
        <p:spPr>
          <a:xfrm>
            <a:off x="11023600" y="2984500"/>
            <a:ext cx="4318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D26979-472B-0A7A-0E99-424321D90C9E}"/>
              </a:ext>
            </a:extLst>
          </p:cNvPr>
          <p:cNvSpPr txBox="1"/>
          <p:nvPr/>
        </p:nvSpPr>
        <p:spPr>
          <a:xfrm>
            <a:off x="11226800" y="3136900"/>
            <a:ext cx="3911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09A370"/>
                </a:solidFill>
                <a:latin typeface="Aptos" panose="020B0004020202020204" pitchFamily="34" charset="0"/>
              </a:rPr>
              <a:t>Risk-Aware Rollout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F9AE19-6E49-693C-1464-C3065B58ADAF}"/>
              </a:ext>
            </a:extLst>
          </p:cNvPr>
          <p:cNvSpPr txBox="1"/>
          <p:nvPr/>
        </p:nvSpPr>
        <p:spPr>
          <a:xfrm>
            <a:off x="11226800" y="3594100"/>
            <a:ext cx="3911600" cy="14927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Start with a pilot class or subject.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Validate workflows with teachers before full adoption.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Train users role by role: admin, teacher, parent, and student.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Expand based on measurable usage, feedback, and learning outcomes.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1B5135-2200-BD9A-DA8B-EF8C7C7C48E9}"/>
              </a:ext>
            </a:extLst>
          </p:cNvPr>
          <p:cNvSpPr txBox="1"/>
          <p:nvPr/>
        </p:nvSpPr>
        <p:spPr>
          <a:xfrm>
            <a:off x="914400" y="7569200"/>
            <a:ext cx="9652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Start with a practical pilot and grow with confidence.</a:t>
            </a:r>
          </a:p>
        </p:txBody>
      </p:sp>
      <p:sp>
        <p:nvSpPr>
          <p:cNvPr id="19" name="Rectangle: Rounded Corners 18">
            <a:hlinkClick r:id="rId2"/>
            <a:extLst>
              <a:ext uri="{FF2B5EF4-FFF2-40B4-BE49-F238E27FC236}">
                <a16:creationId xmlns:a16="http://schemas.microsoft.com/office/drawing/2014/main" id="{B3225A3B-21A6-E919-7194-25FF303AE33B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094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09D813-0A9B-30AD-DE4E-D5C1F39FC575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EBA7CE-11D2-2BBB-D497-5ADE2DBEA9A7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D4E541-50F1-7D32-0818-2895E7176335}"/>
              </a:ext>
            </a:extLst>
          </p:cNvPr>
          <p:cNvSpPr txBox="1"/>
          <p:nvPr/>
        </p:nvSpPr>
        <p:spPr>
          <a:xfrm>
            <a:off x="558800" y="127000"/>
            <a:ext cx="1397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F49A43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12B05-E8CA-1734-AB77-CABF17E3F7F3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ELECTRONI EDUCARE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2B82CF-B875-5B39-6530-83D3BAB2B6CB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Mission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DFB0F6-8FDE-AF3B-B726-FB1CD3B2E9FE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The Give Back Mission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D160DB-C5C6-33E0-F9DE-C373C19BF233}"/>
              </a:ext>
            </a:extLst>
          </p:cNvPr>
          <p:cNvSpPr txBox="1"/>
          <p:nvPr/>
        </p:nvSpPr>
        <p:spPr>
          <a:xfrm>
            <a:off x="787400" y="1993900"/>
            <a:ext cx="12192000" cy="6604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The way we make this initiative different is the larger mission behind it: alongside the tech, EEC builds a platform that gives back to the education community.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18FED4-C687-5C97-CD32-B637D943F3FF}"/>
              </a:ext>
            </a:extLst>
          </p:cNvPr>
          <p:cNvSpPr/>
          <p:nvPr/>
        </p:nvSpPr>
        <p:spPr>
          <a:xfrm>
            <a:off x="914400" y="3022600"/>
            <a:ext cx="4318000" cy="29464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501C8-0D5C-D2B3-A4ED-8CDB40690F0D}"/>
              </a:ext>
            </a:extLst>
          </p:cNvPr>
          <p:cNvSpPr txBox="1"/>
          <p:nvPr/>
        </p:nvSpPr>
        <p:spPr>
          <a:xfrm>
            <a:off x="1117600" y="3175000"/>
            <a:ext cx="3911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183B56"/>
                </a:solidFill>
                <a:latin typeface="Aptos" panose="020B0004020202020204" pitchFamily="34" charset="0"/>
              </a:rPr>
              <a:t>For Teachers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EBF570-6A15-A5F8-9E34-7F6DBDF2C673}"/>
              </a:ext>
            </a:extLst>
          </p:cNvPr>
          <p:cNvSpPr txBox="1"/>
          <p:nvPr/>
        </p:nvSpPr>
        <p:spPr>
          <a:xfrm>
            <a:off x="1117600" y="3632200"/>
            <a:ext cx="3911600" cy="12926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Teacher-development initiatives and practical training.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Education discussion forums for sharing classroom ideas and challenges.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Knowledge events, workshops, and progressive assessment practices for rapidly changing times.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6F251AD-CC0E-3155-511F-6C3E8298465B}"/>
              </a:ext>
            </a:extLst>
          </p:cNvPr>
          <p:cNvSpPr/>
          <p:nvPr/>
        </p:nvSpPr>
        <p:spPr>
          <a:xfrm>
            <a:off x="5969000" y="3022600"/>
            <a:ext cx="4318000" cy="29464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25FC2B-953F-2A97-A6D6-B4D3F074F4F3}"/>
              </a:ext>
            </a:extLst>
          </p:cNvPr>
          <p:cNvSpPr txBox="1"/>
          <p:nvPr/>
        </p:nvSpPr>
        <p:spPr>
          <a:xfrm>
            <a:off x="6172200" y="3175000"/>
            <a:ext cx="3911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86880E"/>
                </a:solidFill>
                <a:latin typeface="Aptos" panose="020B0004020202020204" pitchFamily="34" charset="0"/>
              </a:rPr>
              <a:t>For Students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52630F-8093-C078-EA57-6B5C9685B4B1}"/>
              </a:ext>
            </a:extLst>
          </p:cNvPr>
          <p:cNvSpPr txBox="1"/>
          <p:nvPr/>
        </p:nvSpPr>
        <p:spPr>
          <a:xfrm>
            <a:off x="6172200" y="3632200"/>
            <a:ext cx="3911600" cy="12926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Achievement points when students attempt to learn independently.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Badges, milestones, streaks, and progress recognition for practice and reflection.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Motivation that rewards effort, consistency, curiosity, and improvement.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85B769-22CB-B15B-5B09-DA246C2F0A04}"/>
              </a:ext>
            </a:extLst>
          </p:cNvPr>
          <p:cNvSpPr/>
          <p:nvPr/>
        </p:nvSpPr>
        <p:spPr>
          <a:xfrm>
            <a:off x="11023600" y="3022600"/>
            <a:ext cx="4318000" cy="29464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4FF0F0-EF11-05C6-7064-7381FCC45E13}"/>
              </a:ext>
            </a:extLst>
          </p:cNvPr>
          <p:cNvSpPr txBox="1"/>
          <p:nvPr/>
        </p:nvSpPr>
        <p:spPr>
          <a:xfrm>
            <a:off x="11226800" y="3175000"/>
            <a:ext cx="3911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09A370"/>
                </a:solidFill>
                <a:latin typeface="Aptos" panose="020B0004020202020204" pitchFamily="34" charset="0"/>
              </a:rPr>
              <a:t>For The Ecosystem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3A3F47-6FC8-124D-2630-1449B5D46ED1}"/>
              </a:ext>
            </a:extLst>
          </p:cNvPr>
          <p:cNvSpPr txBox="1"/>
          <p:nvPr/>
        </p:nvSpPr>
        <p:spPr>
          <a:xfrm>
            <a:off x="11226800" y="3632200"/>
            <a:ext cx="3911600" cy="12926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Community initiatives that make education support more accessible.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A shared space for schools, educators, parents, and partners to collaborate.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Continuous improvement through forums, events, data-backed insights, and real classroom feedback.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B842922-9FB6-0A73-B58D-90AD1B9F3B15}"/>
              </a:ext>
            </a:extLst>
          </p:cNvPr>
          <p:cNvSpPr/>
          <p:nvPr/>
        </p:nvSpPr>
        <p:spPr>
          <a:xfrm>
            <a:off x="3810000" y="6540500"/>
            <a:ext cx="1333500" cy="482600"/>
          </a:xfrm>
          <a:prstGeom prst="round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Develop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263EB50-C84F-FD51-3DFF-0F0974F884DE}"/>
              </a:ext>
            </a:extLst>
          </p:cNvPr>
          <p:cNvSpPr/>
          <p:nvPr/>
        </p:nvSpPr>
        <p:spPr>
          <a:xfrm>
            <a:off x="5397500" y="6540500"/>
            <a:ext cx="1333500" cy="482600"/>
          </a:xfrm>
          <a:prstGeom prst="roundRect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Discuss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803B7BE-BBC1-FCB7-E28D-90D40FD8B327}"/>
              </a:ext>
            </a:extLst>
          </p:cNvPr>
          <p:cNvSpPr/>
          <p:nvPr/>
        </p:nvSpPr>
        <p:spPr>
          <a:xfrm>
            <a:off x="6985000" y="6540500"/>
            <a:ext cx="1333500" cy="482600"/>
          </a:xfrm>
          <a:prstGeom prst="roundRect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Assess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94B78C9-66DC-497E-8DBE-C432F71ABD08}"/>
              </a:ext>
            </a:extLst>
          </p:cNvPr>
          <p:cNvSpPr/>
          <p:nvPr/>
        </p:nvSpPr>
        <p:spPr>
          <a:xfrm>
            <a:off x="8572500" y="6540500"/>
            <a:ext cx="1333500" cy="482600"/>
          </a:xfrm>
          <a:prstGeom prst="roundRect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Reward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6F94F6F-B861-F3D0-6A88-A6272F254C9E}"/>
              </a:ext>
            </a:extLst>
          </p:cNvPr>
          <p:cNvSpPr/>
          <p:nvPr/>
        </p:nvSpPr>
        <p:spPr>
          <a:xfrm>
            <a:off x="10160000" y="6540500"/>
            <a:ext cx="1333500" cy="482600"/>
          </a:xfrm>
          <a:prstGeom prst="roundRect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Grow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A787C4-2466-902D-1FB5-1C548C866994}"/>
              </a:ext>
            </a:extLst>
          </p:cNvPr>
          <p:cNvSpPr txBox="1"/>
          <p:nvPr/>
        </p:nvSpPr>
        <p:spPr>
          <a:xfrm>
            <a:off x="914400" y="7569200"/>
            <a:ext cx="10033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Partner with EEC to create measurable educational impact.</a:t>
            </a:r>
          </a:p>
        </p:txBody>
      </p:sp>
      <p:sp>
        <p:nvSpPr>
          <p:cNvPr id="24" name="Rectangle: Rounded Corners 23">
            <a:hlinkClick r:id="rId2"/>
            <a:extLst>
              <a:ext uri="{FF2B5EF4-FFF2-40B4-BE49-F238E27FC236}">
                <a16:creationId xmlns:a16="http://schemas.microsoft.com/office/drawing/2014/main" id="{ABE7912A-7985-9C32-3BDB-D88F54BAAEAA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062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C286B5-74F8-BB33-3A2D-BA4C72E49901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107803-C9ED-B06C-0763-601C02DBFD12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A840B8-9979-76A5-BDFB-C1B8EB12385C}"/>
              </a:ext>
            </a:extLst>
          </p:cNvPr>
          <p:cNvSpPr txBox="1"/>
          <p:nvPr/>
        </p:nvSpPr>
        <p:spPr>
          <a:xfrm>
            <a:off x="558800" y="127000"/>
            <a:ext cx="1397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F49A43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C15319-2356-43C0-1602-C2DEED1D2960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ELECTRONI EDUCARE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CA717-C63D-1AE5-4CBD-8059B973D31C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Onboarding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8DBD5-AAED-8875-D74C-F9EB93C0807E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Fast School Onboarding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F24A6B-66BE-AECA-2E65-C8FE615A9B17}"/>
              </a:ext>
            </a:extLst>
          </p:cNvPr>
          <p:cNvSpPr txBox="1"/>
          <p:nvPr/>
        </p:nvSpPr>
        <p:spPr>
          <a:xfrm>
            <a:off x="787400" y="1993900"/>
            <a:ext cx="1143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A supportive onboarding path that helps schools join quickly, organise their ecosystem, and improve learning outcomes without heavy IT pressure.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37282F-EB7D-CBC9-D53F-2F67F90E508E}"/>
              </a:ext>
            </a:extLst>
          </p:cNvPr>
          <p:cNvSpPr/>
          <p:nvPr/>
        </p:nvSpPr>
        <p:spPr>
          <a:xfrm>
            <a:off x="1041400" y="3429000"/>
            <a:ext cx="1270000" cy="1270000"/>
          </a:xfrm>
          <a:prstGeom prst="ellipse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1. Discovery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648F9F-80CA-50EB-D66B-5C07A77EA752}"/>
              </a:ext>
            </a:extLst>
          </p:cNvPr>
          <p:cNvCxnSpPr/>
          <p:nvPr/>
        </p:nvCxnSpPr>
        <p:spPr>
          <a:xfrm>
            <a:off x="2311400" y="4064000"/>
            <a:ext cx="3175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D680C41-02EA-6126-B556-79317BC3147E}"/>
              </a:ext>
            </a:extLst>
          </p:cNvPr>
          <p:cNvSpPr/>
          <p:nvPr/>
        </p:nvSpPr>
        <p:spPr>
          <a:xfrm>
            <a:off x="3327400" y="3429000"/>
            <a:ext cx="1270000" cy="1270000"/>
          </a:xfrm>
          <a:prstGeom prst="ellipse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2. Quick Setup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5467B9-8675-BA69-C360-98F339DD12AB}"/>
              </a:ext>
            </a:extLst>
          </p:cNvPr>
          <p:cNvCxnSpPr/>
          <p:nvPr/>
        </p:nvCxnSpPr>
        <p:spPr>
          <a:xfrm>
            <a:off x="4597400" y="4064000"/>
            <a:ext cx="3175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DBCA85F-2A44-6D0F-3BB6-0FECB9237C07}"/>
              </a:ext>
            </a:extLst>
          </p:cNvPr>
          <p:cNvSpPr/>
          <p:nvPr/>
        </p:nvSpPr>
        <p:spPr>
          <a:xfrm>
            <a:off x="5613400" y="3429000"/>
            <a:ext cx="1270000" cy="1270000"/>
          </a:xfrm>
          <a:prstGeom prst="ellipse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3. Role Training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D025C22-15F1-074E-AA9D-D6E657AD01AF}"/>
              </a:ext>
            </a:extLst>
          </p:cNvPr>
          <p:cNvCxnSpPr/>
          <p:nvPr/>
        </p:nvCxnSpPr>
        <p:spPr>
          <a:xfrm>
            <a:off x="6883400" y="4064000"/>
            <a:ext cx="3175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EDB14A9E-55D5-BE65-2735-703784F80B3B}"/>
              </a:ext>
            </a:extLst>
          </p:cNvPr>
          <p:cNvSpPr/>
          <p:nvPr/>
        </p:nvSpPr>
        <p:spPr>
          <a:xfrm>
            <a:off x="7899400" y="3429000"/>
            <a:ext cx="1270000" cy="1270000"/>
          </a:xfrm>
          <a:prstGeom prst="ellipse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4. Live Walkthrough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6A7716-6EE9-7CEE-8A44-7ECAB141A89D}"/>
              </a:ext>
            </a:extLst>
          </p:cNvPr>
          <p:cNvCxnSpPr/>
          <p:nvPr/>
        </p:nvCxnSpPr>
        <p:spPr>
          <a:xfrm>
            <a:off x="9169400" y="4064000"/>
            <a:ext cx="3175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3CC5D6FA-8829-2A98-4859-928ABB44E2C7}"/>
              </a:ext>
            </a:extLst>
          </p:cNvPr>
          <p:cNvSpPr/>
          <p:nvPr/>
        </p:nvSpPr>
        <p:spPr>
          <a:xfrm>
            <a:off x="10185400" y="3429000"/>
            <a:ext cx="1270000" cy="1270000"/>
          </a:xfrm>
          <a:prstGeom prst="ellipse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5. Feedback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EAA7AE-C565-DD32-0535-79A3305340CF}"/>
              </a:ext>
            </a:extLst>
          </p:cNvPr>
          <p:cNvCxnSpPr/>
          <p:nvPr/>
        </p:nvCxnSpPr>
        <p:spPr>
          <a:xfrm>
            <a:off x="11455400" y="4064000"/>
            <a:ext cx="3175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DCCFE0A7-60F6-7846-86B1-913D7451BA70}"/>
              </a:ext>
            </a:extLst>
          </p:cNvPr>
          <p:cNvSpPr/>
          <p:nvPr/>
        </p:nvSpPr>
        <p:spPr>
          <a:xfrm>
            <a:off x="12471400" y="3429000"/>
            <a:ext cx="1270000" cy="1270000"/>
          </a:xfrm>
          <a:prstGeom prst="ellipse">
            <a:avLst/>
          </a:prstGeom>
          <a:solidFill>
            <a:srgbClr val="0C41C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6. Scale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3E56E0B-6A4E-8640-94FF-E55C86418B01}"/>
              </a:ext>
            </a:extLst>
          </p:cNvPr>
          <p:cNvSpPr/>
          <p:nvPr/>
        </p:nvSpPr>
        <p:spPr>
          <a:xfrm>
            <a:off x="1270000" y="4927599"/>
            <a:ext cx="6350000" cy="2599219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C73B5F-9B00-532F-5796-206751932264}"/>
              </a:ext>
            </a:extLst>
          </p:cNvPr>
          <p:cNvSpPr txBox="1"/>
          <p:nvPr/>
        </p:nvSpPr>
        <p:spPr>
          <a:xfrm>
            <a:off x="1473200" y="5099050"/>
            <a:ext cx="5943600" cy="24468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183B56"/>
                </a:solidFill>
                <a:latin typeface="Aptos" panose="020B0004020202020204" pitchFamily="34" charset="0"/>
              </a:rPr>
              <a:t>A Smooth Start for Schools</a:t>
            </a:r>
          </a:p>
          <a:p>
            <a:r>
              <a:rPr lang="en-US" sz="1700" b="1" dirty="0">
                <a:solidFill>
                  <a:srgbClr val="183B56"/>
                </a:solidFill>
                <a:latin typeface="Aptos" panose="020B0004020202020204" pitchFamily="34" charset="0"/>
              </a:rPr>
              <a:t>• Cloud-based software with no heavy IT infrastructure required.</a:t>
            </a:r>
          </a:p>
          <a:p>
            <a:r>
              <a:rPr lang="en-US" sz="1700" b="1" dirty="0">
                <a:solidFill>
                  <a:srgbClr val="183B56"/>
                </a:solidFill>
                <a:latin typeface="Aptos" panose="020B0004020202020204" pitchFamily="34" charset="0"/>
              </a:rPr>
              <a:t>• Data migration or entry support to </a:t>
            </a:r>
            <a:r>
              <a:rPr lang="en-US" sz="1700" b="1" dirty="0" err="1">
                <a:solidFill>
                  <a:srgbClr val="183B56"/>
                </a:solidFill>
                <a:latin typeface="Aptos" panose="020B0004020202020204" pitchFamily="34" charset="0"/>
              </a:rPr>
              <a:t>organise</a:t>
            </a:r>
            <a:r>
              <a:rPr lang="en-US" sz="1700" b="1" dirty="0">
                <a:solidFill>
                  <a:srgbClr val="183B56"/>
                </a:solidFill>
                <a:latin typeface="Aptos" panose="020B0004020202020204" pitchFamily="34" charset="0"/>
              </a:rPr>
              <a:t> school records quickly.</a:t>
            </a:r>
          </a:p>
          <a:p>
            <a:r>
              <a:rPr lang="en-US" sz="1700" b="1" dirty="0">
                <a:solidFill>
                  <a:srgbClr val="183B56"/>
                </a:solidFill>
                <a:latin typeface="Aptos" panose="020B0004020202020204" pitchFamily="34" charset="0"/>
              </a:rPr>
              <a:t>• Staff and system training so teachers, admins, and parents can use the platform confidently.</a:t>
            </a:r>
          </a:p>
          <a:p>
            <a:r>
              <a:rPr lang="en-US" sz="1700" b="1" dirty="0">
                <a:solidFill>
                  <a:srgbClr val="183B56"/>
                </a:solidFill>
                <a:latin typeface="Aptos" panose="020B0004020202020204" pitchFamily="34" charset="0"/>
              </a:rPr>
              <a:t>• Early </a:t>
            </a:r>
            <a:r>
              <a:rPr lang="en-US" sz="1700" b="1" dirty="0" err="1">
                <a:solidFill>
                  <a:srgbClr val="183B56"/>
                </a:solidFill>
                <a:latin typeface="Aptos" panose="020B0004020202020204" pitchFamily="34" charset="0"/>
              </a:rPr>
              <a:t>optimisation</a:t>
            </a:r>
            <a:r>
              <a:rPr lang="en-US" sz="1700" b="1" dirty="0">
                <a:solidFill>
                  <a:srgbClr val="183B56"/>
                </a:solidFill>
                <a:latin typeface="Aptos" panose="020B0004020202020204" pitchFamily="34" charset="0"/>
              </a:rPr>
              <a:t> to help the school ecosystem move toward better child growth and stronger academic results.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53C63E0-CD0F-02ED-6FE6-D229F697E2D6}"/>
              </a:ext>
            </a:extLst>
          </p:cNvPr>
          <p:cNvSpPr/>
          <p:nvPr/>
        </p:nvSpPr>
        <p:spPr>
          <a:xfrm>
            <a:off x="8439150" y="4978400"/>
            <a:ext cx="6350000" cy="2548415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A7A1AC-8003-F02E-DAD4-3E3F1EC6C53C}"/>
              </a:ext>
            </a:extLst>
          </p:cNvPr>
          <p:cNvSpPr txBox="1"/>
          <p:nvPr/>
        </p:nvSpPr>
        <p:spPr>
          <a:xfrm>
            <a:off x="8750300" y="5160000"/>
            <a:ext cx="5943600" cy="21852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What EEC Provides</a:t>
            </a:r>
          </a:p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• Onboarding support, training, and maintenance services.</a:t>
            </a:r>
          </a:p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• Role-based guidance for management, teachers, students, and parents.</a:t>
            </a:r>
          </a:p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• Practical setup of attendance, homework, assessments, communication, and reports.</a:t>
            </a:r>
          </a:p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• Continuous feedback and improvement so the platform supports real school goals.</a:t>
            </a:r>
          </a:p>
        </p:txBody>
      </p:sp>
      <p:sp>
        <p:nvSpPr>
          <p:cNvPr id="27" name="Rectangle: Rounded Corners 26">
            <a:hlinkClick r:id="rId2"/>
            <a:extLst>
              <a:ext uri="{FF2B5EF4-FFF2-40B4-BE49-F238E27FC236}">
                <a16:creationId xmlns:a16="http://schemas.microsoft.com/office/drawing/2014/main" id="{6DB3181C-4C66-3F1E-06CA-62BAE0637797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676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7CF17C-A522-2F7F-0B33-75903B63F6C8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B2CDE7-ED80-3946-BAA7-817669A7FE50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6C24C-83E5-FF1F-E77D-39D082772325}"/>
              </a:ext>
            </a:extLst>
          </p:cNvPr>
          <p:cNvSpPr txBox="1"/>
          <p:nvPr/>
        </p:nvSpPr>
        <p:spPr>
          <a:xfrm>
            <a:off x="558800" y="127000"/>
            <a:ext cx="1397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 b="1">
                <a:solidFill>
                  <a:srgbClr val="F49A43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7E1ECF-A93D-D19C-1BBA-D788340FC9F7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ELECTRONI EDUCARE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5DC4B1-B161-9070-D677-879CC99111BB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926CDA-1F22-BF59-49E3-BF7B85FA40E2}"/>
              </a:ext>
            </a:extLst>
          </p:cNvPr>
          <p:cNvSpPr txBox="1"/>
          <p:nvPr/>
        </p:nvSpPr>
        <p:spPr>
          <a:xfrm>
            <a:off x="736600" y="1333500"/>
            <a:ext cx="1168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183B56"/>
                </a:solidFill>
                <a:latin typeface="Aptos" panose="020B0004020202020204" pitchFamily="34" charset="0"/>
              </a:rPr>
              <a:t>Building the Future of Education, One Learner at a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D8382A-FB15-9901-F36F-56D08EDEB34D}"/>
              </a:ext>
            </a:extLst>
          </p:cNvPr>
          <p:cNvSpPr txBox="1"/>
          <p:nvPr/>
        </p:nvSpPr>
        <p:spPr>
          <a:xfrm>
            <a:off x="812800" y="2476500"/>
            <a:ext cx="12192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4B4152"/>
                </a:solidFill>
                <a:latin typeface="Aptos" panose="020B0004020202020204" pitchFamily="34" charset="0"/>
              </a:rPr>
              <a:t>EEC - ELECTRONI EDUCARE brings AI, learning science, teacher empowerment, student motivation, and community development into one future-ready education ecosystem.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6D71EB-ABA9-BA9A-53E6-9EE1345A8BB7}"/>
              </a:ext>
            </a:extLst>
          </p:cNvPr>
          <p:cNvSpPr/>
          <p:nvPr/>
        </p:nvSpPr>
        <p:spPr>
          <a:xfrm>
            <a:off x="1219200" y="3746500"/>
            <a:ext cx="6223000" cy="3111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B8F842-5C05-7373-DB31-879409E4C8D7}"/>
              </a:ext>
            </a:extLst>
          </p:cNvPr>
          <p:cNvSpPr txBox="1"/>
          <p:nvPr/>
        </p:nvSpPr>
        <p:spPr>
          <a:xfrm>
            <a:off x="1422400" y="3898900"/>
            <a:ext cx="5816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86880E"/>
                </a:solidFill>
                <a:latin typeface="Aptos" panose="020B0004020202020204" pitchFamily="34" charset="0"/>
              </a:rPr>
              <a:t>Why It Matters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B26A14-C87B-29BA-726C-142F58163982}"/>
              </a:ext>
            </a:extLst>
          </p:cNvPr>
          <p:cNvSpPr txBox="1"/>
          <p:nvPr/>
        </p:nvSpPr>
        <p:spPr>
          <a:xfrm>
            <a:off x="1422400" y="4356100"/>
            <a:ext cx="58166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Identifies knowledge gaps and learning difficulties early.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Personalizes support while keeping teachers central to the process.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Improves communication between school, home, and management.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Encourages self-learning through achievement points and growth milestones.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9F2324-0449-78A8-3DD5-5527E9ECCBBF}"/>
              </a:ext>
            </a:extLst>
          </p:cNvPr>
          <p:cNvSpPr/>
          <p:nvPr/>
        </p:nvSpPr>
        <p:spPr>
          <a:xfrm>
            <a:off x="8445500" y="3746500"/>
            <a:ext cx="6223000" cy="3111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10933C-DEA4-773F-28BB-59D18D3E08CD}"/>
              </a:ext>
            </a:extLst>
          </p:cNvPr>
          <p:cNvSpPr txBox="1"/>
          <p:nvPr/>
        </p:nvSpPr>
        <p:spPr>
          <a:xfrm>
            <a:off x="8648700" y="3898900"/>
            <a:ext cx="58166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183B56"/>
                </a:solidFill>
                <a:latin typeface="Aptos" panose="020B0004020202020204" pitchFamily="34" charset="0"/>
              </a:rPr>
              <a:t>Final Message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8F36E9-960D-2C48-25EE-D666B82E21EA}"/>
              </a:ext>
            </a:extLst>
          </p:cNvPr>
          <p:cNvSpPr txBox="1"/>
          <p:nvPr/>
        </p:nvSpPr>
        <p:spPr>
          <a:xfrm>
            <a:off x="8648700" y="4356100"/>
            <a:ext cx="58166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Education in these new times needs practical technology and a strong human mission.</a:t>
            </a:r>
          </a:p>
          <a:p>
            <a:r>
              <a:rPr lang="en-US" sz="1300">
                <a:solidFill>
                  <a:srgbClr val="42382D"/>
                </a:solidFill>
                <a:latin typeface="Aptos" panose="020B0004020202020204" pitchFamily="34" charset="0"/>
              </a:rPr>
              <a:t>• EEC helps schools become adaptive, inclusive, data-aware, and ready for the newer times to come.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16A9FA-917B-E80C-C8E2-CFF15308C0EA}"/>
              </a:ext>
            </a:extLst>
          </p:cNvPr>
          <p:cNvSpPr txBox="1"/>
          <p:nvPr/>
        </p:nvSpPr>
        <p:spPr>
          <a:xfrm>
            <a:off x="914400" y="7569200"/>
            <a:ext cx="9017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Let us build future-ready schools together.</a:t>
            </a:r>
          </a:p>
        </p:txBody>
      </p:sp>
      <p:sp>
        <p:nvSpPr>
          <p:cNvPr id="16" name="Rectangle: Rounded Corners 15">
            <a:hlinkClick r:id="rId2"/>
            <a:extLst>
              <a:ext uri="{FF2B5EF4-FFF2-40B4-BE49-F238E27FC236}">
                <a16:creationId xmlns:a16="http://schemas.microsoft.com/office/drawing/2014/main" id="{CD72B634-C96C-413F-8EFD-7DA7815A48D6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>
                <a:solidFill>
                  <a:srgbClr val="111111"/>
                </a:solidFill>
                <a:latin typeface="Aptos" panose="020B0004020202020204" pitchFamily="34" charset="0"/>
              </a:rPr>
              <a:t>Demo Link: https://electroniceducare.com</a:t>
            </a:r>
            <a:endParaRPr lang="en-US" sz="1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307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1453</Words>
  <Application>Microsoft Office PowerPoint</Application>
  <PresentationFormat>Custom</PresentationFormat>
  <Paragraphs>172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2026-10-13T12:50:40Z</dcterms:created>
  <dcterms:modified xsi:type="dcterms:W3CDTF">2026-10-13T13:10:42Z</dcterms:modified>
</cp:coreProperties>
</file>