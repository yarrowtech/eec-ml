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50" d="100"/>
          <a:sy n="50" d="100"/>
        </p:scale>
        <p:origin x="834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9209485-2E29-40FC-80D2-3272A40337C3}" type="datetimeFigureOut">
              <a:rPr lang="en-US" smtClean="0"/>
              <a:t>14-Oct-26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6F49CD-7F56-4866-91CC-B2C39E89C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04354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6F49CD-7F56-4866-91CC-B2C39E89C341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33303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F4C97F-4D23-45D7-8288-4030AB5CF5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32000" y="1496484"/>
            <a:ext cx="12192000" cy="3183467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0C1F392-9E65-EA9C-EE0B-3A7B04B72C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32000" y="4802717"/>
            <a:ext cx="12192000" cy="220768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92C25E-39F8-B745-0734-00B963D62E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4E1EB7-2816-4BF9-B52E-A87DB908E9AD}" type="datetimeFigureOut">
              <a:rPr lang="en-US" smtClean="0"/>
              <a:t>14-Oct-26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9E2A5F-08C5-4EC1-6380-A539932CE3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BD3840-7482-677C-154F-5FB6B5A770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2DCAF-CBBC-4871-90C4-63F9C67EC6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1085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05DADD-78C0-0E57-DC8E-B85A314123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367293-EFA1-EA3A-7192-042EFCC4CD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B226A3-778A-9800-E61A-3A2EAB4BAD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4E1EB7-2816-4BF9-B52E-A87DB908E9AD}" type="datetimeFigureOut">
              <a:rPr lang="en-US" smtClean="0"/>
              <a:t>14-Oct-26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E1EC74-138C-5BE9-CCF8-16FA69612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0DFB91-AEBF-88CF-8000-2A6DA4008D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2DCAF-CBBC-4871-90C4-63F9C67EC6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19561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F2D9BD-60E4-6BE1-1EAC-630675994C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9133" y="2279653"/>
            <a:ext cx="14020800" cy="3803649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0D3325-D4FF-2A5F-2FCA-8CC33E9A89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09133" y="6119286"/>
            <a:ext cx="14020800" cy="2000249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96B519-21D3-640A-4F46-99B539E6F6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4E1EB7-2816-4BF9-B52E-A87DB908E9AD}" type="datetimeFigureOut">
              <a:rPr lang="en-US" smtClean="0"/>
              <a:t>14-Oct-26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8C7CF1-C9AF-6833-B1E6-F60D3FAE0F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9C04D0-BF4F-E3A1-CA93-4D80CBD1B1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2DCAF-CBBC-4871-90C4-63F9C67EC6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69845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BC72DD-28A9-885D-9EAD-98C0278C25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F18726-22C1-7F07-911F-E77ECA76DF2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17600" y="2434167"/>
            <a:ext cx="6908800" cy="5801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89B61C-E02F-4A90-A419-2024EB61AF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229600" y="2434167"/>
            <a:ext cx="6908800" cy="5801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9F01AA-6A16-90FD-D45B-70E2AB8CF8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4E1EB7-2816-4BF9-B52E-A87DB908E9AD}" type="datetimeFigureOut">
              <a:rPr lang="en-US" smtClean="0"/>
              <a:t>14-Oct-26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0F2BF1-B08E-6F36-A70C-7616A1B6F8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EA663B-2213-548C-A3C6-B7BCD2DEA4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2DCAF-CBBC-4871-90C4-63F9C67EC6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63177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9265C8-5BAF-C81A-9188-03382312BA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9717" y="486836"/>
            <a:ext cx="14020800" cy="176741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0BC402-5B24-7106-681A-029BEB9AEA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19719" y="2241551"/>
            <a:ext cx="6877049" cy="109854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FAAE1F0-4838-B141-E295-B638F82D2D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19719" y="3340100"/>
            <a:ext cx="6877049" cy="4912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E95D017-4C25-F99C-4E88-D018CACA09B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8229601" y="2241551"/>
            <a:ext cx="6910917" cy="109854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62C98D1-0490-F788-B3E7-04ACA4858DE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8229601" y="3340100"/>
            <a:ext cx="6910917" cy="4912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E39ED35-49A6-6A94-3D28-C5CBFD6CE7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4E1EB7-2816-4BF9-B52E-A87DB908E9AD}" type="datetimeFigureOut">
              <a:rPr lang="en-US" smtClean="0"/>
              <a:t>14-Oct-26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FFDBB19-1D8E-BE2A-F143-99EE2F9408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C39A79F-CDC3-0106-A286-054DCFF4EB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2DCAF-CBBC-4871-90C4-63F9C67EC6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3698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EDE095-0D08-5853-728E-94F5D97D00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CC386C5-F6D8-C182-311C-FCCBE571C3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4E1EB7-2816-4BF9-B52E-A87DB908E9AD}" type="datetimeFigureOut">
              <a:rPr lang="en-US" smtClean="0"/>
              <a:t>14-Oct-26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513500B-4E2B-9C90-D2C0-94BCA122D0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68DC8E-4786-F498-7DFA-60E2C0A9AB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2DCAF-CBBC-4871-90C4-63F9C67EC6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55769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E8AD432-AC32-BB90-C809-2E45906808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4E1EB7-2816-4BF9-B52E-A87DB908E9AD}" type="datetimeFigureOut">
              <a:rPr lang="en-US" smtClean="0"/>
              <a:t>14-Oct-26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0B89E8B-4421-AAD4-A48B-B6E3518356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957AC4-2D8F-05A7-C45F-457CD4F266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2DCAF-CBBC-4871-90C4-63F9C67EC6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92098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A47F5F-CB47-AC80-AE50-9E85312130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9719" y="609600"/>
            <a:ext cx="5242983" cy="21336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1B7853-D516-D47E-5992-98C97D8357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10917" y="1316569"/>
            <a:ext cx="8229600" cy="649816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33CACA8-CF01-B682-BCCE-96746AADB1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19719" y="2743200"/>
            <a:ext cx="5242983" cy="508211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5B1531-2FED-8DED-BFAC-57B63B9DB8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4E1EB7-2816-4BF9-B52E-A87DB908E9AD}" type="datetimeFigureOut">
              <a:rPr lang="en-US" smtClean="0"/>
              <a:t>14-Oct-26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715D83-DD9D-C46C-B94D-30677A3C28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59A628-00F5-C0E0-738A-BED711B9EA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2DCAF-CBBC-4871-90C4-63F9C67EC6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61985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4F792A-1B0D-96EC-18D4-6D39D195DD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9719" y="609600"/>
            <a:ext cx="5242983" cy="21336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4CBA97B-4737-0767-ABDE-A9057CEAD1C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910917" y="1316569"/>
            <a:ext cx="8229600" cy="6498167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89AB543-5992-6792-D43A-0FF215099E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19719" y="2743200"/>
            <a:ext cx="5242983" cy="508211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4F7029-B262-A772-A0C1-4D1850CE41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4E1EB7-2816-4BF9-B52E-A87DB908E9AD}" type="datetimeFigureOut">
              <a:rPr lang="en-US" smtClean="0"/>
              <a:t>14-Oct-26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F7AF96-E6C8-AE01-C422-8D0F19AED6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9220B5-0FE1-987D-0DA4-E0513634CC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2DCAF-CBBC-4871-90C4-63F9C67EC6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4203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5492D-D553-A093-D4CB-70ACDA1889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80555FD-1F18-6C50-D3E6-8A9E05ADC2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F88322-868B-19F5-C3B5-695C4D2513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4E1EB7-2816-4BF9-B52E-A87DB908E9AD}" type="datetimeFigureOut">
              <a:rPr lang="en-US" smtClean="0"/>
              <a:t>14-Oct-26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72F7B4-9E8F-6E1A-663E-2D3E118F6B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07A962-390C-D805-47AF-BABF32A17A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2DCAF-CBBC-4871-90C4-63F9C67EC6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82351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8E7ED80-F6DD-F84B-2378-E58798ACE5F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1633200" y="486834"/>
            <a:ext cx="3505200" cy="774911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BA8F239-7C02-B747-CA2C-CB664B1A12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117600" y="486834"/>
            <a:ext cx="10312400" cy="77491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F456A2-DD44-F4B5-7302-9EE841B6FF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4E1EB7-2816-4BF9-B52E-A87DB908E9AD}" type="datetimeFigureOut">
              <a:rPr lang="en-US" smtClean="0"/>
              <a:t>14-Oct-26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4A56BE-3709-3FE3-90F2-6F3B28B86D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59F374-D7C1-3255-472A-78836F24B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2DCAF-CBBC-4871-90C4-63F9C67EC6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83635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96A2B6C-F99D-B622-7171-5CFE008425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7600" y="486836"/>
            <a:ext cx="14020800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F70B25-4326-729E-CAFC-DD3EFC266A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17600" y="2434167"/>
            <a:ext cx="14020800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241104-5CAD-A956-3CC6-3C5B92D3F5C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17600" y="8475136"/>
            <a:ext cx="36576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C4E1EB7-2816-4BF9-B52E-A87DB908E9AD}" type="datetimeFigureOut">
              <a:rPr lang="en-US" smtClean="0"/>
              <a:t>14-Oct-26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25A8A5-7580-68ED-9A96-489FBEAC726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384800" y="8475136"/>
            <a:ext cx="54864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EFB6E9-7B2F-F1CD-834C-57987E33EF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80800" y="8475136"/>
            <a:ext cx="36576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992DCAF-CBBC-4871-90C4-63F9C67EC6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02190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electroniceducaresales@yarrowtech.co.in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electroniceducare.com/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electroniceducare.com/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electroniceducare.com/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electroniceducare.com/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hyperlink" Target="https://eecdemo.vercel.app/teacher/dashboard" TargetMode="Externa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electroniceducare.com/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electroniceducare.com/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mailto:electroniceducaresales@yarrowtech.co.in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mailto:electroniceducaresales@yarrowtech.co.in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215A7FD-FF03-B70C-BE5B-5B74258A67C7}"/>
              </a:ext>
            </a:extLst>
          </p:cNvPr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F6FAF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0D1DDB0-7048-1FA5-1C2D-0F5818ECA978}"/>
              </a:ext>
            </a:extLst>
          </p:cNvPr>
          <p:cNvSpPr/>
          <p:nvPr/>
        </p:nvSpPr>
        <p:spPr>
          <a:xfrm>
            <a:off x="0" y="0"/>
            <a:ext cx="16256000" cy="889000"/>
          </a:xfrm>
          <a:prstGeom prst="rect">
            <a:avLst/>
          </a:prstGeom>
          <a:solidFill>
            <a:srgbClr val="183B5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87158C3-AF91-DB75-D1E6-E81AD0061CF2}"/>
              </a:ext>
            </a:extLst>
          </p:cNvPr>
          <p:cNvSpPr txBox="1"/>
          <p:nvPr/>
        </p:nvSpPr>
        <p:spPr>
          <a:xfrm>
            <a:off x="1905000" y="254000"/>
            <a:ext cx="3302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400" b="1" dirty="0">
                <a:solidFill>
                  <a:srgbClr val="FFFFFF"/>
                </a:solidFill>
                <a:latin typeface="Aptos" panose="020B0004020202020204" pitchFamily="34" charset="0"/>
              </a:rPr>
              <a:t>ELECTRONIC EDUCARE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D04CE11-E658-9006-8B47-38011D6D6979}"/>
              </a:ext>
            </a:extLst>
          </p:cNvPr>
          <p:cNvSpPr txBox="1"/>
          <p:nvPr/>
        </p:nvSpPr>
        <p:spPr>
          <a:xfrm>
            <a:off x="11811000" y="254000"/>
            <a:ext cx="3810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r"/>
            <a:r>
              <a:rPr lang="en-US" sz="1400">
                <a:solidFill>
                  <a:srgbClr val="F2EAE2"/>
                </a:solidFill>
                <a:latin typeface="Aptos" panose="020B0004020202020204" pitchFamily="34" charset="0"/>
              </a:rPr>
              <a:t>Brand, Message &amp; Value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ED1EBFC-F0A0-E6F1-8440-76DF5F2DD6AC}"/>
              </a:ext>
            </a:extLst>
          </p:cNvPr>
          <p:cNvSpPr txBox="1"/>
          <p:nvPr/>
        </p:nvSpPr>
        <p:spPr>
          <a:xfrm>
            <a:off x="965200" y="1422400"/>
            <a:ext cx="3302000" cy="92333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5400" b="1" dirty="0">
                <a:solidFill>
                  <a:srgbClr val="183B56"/>
                </a:solidFill>
                <a:latin typeface="Aptos" panose="020B0004020202020204" pitchFamily="34" charset="0"/>
              </a:rPr>
              <a:t>EEC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03BFD99-0689-93F8-B99A-F2A863661E9E}"/>
              </a:ext>
            </a:extLst>
          </p:cNvPr>
          <p:cNvSpPr txBox="1"/>
          <p:nvPr/>
        </p:nvSpPr>
        <p:spPr>
          <a:xfrm>
            <a:off x="1041400" y="2139950"/>
            <a:ext cx="5588000" cy="4616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2400" b="1" dirty="0">
                <a:solidFill>
                  <a:srgbClr val="86780D"/>
                </a:solidFill>
                <a:latin typeface="Aptos" panose="020B0004020202020204" pitchFamily="34" charset="0"/>
              </a:rPr>
              <a:t>ELECTRONIC EDUCARE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CB0B130-714A-55B0-E3D8-8D221E8DCAF9}"/>
              </a:ext>
            </a:extLst>
          </p:cNvPr>
          <p:cNvSpPr txBox="1"/>
          <p:nvPr/>
        </p:nvSpPr>
        <p:spPr>
          <a:xfrm>
            <a:off x="1066800" y="2641600"/>
            <a:ext cx="9652000" cy="86177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2500" b="1" dirty="0">
                <a:solidFill>
                  <a:srgbClr val="202020"/>
                </a:solidFill>
                <a:latin typeface="Aptos" panose="020B0004020202020204" pitchFamily="34" charset="0"/>
              </a:rPr>
              <a:t>Brand message: make education more engaging, effective, measurable, and accessible for every learner.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2087B4F5-F036-E4D2-50A6-A6D8698E22F5}"/>
              </a:ext>
            </a:extLst>
          </p:cNvPr>
          <p:cNvSpPr/>
          <p:nvPr/>
        </p:nvSpPr>
        <p:spPr>
          <a:xfrm>
            <a:off x="8102600" y="4489714"/>
            <a:ext cx="5969000" cy="2730500"/>
          </a:xfrm>
          <a:prstGeom prst="roundRect">
            <a:avLst/>
          </a:prstGeom>
          <a:solidFill>
            <a:srgbClr val="FFFFFF"/>
          </a:solidFill>
          <a:ln>
            <a:solidFill>
              <a:srgbClr val="D8DE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70A91ED-E850-C681-4BC7-BF2839E9D3AB}"/>
              </a:ext>
            </a:extLst>
          </p:cNvPr>
          <p:cNvSpPr txBox="1"/>
          <p:nvPr/>
        </p:nvSpPr>
        <p:spPr>
          <a:xfrm>
            <a:off x="8360382" y="4655766"/>
            <a:ext cx="5472349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2000" b="1" dirty="0">
                <a:solidFill>
                  <a:srgbClr val="86880E"/>
                </a:solidFill>
                <a:latin typeface="Aptos" panose="020B0004020202020204" pitchFamily="34" charset="0"/>
              </a:rPr>
              <a:t>Brand Value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C8B8BF7-8693-17EC-AA7A-CDD482AF38D7}"/>
              </a:ext>
            </a:extLst>
          </p:cNvPr>
          <p:cNvSpPr txBox="1"/>
          <p:nvPr/>
        </p:nvSpPr>
        <p:spPr>
          <a:xfrm>
            <a:off x="8360382" y="5054601"/>
            <a:ext cx="5711218" cy="206210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600" dirty="0">
                <a:solidFill>
                  <a:srgbClr val="42382D"/>
                </a:solidFill>
                <a:latin typeface="Aptos" panose="020B0004020202020204" pitchFamily="34" charset="0"/>
              </a:rPr>
              <a:t>• Learner-centered: each student gets a clearer path to </a:t>
            </a:r>
          </a:p>
          <a:p>
            <a:r>
              <a:rPr lang="en-US" sz="1600" dirty="0">
                <a:solidFill>
                  <a:srgbClr val="42382D"/>
                </a:solidFill>
                <a:latin typeface="Aptos" panose="020B0004020202020204" pitchFamily="34" charset="0"/>
              </a:rPr>
              <a:t>   progress.</a:t>
            </a:r>
          </a:p>
          <a:p>
            <a:r>
              <a:rPr lang="en-US" sz="1600" dirty="0">
                <a:solidFill>
                  <a:srgbClr val="42382D"/>
                </a:solidFill>
                <a:latin typeface="Aptos" panose="020B0004020202020204" pitchFamily="34" charset="0"/>
              </a:rPr>
              <a:t>• Teacher-empowered: teachers get faster feedback, analytics, </a:t>
            </a:r>
          </a:p>
          <a:p>
            <a:r>
              <a:rPr lang="en-US" sz="1600" dirty="0">
                <a:solidFill>
                  <a:srgbClr val="42382D"/>
                </a:solidFill>
                <a:latin typeface="Aptos" panose="020B0004020202020204" pitchFamily="34" charset="0"/>
              </a:rPr>
              <a:t>   and support.</a:t>
            </a:r>
          </a:p>
          <a:p>
            <a:r>
              <a:rPr lang="en-US" sz="1600" dirty="0">
                <a:solidFill>
                  <a:srgbClr val="42382D"/>
                </a:solidFill>
                <a:latin typeface="Aptos" panose="020B0004020202020204" pitchFamily="34" charset="0"/>
              </a:rPr>
              <a:t>• School-ready: one connected system for learning, </a:t>
            </a:r>
          </a:p>
          <a:p>
            <a:r>
              <a:rPr lang="en-US" sz="1600" dirty="0">
                <a:solidFill>
                  <a:srgbClr val="42382D"/>
                </a:solidFill>
                <a:latin typeface="Aptos" panose="020B0004020202020204" pitchFamily="34" charset="0"/>
              </a:rPr>
              <a:t>    communication, records, and decisions.</a:t>
            </a:r>
          </a:p>
          <a:p>
            <a:r>
              <a:rPr lang="en-US" sz="1600" dirty="0">
                <a:solidFill>
                  <a:srgbClr val="42382D"/>
                </a:solidFill>
                <a:latin typeface="Aptos" panose="020B0004020202020204" pitchFamily="34" charset="0"/>
              </a:rPr>
              <a:t>• Future-focused: AI, learning science, and practical  </a:t>
            </a:r>
          </a:p>
          <a:p>
            <a:r>
              <a:rPr lang="en-US" sz="1600" dirty="0">
                <a:solidFill>
                  <a:srgbClr val="42382D"/>
                </a:solidFill>
                <a:latin typeface="Aptos" panose="020B0004020202020204" pitchFamily="34" charset="0"/>
              </a:rPr>
              <a:t>    implementation for changing times.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D32B40BC-6DB7-E0A4-DCAA-754A2692BFD7}"/>
              </a:ext>
            </a:extLst>
          </p:cNvPr>
          <p:cNvSpPr/>
          <p:nvPr/>
        </p:nvSpPr>
        <p:spPr>
          <a:xfrm>
            <a:off x="1346200" y="4503366"/>
            <a:ext cx="5969000" cy="2730500"/>
          </a:xfrm>
          <a:prstGeom prst="roundRect">
            <a:avLst/>
          </a:prstGeom>
          <a:solidFill>
            <a:srgbClr val="FFFFFF"/>
          </a:solidFill>
          <a:ln>
            <a:solidFill>
              <a:srgbClr val="D8DE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57C2797-0B32-39CC-5464-5688596C7154}"/>
              </a:ext>
            </a:extLst>
          </p:cNvPr>
          <p:cNvSpPr txBox="1"/>
          <p:nvPr/>
        </p:nvSpPr>
        <p:spPr>
          <a:xfrm>
            <a:off x="1549399" y="4655766"/>
            <a:ext cx="5473969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2000" b="1" dirty="0">
                <a:solidFill>
                  <a:srgbClr val="09A370"/>
                </a:solidFill>
                <a:latin typeface="Aptos" panose="020B0004020202020204" pitchFamily="34" charset="0"/>
              </a:rPr>
              <a:t>Opening Message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63DDE67-34D7-E9BB-197B-245AD2A1AC57}"/>
              </a:ext>
            </a:extLst>
          </p:cNvPr>
          <p:cNvSpPr txBox="1"/>
          <p:nvPr/>
        </p:nvSpPr>
        <p:spPr>
          <a:xfrm>
            <a:off x="1549400" y="5112966"/>
            <a:ext cx="5473970" cy="147732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dirty="0">
                <a:solidFill>
                  <a:srgbClr val="42382D"/>
                </a:solidFill>
                <a:latin typeface="Aptos" panose="020B0004020202020204" pitchFamily="34" charset="0"/>
              </a:rPr>
              <a:t>• EEC is not only a product; it is a smarter education </a:t>
            </a:r>
          </a:p>
          <a:p>
            <a:r>
              <a:rPr lang="en-US" dirty="0">
                <a:solidFill>
                  <a:srgbClr val="42382D"/>
                </a:solidFill>
                <a:latin typeface="Aptos" panose="020B0004020202020204" pitchFamily="34" charset="0"/>
              </a:rPr>
              <a:t>    ecosystem.</a:t>
            </a:r>
          </a:p>
          <a:p>
            <a:r>
              <a:rPr lang="en-US" dirty="0">
                <a:solidFill>
                  <a:srgbClr val="42382D"/>
                </a:solidFill>
                <a:latin typeface="Aptos" panose="020B0004020202020204" pitchFamily="34" charset="0"/>
              </a:rPr>
              <a:t>• It helps schools understand students better, </a:t>
            </a:r>
          </a:p>
          <a:p>
            <a:r>
              <a:rPr lang="en-US" dirty="0">
                <a:solidFill>
                  <a:srgbClr val="42382D"/>
                </a:solidFill>
                <a:latin typeface="Aptos" panose="020B0004020202020204" pitchFamily="34" charset="0"/>
              </a:rPr>
              <a:t>   support teachers faster, and build long-term  </a:t>
            </a:r>
          </a:p>
          <a:p>
            <a:r>
              <a:rPr lang="en-US" dirty="0">
                <a:solidFill>
                  <a:srgbClr val="42382D"/>
                </a:solidFill>
                <a:latin typeface="Aptos" panose="020B0004020202020204" pitchFamily="34" charset="0"/>
              </a:rPr>
              <a:t>   academic growth.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D7FEF7B3-4B18-0922-EC27-540451069C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23" y="32757"/>
            <a:ext cx="1348001" cy="808800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82447C77-4C5B-5AF4-3CA1-0F7A7FA1C364}"/>
              </a:ext>
            </a:extLst>
          </p:cNvPr>
          <p:cNvSpPr/>
          <p:nvPr/>
        </p:nvSpPr>
        <p:spPr>
          <a:xfrm>
            <a:off x="0" y="7394643"/>
            <a:ext cx="16256000" cy="1705914"/>
          </a:xfrm>
          <a:prstGeom prst="rect">
            <a:avLst/>
          </a:prstGeom>
          <a:solidFill>
            <a:srgbClr val="183B5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Contact Us: +91 6293764220</a:t>
            </a:r>
          </a:p>
          <a:p>
            <a:pPr algn="ctr"/>
            <a:r>
              <a:rPr lang="en-US" sz="2800" dirty="0"/>
              <a:t>Email: </a:t>
            </a:r>
            <a:r>
              <a:rPr lang="en-US" sz="2800" dirty="0">
                <a:solidFill>
                  <a:schemeClr val="bg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electroniceducaresales@yarrowtech.co.in</a:t>
            </a:r>
            <a:endParaRPr lang="en-US" sz="2800" dirty="0">
              <a:solidFill>
                <a:schemeClr val="bg1"/>
              </a:solidFill>
            </a:endParaRPr>
          </a:p>
          <a:p>
            <a:pPr algn="ctr"/>
            <a:r>
              <a:rPr lang="en-US" sz="2800" dirty="0"/>
              <a:t>3A, Humayun Place, Citi Mart Building, Kolkata - 700087</a:t>
            </a:r>
          </a:p>
        </p:txBody>
      </p:sp>
    </p:spTree>
    <p:extLst>
      <p:ext uri="{BB962C8B-B14F-4D97-AF65-F5344CB8AC3E}">
        <p14:creationId xmlns:p14="http://schemas.microsoft.com/office/powerpoint/2010/main" val="33967696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E9BD721-5193-F007-A67B-DA2BA4FFF5EB}"/>
              </a:ext>
            </a:extLst>
          </p:cNvPr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F6FAF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C0A5566-991B-2536-2541-B807B5E91689}"/>
              </a:ext>
            </a:extLst>
          </p:cNvPr>
          <p:cNvSpPr/>
          <p:nvPr/>
        </p:nvSpPr>
        <p:spPr>
          <a:xfrm>
            <a:off x="0" y="0"/>
            <a:ext cx="16256000" cy="889000"/>
          </a:xfrm>
          <a:prstGeom prst="rect">
            <a:avLst/>
          </a:prstGeom>
          <a:solidFill>
            <a:srgbClr val="183B5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BA6E195-0DFF-D692-6CB8-A07344E71282}"/>
              </a:ext>
            </a:extLst>
          </p:cNvPr>
          <p:cNvSpPr txBox="1"/>
          <p:nvPr/>
        </p:nvSpPr>
        <p:spPr>
          <a:xfrm>
            <a:off x="11811000" y="254000"/>
            <a:ext cx="3810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r"/>
            <a:r>
              <a:rPr lang="en-US" sz="1400">
                <a:solidFill>
                  <a:srgbClr val="F2EAE2"/>
                </a:solidFill>
                <a:latin typeface="Aptos" panose="020B0004020202020204" pitchFamily="34" charset="0"/>
              </a:rPr>
              <a:t>Education Philosophy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7B2E31C-DCC9-E6D1-37EA-7FDF6D3F7865}"/>
              </a:ext>
            </a:extLst>
          </p:cNvPr>
          <p:cNvSpPr txBox="1"/>
          <p:nvPr/>
        </p:nvSpPr>
        <p:spPr>
          <a:xfrm>
            <a:off x="736600" y="1244600"/>
            <a:ext cx="12065000" cy="56938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3100" b="1">
                <a:solidFill>
                  <a:srgbClr val="183B56"/>
                </a:solidFill>
                <a:latin typeface="Aptos" panose="020B0004020202020204" pitchFamily="34" charset="0"/>
              </a:rPr>
              <a:t>Make Education More Engaging, Effective and Accessible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1013F76-0DC2-AB46-2674-837A35213926}"/>
              </a:ext>
            </a:extLst>
          </p:cNvPr>
          <p:cNvSpPr txBox="1"/>
          <p:nvPr/>
        </p:nvSpPr>
        <p:spPr>
          <a:xfrm>
            <a:off x="787400" y="1968500"/>
            <a:ext cx="11684000" cy="64633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dirty="0">
                <a:solidFill>
                  <a:srgbClr val="4B4152"/>
                </a:solidFill>
                <a:latin typeface="Aptos" panose="020B0004020202020204" pitchFamily="34" charset="0"/>
              </a:rPr>
              <a:t>EEC- ELECTRONIC EDUCARE combines learner-centered design, teacher empowerment, AI support, curriculum mapping, and real-time analytics into one practical education platform.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CE93D520-5127-7C8F-1CDA-60ECC907BC53}"/>
              </a:ext>
            </a:extLst>
          </p:cNvPr>
          <p:cNvSpPr/>
          <p:nvPr/>
        </p:nvSpPr>
        <p:spPr>
          <a:xfrm>
            <a:off x="812800" y="2921000"/>
            <a:ext cx="4445000" cy="3619500"/>
          </a:xfrm>
          <a:prstGeom prst="roundRect">
            <a:avLst/>
          </a:prstGeom>
          <a:solidFill>
            <a:srgbClr val="FFFFFF"/>
          </a:solidFill>
          <a:ln>
            <a:solidFill>
              <a:srgbClr val="D8DE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6140FE1-C83A-78BF-5702-42E7EEB153EA}"/>
              </a:ext>
            </a:extLst>
          </p:cNvPr>
          <p:cNvSpPr txBox="1"/>
          <p:nvPr/>
        </p:nvSpPr>
        <p:spPr>
          <a:xfrm>
            <a:off x="1016000" y="3073400"/>
            <a:ext cx="4038600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2000" b="1" dirty="0">
                <a:solidFill>
                  <a:srgbClr val="86880E"/>
                </a:solidFill>
                <a:latin typeface="Aptos" panose="020B0004020202020204" pitchFamily="34" charset="0"/>
              </a:rPr>
              <a:t>Learner-Centered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FD31326-5930-CF5F-6BAD-F372153466E8}"/>
              </a:ext>
            </a:extLst>
          </p:cNvPr>
          <p:cNvSpPr txBox="1"/>
          <p:nvPr/>
        </p:nvSpPr>
        <p:spPr>
          <a:xfrm>
            <a:off x="1016000" y="3530600"/>
            <a:ext cx="4241800" cy="255454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600" dirty="0">
                <a:solidFill>
                  <a:srgbClr val="42382D"/>
                </a:solidFill>
                <a:latin typeface="Aptos" panose="020B0004020202020204" pitchFamily="34" charset="0"/>
              </a:rPr>
              <a:t>• Builds critical thinking, creativity, problem-</a:t>
            </a:r>
          </a:p>
          <a:p>
            <a:r>
              <a:rPr lang="en-US" sz="1600" dirty="0">
                <a:solidFill>
                  <a:srgbClr val="42382D"/>
                </a:solidFill>
                <a:latin typeface="Aptos" panose="020B0004020202020204" pitchFamily="34" charset="0"/>
              </a:rPr>
              <a:t>   solving, collaboration, and self-identity.</a:t>
            </a:r>
          </a:p>
          <a:p>
            <a:r>
              <a:rPr lang="en-US" sz="1600" dirty="0">
                <a:solidFill>
                  <a:srgbClr val="42382D"/>
                </a:solidFill>
                <a:latin typeface="Aptos" panose="020B0004020202020204" pitchFamily="34" charset="0"/>
              </a:rPr>
              <a:t>• Promotes experiential learning where </a:t>
            </a:r>
          </a:p>
          <a:p>
            <a:r>
              <a:rPr lang="en-US" sz="1600" dirty="0">
                <a:solidFill>
                  <a:srgbClr val="42382D"/>
                </a:solidFill>
                <a:latin typeface="Aptos" panose="020B0004020202020204" pitchFamily="34" charset="0"/>
              </a:rPr>
              <a:t>    students learn by doing, exploring,  </a:t>
            </a:r>
          </a:p>
          <a:p>
            <a:r>
              <a:rPr lang="en-US" sz="1600" dirty="0">
                <a:solidFill>
                  <a:srgbClr val="42382D"/>
                </a:solidFill>
                <a:latin typeface="Aptos" panose="020B0004020202020204" pitchFamily="34" charset="0"/>
              </a:rPr>
              <a:t>    practicing, and reflecting.</a:t>
            </a:r>
          </a:p>
          <a:p>
            <a:r>
              <a:rPr lang="en-US" sz="1600" dirty="0">
                <a:solidFill>
                  <a:srgbClr val="42382D"/>
                </a:solidFill>
                <a:latin typeface="Aptos" panose="020B0004020202020204" pitchFamily="34" charset="0"/>
              </a:rPr>
              <a:t>• Supports adaptive and cognitive learning </a:t>
            </a:r>
          </a:p>
          <a:p>
            <a:r>
              <a:rPr lang="en-US" sz="1600" dirty="0">
                <a:solidFill>
                  <a:srgbClr val="42382D"/>
                </a:solidFill>
                <a:latin typeface="Aptos" panose="020B0004020202020204" pitchFamily="34" charset="0"/>
              </a:rPr>
              <a:t>   through tailor-made content.</a:t>
            </a:r>
          </a:p>
          <a:p>
            <a:r>
              <a:rPr lang="en-US" sz="1600" dirty="0">
                <a:solidFill>
                  <a:srgbClr val="42382D"/>
                </a:solidFill>
                <a:latin typeface="Aptos" panose="020B0004020202020204" pitchFamily="34" charset="0"/>
              </a:rPr>
              <a:t>• Focuses on well-being across physical, </a:t>
            </a:r>
          </a:p>
          <a:p>
            <a:r>
              <a:rPr lang="en-US" sz="1600" dirty="0">
                <a:solidFill>
                  <a:srgbClr val="42382D"/>
                </a:solidFill>
                <a:latin typeface="Aptos" panose="020B0004020202020204" pitchFamily="34" charset="0"/>
              </a:rPr>
              <a:t>   </a:t>
            </a:r>
            <a:r>
              <a:rPr lang="en-US" sz="1600" dirty="0">
                <a:solidFill>
                  <a:srgbClr val="42382D"/>
                </a:solidFill>
                <a:highlight>
                  <a:srgbClr val="FFFF00"/>
                </a:highlight>
                <a:latin typeface="Aptos" panose="020B0004020202020204" pitchFamily="34" charset="0"/>
              </a:rPr>
              <a:t>mental, emotional, social, and psychological </a:t>
            </a:r>
          </a:p>
          <a:p>
            <a:r>
              <a:rPr lang="en-US" sz="1600" dirty="0">
                <a:solidFill>
                  <a:srgbClr val="42382D"/>
                </a:solidFill>
                <a:highlight>
                  <a:srgbClr val="FFFF00"/>
                </a:highlight>
                <a:latin typeface="Aptos" panose="020B0004020202020204" pitchFamily="34" charset="0"/>
              </a:rPr>
              <a:t>   development.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140D59B-C2E0-1C2F-5638-3598B03E453B}"/>
              </a:ext>
            </a:extLst>
          </p:cNvPr>
          <p:cNvSpPr/>
          <p:nvPr/>
        </p:nvSpPr>
        <p:spPr>
          <a:xfrm>
            <a:off x="5905500" y="2921000"/>
            <a:ext cx="4445000" cy="3619500"/>
          </a:xfrm>
          <a:prstGeom prst="roundRect">
            <a:avLst/>
          </a:prstGeom>
          <a:solidFill>
            <a:srgbClr val="FFFFFF"/>
          </a:solidFill>
          <a:ln>
            <a:solidFill>
              <a:srgbClr val="D8DE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1F2AE05-2971-B1D5-5888-AB4CDC2BA38F}"/>
              </a:ext>
            </a:extLst>
          </p:cNvPr>
          <p:cNvSpPr txBox="1"/>
          <p:nvPr/>
        </p:nvSpPr>
        <p:spPr>
          <a:xfrm>
            <a:off x="6108700" y="3073400"/>
            <a:ext cx="4038600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2000" b="1" dirty="0">
                <a:solidFill>
                  <a:srgbClr val="183B56"/>
                </a:solidFill>
                <a:latin typeface="Aptos" panose="020B0004020202020204" pitchFamily="34" charset="0"/>
              </a:rPr>
              <a:t>Teacher-Empowered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8ADDB3F-5A79-38C7-B06A-F5B3DBA3C775}"/>
              </a:ext>
            </a:extLst>
          </p:cNvPr>
          <p:cNvSpPr txBox="1"/>
          <p:nvPr/>
        </p:nvSpPr>
        <p:spPr>
          <a:xfrm>
            <a:off x="6108700" y="3530600"/>
            <a:ext cx="4241800" cy="280076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600" dirty="0">
                <a:solidFill>
                  <a:srgbClr val="42382D"/>
                </a:solidFill>
                <a:latin typeface="Aptos" panose="020B0004020202020204" pitchFamily="34" charset="0"/>
              </a:rPr>
              <a:t>• Reduces the time taken to correct </a:t>
            </a:r>
          </a:p>
          <a:p>
            <a:r>
              <a:rPr lang="en-US" sz="1600" dirty="0">
                <a:solidFill>
                  <a:srgbClr val="42382D"/>
                </a:solidFill>
                <a:latin typeface="Aptos" panose="020B0004020202020204" pitchFamily="34" charset="0"/>
              </a:rPr>
              <a:t>   classwork, homework, tests, and  </a:t>
            </a:r>
          </a:p>
          <a:p>
            <a:r>
              <a:rPr lang="en-US" sz="1600" dirty="0">
                <a:solidFill>
                  <a:srgbClr val="42382D"/>
                </a:solidFill>
                <a:latin typeface="Aptos" panose="020B0004020202020204" pitchFamily="34" charset="0"/>
              </a:rPr>
              <a:t>   evaluations.</a:t>
            </a:r>
          </a:p>
          <a:p>
            <a:r>
              <a:rPr lang="en-US" sz="1600" dirty="0">
                <a:solidFill>
                  <a:srgbClr val="42382D"/>
                </a:solidFill>
                <a:latin typeface="Aptos" panose="020B0004020202020204" pitchFamily="34" charset="0"/>
              </a:rPr>
              <a:t>• Gives immediate feedback on concepts </a:t>
            </a:r>
          </a:p>
          <a:p>
            <a:r>
              <a:rPr lang="en-US" sz="1600" dirty="0">
                <a:solidFill>
                  <a:srgbClr val="42382D"/>
                </a:solidFill>
                <a:latin typeface="Aptos" panose="020B0004020202020204" pitchFamily="34" charset="0"/>
              </a:rPr>
              <a:t>   students may find difficult.</a:t>
            </a:r>
          </a:p>
          <a:p>
            <a:r>
              <a:rPr lang="en-US" sz="1600" dirty="0">
                <a:solidFill>
                  <a:srgbClr val="42382D"/>
                </a:solidFill>
                <a:latin typeface="Aptos" panose="020B0004020202020204" pitchFamily="34" charset="0"/>
              </a:rPr>
              <a:t>• Helps teachers identify knowledge gaps, </a:t>
            </a:r>
          </a:p>
          <a:p>
            <a:r>
              <a:rPr lang="en-US" sz="1600" dirty="0">
                <a:solidFill>
                  <a:srgbClr val="42382D"/>
                </a:solidFill>
                <a:latin typeface="Aptos" panose="020B0004020202020204" pitchFamily="34" charset="0"/>
              </a:rPr>
              <a:t>   difficulty levels, enquiry needs, and learning  </a:t>
            </a:r>
          </a:p>
          <a:p>
            <a:r>
              <a:rPr lang="en-US" sz="1600" dirty="0">
                <a:solidFill>
                  <a:srgbClr val="42382D"/>
                </a:solidFill>
                <a:latin typeface="Aptos" panose="020B0004020202020204" pitchFamily="34" charset="0"/>
              </a:rPr>
              <a:t>   patterns.</a:t>
            </a:r>
          </a:p>
          <a:p>
            <a:r>
              <a:rPr lang="en-US" sz="1600" dirty="0">
                <a:solidFill>
                  <a:srgbClr val="42382D"/>
                </a:solidFill>
                <a:latin typeface="Aptos" panose="020B0004020202020204" pitchFamily="34" charset="0"/>
              </a:rPr>
              <a:t>• Supports lesson planning, syllabus </a:t>
            </a:r>
          </a:p>
          <a:p>
            <a:r>
              <a:rPr lang="en-US" sz="1600" dirty="0">
                <a:solidFill>
                  <a:srgbClr val="42382D"/>
                </a:solidFill>
                <a:latin typeface="Aptos" panose="020B0004020202020204" pitchFamily="34" charset="0"/>
              </a:rPr>
              <a:t>   fulfillment, curriculum mapping, and </a:t>
            </a:r>
          </a:p>
          <a:p>
            <a:r>
              <a:rPr lang="en-US" sz="1600" dirty="0">
                <a:solidFill>
                  <a:srgbClr val="42382D"/>
                </a:solidFill>
                <a:latin typeface="Aptos" panose="020B0004020202020204" pitchFamily="34" charset="0"/>
              </a:rPr>
              <a:t>   classroom decisions.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75B6E9FB-3EB9-8774-D6E0-15FF2A3416E8}"/>
              </a:ext>
            </a:extLst>
          </p:cNvPr>
          <p:cNvSpPr/>
          <p:nvPr/>
        </p:nvSpPr>
        <p:spPr>
          <a:xfrm>
            <a:off x="10998200" y="2921000"/>
            <a:ext cx="4445000" cy="3619500"/>
          </a:xfrm>
          <a:prstGeom prst="roundRect">
            <a:avLst/>
          </a:prstGeom>
          <a:solidFill>
            <a:srgbClr val="FFFFFF"/>
          </a:solidFill>
          <a:ln>
            <a:solidFill>
              <a:srgbClr val="D8DE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D184AF9-9FD7-EBB8-A2CE-7C54C86E72B4}"/>
              </a:ext>
            </a:extLst>
          </p:cNvPr>
          <p:cNvSpPr txBox="1"/>
          <p:nvPr/>
        </p:nvSpPr>
        <p:spPr>
          <a:xfrm>
            <a:off x="11201400" y="3073400"/>
            <a:ext cx="4038600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2000" b="1" dirty="0">
                <a:solidFill>
                  <a:srgbClr val="09A370"/>
                </a:solidFill>
                <a:latin typeface="Aptos" panose="020B0004020202020204" pitchFamily="34" charset="0"/>
              </a:rPr>
              <a:t>EEC AI Engine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C624A74-9CE4-3125-0DD9-1DA5CD155C7A}"/>
              </a:ext>
            </a:extLst>
          </p:cNvPr>
          <p:cNvSpPr txBox="1"/>
          <p:nvPr/>
        </p:nvSpPr>
        <p:spPr>
          <a:xfrm>
            <a:off x="11201400" y="3530600"/>
            <a:ext cx="4241800" cy="206210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600" dirty="0">
                <a:solidFill>
                  <a:srgbClr val="42382D"/>
                </a:solidFill>
                <a:latin typeface="Aptos" panose="020B0004020202020204" pitchFamily="34" charset="0"/>
              </a:rPr>
              <a:t>• </a:t>
            </a:r>
            <a:r>
              <a:rPr lang="en-US" sz="1600" dirty="0">
                <a:solidFill>
                  <a:srgbClr val="42382D"/>
                </a:solidFill>
                <a:highlight>
                  <a:srgbClr val="FFFF00"/>
                </a:highlight>
                <a:latin typeface="Aptos" panose="020B0004020202020204" pitchFamily="34" charset="0"/>
              </a:rPr>
              <a:t>Uses learning science, neuroscience, and AI </a:t>
            </a:r>
          </a:p>
          <a:p>
            <a:r>
              <a:rPr lang="en-US" sz="1600" dirty="0">
                <a:solidFill>
                  <a:srgbClr val="42382D"/>
                </a:solidFill>
                <a:highlight>
                  <a:srgbClr val="FFFF00"/>
                </a:highlight>
                <a:latin typeface="Aptos" panose="020B0004020202020204" pitchFamily="34" charset="0"/>
              </a:rPr>
              <a:t>   to track development in real time</a:t>
            </a:r>
            <a:r>
              <a:rPr lang="en-US" sz="1600" dirty="0">
                <a:solidFill>
                  <a:srgbClr val="42382D"/>
                </a:solidFill>
                <a:latin typeface="Aptos" panose="020B0004020202020204" pitchFamily="34" charset="0"/>
              </a:rPr>
              <a:t>.</a:t>
            </a:r>
          </a:p>
          <a:p>
            <a:r>
              <a:rPr lang="en-US" sz="1600" dirty="0">
                <a:solidFill>
                  <a:srgbClr val="42382D"/>
                </a:solidFill>
                <a:latin typeface="Aptos" panose="020B0004020202020204" pitchFamily="34" charset="0"/>
              </a:rPr>
              <a:t>• Provides actionable intelligence for teachers </a:t>
            </a:r>
          </a:p>
          <a:p>
            <a:r>
              <a:rPr lang="en-US" sz="1600" dirty="0">
                <a:solidFill>
                  <a:srgbClr val="42382D"/>
                </a:solidFill>
                <a:latin typeface="Aptos" panose="020B0004020202020204" pitchFamily="34" charset="0"/>
              </a:rPr>
              <a:t>   and management.</a:t>
            </a:r>
          </a:p>
          <a:p>
            <a:r>
              <a:rPr lang="en-US" sz="1600" dirty="0">
                <a:solidFill>
                  <a:srgbClr val="42382D"/>
                </a:solidFill>
                <a:latin typeface="Aptos" panose="020B0004020202020204" pitchFamily="34" charset="0"/>
              </a:rPr>
              <a:t>• Improves knowledge retention, proficiency, </a:t>
            </a:r>
          </a:p>
          <a:p>
            <a:r>
              <a:rPr lang="en-US" sz="1600" dirty="0">
                <a:solidFill>
                  <a:srgbClr val="42382D"/>
                </a:solidFill>
                <a:latin typeface="Aptos" panose="020B0004020202020204" pitchFamily="34" charset="0"/>
              </a:rPr>
              <a:t>   and academic outcomes.</a:t>
            </a:r>
          </a:p>
          <a:p>
            <a:r>
              <a:rPr lang="en-US" sz="1600" dirty="0">
                <a:solidFill>
                  <a:srgbClr val="42382D"/>
                </a:solidFill>
                <a:latin typeface="Aptos" panose="020B0004020202020204" pitchFamily="34" charset="0"/>
              </a:rPr>
              <a:t>• Helps bridge knowledge gaps and supports </a:t>
            </a:r>
          </a:p>
          <a:p>
            <a:r>
              <a:rPr lang="en-US" sz="1600" dirty="0">
                <a:solidFill>
                  <a:srgbClr val="42382D"/>
                </a:solidFill>
                <a:latin typeface="Aptos" panose="020B0004020202020204" pitchFamily="34" charset="0"/>
              </a:rPr>
              <a:t>    long-lasting learning.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ECB74F3-CA04-8499-2E09-D4C88791415B}"/>
              </a:ext>
            </a:extLst>
          </p:cNvPr>
          <p:cNvSpPr txBox="1"/>
          <p:nvPr/>
        </p:nvSpPr>
        <p:spPr>
          <a:xfrm>
            <a:off x="914400" y="7569200"/>
            <a:ext cx="9652000" cy="3847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900" b="1">
                <a:solidFill>
                  <a:srgbClr val="86880E"/>
                </a:solidFill>
                <a:latin typeface="Aptos" panose="020B0004020202020204" pitchFamily="34" charset="0"/>
              </a:rPr>
              <a:t>Call to action: See how learning becomes personal while teachers remain central.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7EE6457-A656-F16D-2400-10D4D4D1D7AB}"/>
              </a:ext>
            </a:extLst>
          </p:cNvPr>
          <p:cNvSpPr txBox="1"/>
          <p:nvPr/>
        </p:nvSpPr>
        <p:spPr>
          <a:xfrm>
            <a:off x="1905000" y="254000"/>
            <a:ext cx="3302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400" b="1" dirty="0">
                <a:solidFill>
                  <a:srgbClr val="FFFFFF"/>
                </a:solidFill>
                <a:latin typeface="Aptos" panose="020B0004020202020204" pitchFamily="34" charset="0"/>
              </a:rPr>
              <a:t>ELECTRONIC EDUCARE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6455DDAB-427C-8D25-85AF-7BF3C6FE9C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23" y="32757"/>
            <a:ext cx="1348001" cy="808800"/>
          </a:xfrm>
          <a:prstGeom prst="rect">
            <a:avLst/>
          </a:prstGeom>
        </p:spPr>
      </p:pic>
      <p:sp>
        <p:nvSpPr>
          <p:cNvPr id="23" name="Rectangle: Rounded Corners 22">
            <a:hlinkClick r:id="rId3"/>
            <a:extLst>
              <a:ext uri="{FF2B5EF4-FFF2-40B4-BE49-F238E27FC236}">
                <a16:creationId xmlns:a16="http://schemas.microsoft.com/office/drawing/2014/main" id="{3F2756FC-02DE-33CA-991C-F5AAFA81AD34}"/>
              </a:ext>
            </a:extLst>
          </p:cNvPr>
          <p:cNvSpPr/>
          <p:nvPr/>
        </p:nvSpPr>
        <p:spPr>
          <a:xfrm>
            <a:off x="10896600" y="8064500"/>
            <a:ext cx="4635500" cy="609600"/>
          </a:xfrm>
          <a:prstGeom prst="roundRect">
            <a:avLst/>
          </a:prstGeom>
          <a:solidFill>
            <a:srgbClr val="F49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500" b="1" dirty="0">
                <a:solidFill>
                  <a:srgbClr val="111111"/>
                </a:solidFill>
                <a:latin typeface="Aptos" panose="020B0004020202020204" pitchFamily="34" charset="0"/>
              </a:rPr>
              <a:t>Demo Link: </a:t>
            </a:r>
            <a:r>
              <a:rPr lang="en-US" sz="1600" dirty="0">
                <a:solidFill>
                  <a:schemeClr val="tx1"/>
                </a:solidFill>
              </a:rPr>
              <a:t>https://eecdemo.vercel.app</a:t>
            </a:r>
            <a:endParaRPr lang="en-US" sz="1500" b="1" dirty="0">
              <a:solidFill>
                <a:schemeClr val="tx1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19461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2D94CE2-731E-5892-4194-D1E07BB77767}"/>
              </a:ext>
            </a:extLst>
          </p:cNvPr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F6FAF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109374A-1BD8-2C29-7931-DAA027CFD12E}"/>
              </a:ext>
            </a:extLst>
          </p:cNvPr>
          <p:cNvSpPr/>
          <p:nvPr/>
        </p:nvSpPr>
        <p:spPr>
          <a:xfrm>
            <a:off x="0" y="0"/>
            <a:ext cx="16256000" cy="889000"/>
          </a:xfrm>
          <a:prstGeom prst="rect">
            <a:avLst/>
          </a:prstGeom>
          <a:solidFill>
            <a:srgbClr val="183B5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8CCBF6E-EAD0-4ECE-A6D7-63775BC91617}"/>
              </a:ext>
            </a:extLst>
          </p:cNvPr>
          <p:cNvSpPr txBox="1"/>
          <p:nvPr/>
        </p:nvSpPr>
        <p:spPr>
          <a:xfrm>
            <a:off x="11811000" y="254000"/>
            <a:ext cx="3810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r"/>
            <a:r>
              <a:rPr lang="en-US" sz="1400" dirty="0">
                <a:solidFill>
                  <a:srgbClr val="F2EAE2"/>
                </a:solidFill>
                <a:latin typeface="Aptos" panose="020B0004020202020204" pitchFamily="34" charset="0"/>
              </a:rPr>
              <a:t>One Connected Ecosystem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C003604-AA3D-B195-10D5-E69ECA9F3AF8}"/>
              </a:ext>
            </a:extLst>
          </p:cNvPr>
          <p:cNvSpPr txBox="1"/>
          <p:nvPr/>
        </p:nvSpPr>
        <p:spPr>
          <a:xfrm>
            <a:off x="736600" y="1244600"/>
            <a:ext cx="9652000" cy="61555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3400" b="1">
                <a:solidFill>
                  <a:srgbClr val="183B56"/>
                </a:solidFill>
                <a:latin typeface="Aptos" panose="020B0004020202020204" pitchFamily="34" charset="0"/>
              </a:rPr>
              <a:t>One Connected Ecosystem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B520816-52C7-3B50-61CA-A1425052B24E}"/>
              </a:ext>
            </a:extLst>
          </p:cNvPr>
          <p:cNvSpPr txBox="1"/>
          <p:nvPr/>
        </p:nvSpPr>
        <p:spPr>
          <a:xfrm>
            <a:off x="787400" y="1993900"/>
            <a:ext cx="11684000" cy="64633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>
                <a:solidFill>
                  <a:srgbClr val="4B4152"/>
                </a:solidFill>
                <a:latin typeface="Aptos" panose="020B0004020202020204" pitchFamily="34" charset="0"/>
              </a:rPr>
              <a:t>A single platform for learning, teaching, communication, documentation, assessment, analytics, and school management.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0BA04A95-26DD-478C-3879-29BFB5B50B4B}"/>
              </a:ext>
            </a:extLst>
          </p:cNvPr>
          <p:cNvSpPr/>
          <p:nvPr/>
        </p:nvSpPr>
        <p:spPr>
          <a:xfrm>
            <a:off x="7200900" y="4478041"/>
            <a:ext cx="1651000" cy="1651000"/>
          </a:xfrm>
          <a:prstGeom prst="ellipse">
            <a:avLst/>
          </a:prstGeom>
          <a:solidFill>
            <a:srgbClr val="183B56"/>
          </a:solidFill>
          <a:ln w="19050" cap="flat" cmpd="sng" algn="ctr">
            <a:noFill/>
            <a:prstDash val="solid"/>
            <a:miter lim="800000"/>
          </a:ln>
          <a:effectLst>
            <a:innerShdw blurRad="114300">
              <a:prstClr val="black"/>
            </a:innerShdw>
          </a:effectLst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b="1">
                <a:solidFill>
                  <a:srgbClr val="FFFFFF"/>
                </a:solidFill>
                <a:latin typeface="Aptos" panose="020B0004020202020204" pitchFamily="34" charset="0"/>
              </a:rPr>
              <a:t>EEC
Platform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2193D9D4-B346-940B-A5A5-C903B64F8A1E}"/>
              </a:ext>
            </a:extLst>
          </p:cNvPr>
          <p:cNvSpPr/>
          <p:nvPr/>
        </p:nvSpPr>
        <p:spPr>
          <a:xfrm>
            <a:off x="4991100" y="3054350"/>
            <a:ext cx="1333500" cy="1333500"/>
          </a:xfrm>
          <a:prstGeom prst="ellipse">
            <a:avLst/>
          </a:prstGeom>
          <a:solidFill>
            <a:srgbClr val="86880E"/>
          </a:solidFill>
          <a:ln w="19050" cap="flat" cmpd="sng" algn="ctr">
            <a:noFill/>
            <a:prstDash val="solid"/>
            <a:miter lim="800000"/>
          </a:ln>
          <a:effectLst>
            <a:innerShdw blurRad="114300">
              <a:prstClr val="black"/>
            </a:innerShdw>
          </a:effectLst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b="1" dirty="0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666E8321-DDC1-1290-7FD4-771BA65FCC00}"/>
              </a:ext>
            </a:extLst>
          </p:cNvPr>
          <p:cNvSpPr/>
          <p:nvPr/>
        </p:nvSpPr>
        <p:spPr>
          <a:xfrm>
            <a:off x="9880600" y="3030463"/>
            <a:ext cx="1333500" cy="1333500"/>
          </a:xfrm>
          <a:prstGeom prst="ellipse">
            <a:avLst/>
          </a:prstGeom>
          <a:solidFill>
            <a:srgbClr val="09A370"/>
          </a:solidFill>
          <a:ln w="19050" cap="flat" cmpd="sng" algn="ctr">
            <a:noFill/>
            <a:prstDash val="solid"/>
            <a:miter lim="800000"/>
          </a:ln>
          <a:effectLst>
            <a:innerShdw blurRad="114300">
              <a:prstClr val="black"/>
            </a:innerShdw>
          </a:effectLst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b="1" dirty="0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C7FBD24C-18DD-DC26-BB66-7FAB975876EA}"/>
              </a:ext>
            </a:extLst>
          </p:cNvPr>
          <p:cNvSpPr/>
          <p:nvPr/>
        </p:nvSpPr>
        <p:spPr>
          <a:xfrm>
            <a:off x="4975563" y="5664588"/>
            <a:ext cx="1333500" cy="1333500"/>
          </a:xfrm>
          <a:prstGeom prst="ellipse">
            <a:avLst/>
          </a:prstGeom>
          <a:solidFill>
            <a:srgbClr val="ED1A7C"/>
          </a:solidFill>
          <a:ln w="19050" cap="flat" cmpd="sng" algn="ctr">
            <a:noFill/>
            <a:prstDash val="solid"/>
            <a:miter lim="800000"/>
          </a:ln>
          <a:effectLst>
            <a:innerShdw blurRad="114300">
              <a:prstClr val="black"/>
            </a:innerShdw>
          </a:effectLst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b="1" dirty="0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0B2F8D19-7C44-83DF-F425-266D49CCAFB9}"/>
              </a:ext>
            </a:extLst>
          </p:cNvPr>
          <p:cNvSpPr/>
          <p:nvPr/>
        </p:nvSpPr>
        <p:spPr>
          <a:xfrm>
            <a:off x="9880600" y="5696535"/>
            <a:ext cx="1333500" cy="1333500"/>
          </a:xfrm>
          <a:prstGeom prst="ellipse">
            <a:avLst/>
          </a:prstGeom>
          <a:solidFill>
            <a:srgbClr val="62952F"/>
          </a:solidFill>
          <a:ln w="19050" cap="flat" cmpd="sng" algn="ctr">
            <a:noFill/>
            <a:prstDash val="solid"/>
            <a:miter lim="800000"/>
          </a:ln>
          <a:effectLst>
            <a:innerShdw blurRad="114300">
              <a:prstClr val="black"/>
            </a:innerShdw>
          </a:effectLst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b="1" dirty="0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3A6D5DF-110D-731D-C3E3-148CBA30EEFD}"/>
              </a:ext>
            </a:extLst>
          </p:cNvPr>
          <p:cNvSpPr/>
          <p:nvPr/>
        </p:nvSpPr>
        <p:spPr>
          <a:xfrm>
            <a:off x="7340600" y="2458035"/>
            <a:ext cx="1333500" cy="1333500"/>
          </a:xfrm>
          <a:prstGeom prst="ellipse">
            <a:avLst/>
          </a:prstGeom>
          <a:solidFill>
            <a:srgbClr val="AB5464"/>
          </a:solidFill>
          <a:ln w="19050" cap="flat" cmpd="sng" algn="ctr">
            <a:noFill/>
            <a:prstDash val="solid"/>
            <a:miter lim="800000"/>
          </a:ln>
          <a:effectLst>
            <a:innerShdw blurRad="114300">
              <a:prstClr val="black"/>
            </a:innerShdw>
          </a:effectLst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b="1" dirty="0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41DE0136-1BA0-15C3-0492-89D8A24E21F5}"/>
              </a:ext>
            </a:extLst>
          </p:cNvPr>
          <p:cNvSpPr/>
          <p:nvPr/>
        </p:nvSpPr>
        <p:spPr>
          <a:xfrm>
            <a:off x="7350125" y="7145264"/>
            <a:ext cx="1333500" cy="1333500"/>
          </a:xfrm>
          <a:prstGeom prst="ellipse">
            <a:avLst/>
          </a:prstGeom>
          <a:solidFill>
            <a:srgbClr val="0C41C2"/>
          </a:solidFill>
          <a:ln w="19050" cap="flat" cmpd="sng" algn="ctr">
            <a:noFill/>
            <a:prstDash val="solid"/>
            <a:miter lim="800000"/>
          </a:ln>
          <a:effectLst>
            <a:innerShdw blurRad="114300">
              <a:prstClr val="black"/>
            </a:innerShdw>
          </a:effectLst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b="1" dirty="0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6FD32027-33F0-A228-3A97-F6863F7889C9}"/>
              </a:ext>
            </a:extLst>
          </p:cNvPr>
          <p:cNvCxnSpPr>
            <a:cxnSpLocks/>
            <a:stCxn id="10" idx="5"/>
          </p:cNvCxnSpPr>
          <p:nvPr/>
        </p:nvCxnSpPr>
        <p:spPr>
          <a:xfrm>
            <a:off x="6129313" y="4192563"/>
            <a:ext cx="1188228" cy="675004"/>
          </a:xfrm>
          <a:prstGeom prst="line">
            <a:avLst/>
          </a:prstGeom>
          <a:ln w="25400">
            <a:solidFill>
              <a:srgbClr val="7C909C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467F84DE-84F5-6B95-9D08-F07BDDF410B1}"/>
              </a:ext>
            </a:extLst>
          </p:cNvPr>
          <p:cNvCxnSpPr>
            <a:cxnSpLocks/>
          </p:cNvCxnSpPr>
          <p:nvPr/>
        </p:nvCxnSpPr>
        <p:spPr>
          <a:xfrm flipH="1">
            <a:off x="8693150" y="3879453"/>
            <a:ext cx="1289050" cy="900585"/>
          </a:xfrm>
          <a:prstGeom prst="line">
            <a:avLst/>
          </a:prstGeom>
          <a:ln w="25400">
            <a:solidFill>
              <a:srgbClr val="7C909C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34CAE46-08CA-94A1-F9D1-A40B6709981F}"/>
              </a:ext>
            </a:extLst>
          </p:cNvPr>
          <p:cNvCxnSpPr>
            <a:cxnSpLocks/>
          </p:cNvCxnSpPr>
          <p:nvPr/>
        </p:nvCxnSpPr>
        <p:spPr>
          <a:xfrm flipV="1">
            <a:off x="6182311" y="5718483"/>
            <a:ext cx="1135230" cy="350136"/>
          </a:xfrm>
          <a:prstGeom prst="line">
            <a:avLst/>
          </a:prstGeom>
          <a:ln w="25400">
            <a:solidFill>
              <a:srgbClr val="7C909C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6BDC6955-01DA-0CFB-12FF-D9D0CA7089A7}"/>
              </a:ext>
            </a:extLst>
          </p:cNvPr>
          <p:cNvCxnSpPr>
            <a:cxnSpLocks/>
          </p:cNvCxnSpPr>
          <p:nvPr/>
        </p:nvCxnSpPr>
        <p:spPr>
          <a:xfrm flipH="1" flipV="1">
            <a:off x="8797925" y="5664588"/>
            <a:ext cx="1125562" cy="490643"/>
          </a:xfrm>
          <a:prstGeom prst="line">
            <a:avLst/>
          </a:prstGeom>
          <a:ln w="25400">
            <a:solidFill>
              <a:srgbClr val="7C909C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AF9F7396-8BC5-CDA8-C8CD-10B68886DD9A}"/>
              </a:ext>
            </a:extLst>
          </p:cNvPr>
          <p:cNvCxnSpPr>
            <a:cxnSpLocks/>
            <a:stCxn id="14" idx="4"/>
            <a:endCxn id="9" idx="0"/>
          </p:cNvCxnSpPr>
          <p:nvPr/>
        </p:nvCxnSpPr>
        <p:spPr>
          <a:xfrm>
            <a:off x="8007350" y="3791535"/>
            <a:ext cx="19050" cy="686506"/>
          </a:xfrm>
          <a:prstGeom prst="line">
            <a:avLst/>
          </a:prstGeom>
          <a:ln w="25400">
            <a:solidFill>
              <a:srgbClr val="7C909C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6DB836E3-72D4-B88E-24FF-BC46DC588BF2}"/>
              </a:ext>
            </a:extLst>
          </p:cNvPr>
          <p:cNvCxnSpPr>
            <a:cxnSpLocks/>
            <a:stCxn id="15" idx="0"/>
            <a:endCxn id="9" idx="4"/>
          </p:cNvCxnSpPr>
          <p:nvPr/>
        </p:nvCxnSpPr>
        <p:spPr>
          <a:xfrm flipV="1">
            <a:off x="8016875" y="6129041"/>
            <a:ext cx="9525" cy="1016223"/>
          </a:xfrm>
          <a:prstGeom prst="line">
            <a:avLst/>
          </a:prstGeom>
          <a:ln w="25400">
            <a:solidFill>
              <a:srgbClr val="7C909C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C528B0E3-BF30-0057-CAC9-64BF84D504EE}"/>
              </a:ext>
            </a:extLst>
          </p:cNvPr>
          <p:cNvSpPr/>
          <p:nvPr/>
        </p:nvSpPr>
        <p:spPr>
          <a:xfrm>
            <a:off x="812800" y="3111500"/>
            <a:ext cx="3782154" cy="3810000"/>
          </a:xfrm>
          <a:prstGeom prst="roundRect">
            <a:avLst/>
          </a:prstGeom>
          <a:solidFill>
            <a:srgbClr val="FFFFFF"/>
          </a:solidFill>
          <a:ln>
            <a:solidFill>
              <a:srgbClr val="D8DE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A5BBCDA-1A0F-4FFC-F635-C0407A9F3FEE}"/>
              </a:ext>
            </a:extLst>
          </p:cNvPr>
          <p:cNvSpPr txBox="1"/>
          <p:nvPr/>
        </p:nvSpPr>
        <p:spPr>
          <a:xfrm>
            <a:off x="1016000" y="3263900"/>
            <a:ext cx="3308350" cy="35394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700" b="1" dirty="0">
                <a:solidFill>
                  <a:srgbClr val="86880E"/>
                </a:solidFill>
                <a:latin typeface="Aptos" panose="020B0004020202020204" pitchFamily="34" charset="0"/>
              </a:rPr>
              <a:t>What The Ecosystem Includes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D614C63-4BE6-61F8-E918-D28FD7648EAE}"/>
              </a:ext>
            </a:extLst>
          </p:cNvPr>
          <p:cNvSpPr txBox="1"/>
          <p:nvPr/>
        </p:nvSpPr>
        <p:spPr>
          <a:xfrm>
            <a:off x="1015999" y="3721100"/>
            <a:ext cx="3259113" cy="280076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600" dirty="0">
                <a:solidFill>
                  <a:srgbClr val="42382D"/>
                </a:solidFill>
                <a:latin typeface="Aptos" panose="020B0004020202020204" pitchFamily="34" charset="0"/>
              </a:rPr>
              <a:t>• Web, Android, and iOS portals for </a:t>
            </a:r>
          </a:p>
          <a:p>
            <a:r>
              <a:rPr lang="en-US" sz="1600" dirty="0">
                <a:solidFill>
                  <a:srgbClr val="42382D"/>
                </a:solidFill>
                <a:latin typeface="Aptos" panose="020B0004020202020204" pitchFamily="34" charset="0"/>
              </a:rPr>
              <a:t>   practical access.</a:t>
            </a:r>
          </a:p>
          <a:p>
            <a:r>
              <a:rPr lang="en-US" sz="1600" dirty="0">
                <a:solidFill>
                  <a:srgbClr val="42382D"/>
                </a:solidFill>
                <a:latin typeface="Aptos" panose="020B0004020202020204" pitchFamily="34" charset="0"/>
              </a:rPr>
              <a:t>• Attendance, homework,   </a:t>
            </a:r>
          </a:p>
          <a:p>
            <a:r>
              <a:rPr lang="en-US" sz="1600" dirty="0">
                <a:solidFill>
                  <a:srgbClr val="42382D"/>
                </a:solidFill>
                <a:latin typeface="Aptos" panose="020B0004020202020204" pitchFamily="34" charset="0"/>
              </a:rPr>
              <a:t>   assessments, communication </a:t>
            </a:r>
          </a:p>
          <a:p>
            <a:r>
              <a:rPr lang="en-US" sz="1600" dirty="0">
                <a:solidFill>
                  <a:srgbClr val="42382D"/>
                </a:solidFill>
                <a:latin typeface="Aptos" panose="020B0004020202020204" pitchFamily="34" charset="0"/>
              </a:rPr>
              <a:t>   feedback, journal feeding, and </a:t>
            </a:r>
          </a:p>
          <a:p>
            <a:r>
              <a:rPr lang="en-US" sz="1600" dirty="0">
                <a:solidFill>
                  <a:srgbClr val="42382D"/>
                </a:solidFill>
                <a:latin typeface="Aptos" panose="020B0004020202020204" pitchFamily="34" charset="0"/>
              </a:rPr>
              <a:t>   collaborative learning spaces.</a:t>
            </a:r>
          </a:p>
          <a:p>
            <a:r>
              <a:rPr lang="en-US" sz="1600" dirty="0">
                <a:solidFill>
                  <a:srgbClr val="42382D"/>
                </a:solidFill>
                <a:latin typeface="Aptos" panose="020B0004020202020204" pitchFamily="34" charset="0"/>
              </a:rPr>
              <a:t>• Business intelligence over school </a:t>
            </a:r>
          </a:p>
          <a:p>
            <a:r>
              <a:rPr lang="en-US" sz="1600" dirty="0">
                <a:solidFill>
                  <a:srgbClr val="42382D"/>
                </a:solidFill>
                <a:latin typeface="Aptos" panose="020B0004020202020204" pitchFamily="34" charset="0"/>
              </a:rPr>
              <a:t>   management systems.</a:t>
            </a:r>
          </a:p>
          <a:p>
            <a:r>
              <a:rPr lang="en-US" sz="1600" dirty="0">
                <a:solidFill>
                  <a:srgbClr val="42382D"/>
                </a:solidFill>
                <a:latin typeface="Aptos" panose="020B0004020202020204" pitchFamily="34" charset="0"/>
              </a:rPr>
              <a:t>• Health records, learning  </a:t>
            </a:r>
          </a:p>
          <a:p>
            <a:r>
              <a:rPr lang="en-US" sz="1600" dirty="0">
                <a:solidFill>
                  <a:srgbClr val="42382D"/>
                </a:solidFill>
                <a:latin typeface="Aptos" panose="020B0004020202020204" pitchFamily="34" charset="0"/>
              </a:rPr>
              <a:t>   objectives, well-being, and </a:t>
            </a:r>
          </a:p>
          <a:p>
            <a:r>
              <a:rPr lang="en-US" sz="1600" dirty="0">
                <a:solidFill>
                  <a:srgbClr val="42382D"/>
                </a:solidFill>
                <a:latin typeface="Aptos" panose="020B0004020202020204" pitchFamily="34" charset="0"/>
              </a:rPr>
              <a:t>   evidence-based observations.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9C1966C5-AA7A-757B-57AE-F167F45A9638}"/>
              </a:ext>
            </a:extLst>
          </p:cNvPr>
          <p:cNvSpPr/>
          <p:nvPr/>
        </p:nvSpPr>
        <p:spPr>
          <a:xfrm>
            <a:off x="12039600" y="3111500"/>
            <a:ext cx="3492500" cy="3810000"/>
          </a:xfrm>
          <a:prstGeom prst="roundRect">
            <a:avLst/>
          </a:prstGeom>
          <a:solidFill>
            <a:srgbClr val="FFFFFF"/>
          </a:solidFill>
          <a:ln>
            <a:solidFill>
              <a:srgbClr val="D8DE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F2A1062-6C57-5C4A-D52F-6D13A1ECB369}"/>
              </a:ext>
            </a:extLst>
          </p:cNvPr>
          <p:cNvSpPr txBox="1"/>
          <p:nvPr/>
        </p:nvSpPr>
        <p:spPr>
          <a:xfrm>
            <a:off x="12242800" y="3263900"/>
            <a:ext cx="2895600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b="1" dirty="0">
                <a:solidFill>
                  <a:srgbClr val="09A370"/>
                </a:solidFill>
                <a:latin typeface="Aptos" panose="020B0004020202020204" pitchFamily="34" charset="0"/>
              </a:rPr>
              <a:t>What It Improves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7D1D087-6CEA-7E3F-1069-B8B7D3EAE7F1}"/>
              </a:ext>
            </a:extLst>
          </p:cNvPr>
          <p:cNvSpPr txBox="1"/>
          <p:nvPr/>
        </p:nvSpPr>
        <p:spPr>
          <a:xfrm>
            <a:off x="12242800" y="3721100"/>
            <a:ext cx="3289300" cy="286232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dirty="0">
                <a:solidFill>
                  <a:srgbClr val="42382D"/>
                </a:solidFill>
                <a:latin typeface="Aptos" panose="020B0004020202020204" pitchFamily="34" charset="0"/>
              </a:rPr>
              <a:t>• Pinpoints knowledge gaps </a:t>
            </a:r>
          </a:p>
          <a:p>
            <a:r>
              <a:rPr lang="en-US" dirty="0">
                <a:solidFill>
                  <a:srgbClr val="42382D"/>
                </a:solidFill>
                <a:latin typeface="Aptos" panose="020B0004020202020204" pitchFamily="34" charset="0"/>
              </a:rPr>
              <a:t>    and difficulty levels with </a:t>
            </a:r>
          </a:p>
          <a:p>
            <a:r>
              <a:rPr lang="en-US" dirty="0">
                <a:solidFill>
                  <a:srgbClr val="42382D"/>
                </a:solidFill>
                <a:latin typeface="Aptos" panose="020B0004020202020204" pitchFamily="34" charset="0"/>
              </a:rPr>
              <a:t>   better analytics.</a:t>
            </a:r>
          </a:p>
          <a:p>
            <a:r>
              <a:rPr lang="en-US" dirty="0">
                <a:solidFill>
                  <a:srgbClr val="42382D"/>
                </a:solidFill>
                <a:latin typeface="Aptos" panose="020B0004020202020204" pitchFamily="34" charset="0"/>
              </a:rPr>
              <a:t>• Improves resource allocation </a:t>
            </a:r>
          </a:p>
          <a:p>
            <a:r>
              <a:rPr lang="en-US" dirty="0">
                <a:solidFill>
                  <a:srgbClr val="42382D"/>
                </a:solidFill>
                <a:latin typeface="Aptos" panose="020B0004020202020204" pitchFamily="34" charset="0"/>
              </a:rPr>
              <a:t>   and decision-making.</a:t>
            </a:r>
          </a:p>
          <a:p>
            <a:r>
              <a:rPr lang="en-US" dirty="0">
                <a:solidFill>
                  <a:srgbClr val="42382D"/>
                </a:solidFill>
                <a:latin typeface="Aptos" panose="020B0004020202020204" pitchFamily="34" charset="0"/>
              </a:rPr>
              <a:t>• Supports one-on-one learning </a:t>
            </a:r>
          </a:p>
          <a:p>
            <a:r>
              <a:rPr lang="en-US" dirty="0">
                <a:solidFill>
                  <a:srgbClr val="42382D"/>
                </a:solidFill>
                <a:latin typeface="Aptos" panose="020B0004020202020204" pitchFamily="34" charset="0"/>
              </a:rPr>
              <a:t>   where needed.</a:t>
            </a:r>
          </a:p>
          <a:p>
            <a:r>
              <a:rPr lang="en-US" dirty="0">
                <a:solidFill>
                  <a:srgbClr val="42382D"/>
                </a:solidFill>
                <a:latin typeface="Aptos" panose="020B0004020202020204" pitchFamily="34" charset="0"/>
              </a:rPr>
              <a:t>• Creates a single source of </a:t>
            </a:r>
          </a:p>
          <a:p>
            <a:r>
              <a:rPr lang="en-US" dirty="0">
                <a:solidFill>
                  <a:srgbClr val="42382D"/>
                </a:solidFill>
                <a:latin typeface="Aptos" panose="020B0004020202020204" pitchFamily="34" charset="0"/>
              </a:rPr>
              <a:t>    truth for students, teachers, </a:t>
            </a:r>
          </a:p>
          <a:p>
            <a:r>
              <a:rPr lang="en-US" dirty="0">
                <a:solidFill>
                  <a:srgbClr val="42382D"/>
                </a:solidFill>
                <a:latin typeface="Aptos" panose="020B0004020202020204" pitchFamily="34" charset="0"/>
              </a:rPr>
              <a:t>    parents, and management.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1DBE61C-952B-E866-6399-FEEA1B09E984}"/>
              </a:ext>
            </a:extLst>
          </p:cNvPr>
          <p:cNvSpPr txBox="1"/>
          <p:nvPr/>
        </p:nvSpPr>
        <p:spPr>
          <a:xfrm>
            <a:off x="1905000" y="254000"/>
            <a:ext cx="3302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400" b="1" dirty="0">
                <a:solidFill>
                  <a:srgbClr val="FFFFFF"/>
                </a:solidFill>
                <a:latin typeface="Aptos" panose="020B0004020202020204" pitchFamily="34" charset="0"/>
              </a:rPr>
              <a:t>ELECTRONIC EDUCARE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004CD789-938E-9D33-393C-167A934EF3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23" y="32757"/>
            <a:ext cx="1348001" cy="808800"/>
          </a:xfrm>
          <a:prstGeom prst="rect">
            <a:avLst/>
          </a:prstGeom>
        </p:spPr>
      </p:pic>
      <p:sp>
        <p:nvSpPr>
          <p:cNvPr id="72" name="TextBox 71">
            <a:extLst>
              <a:ext uri="{FF2B5EF4-FFF2-40B4-BE49-F238E27FC236}">
                <a16:creationId xmlns:a16="http://schemas.microsoft.com/office/drawing/2014/main" id="{AB4E8056-392D-5689-B3F2-ED429B977543}"/>
              </a:ext>
            </a:extLst>
          </p:cNvPr>
          <p:cNvSpPr txBox="1"/>
          <p:nvPr/>
        </p:nvSpPr>
        <p:spPr>
          <a:xfrm>
            <a:off x="4858503" y="3351996"/>
            <a:ext cx="158115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  <a:latin typeface="Aptos" panose="020B0004020202020204" pitchFamily="34" charset="0"/>
              </a:rPr>
              <a:t>Student
Learning</a:t>
            </a:r>
          </a:p>
          <a:p>
            <a:pPr algn="ctr"/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F2179462-60D6-2ADE-EB4B-35CA887F04DF}"/>
              </a:ext>
            </a:extLst>
          </p:cNvPr>
          <p:cNvSpPr txBox="1"/>
          <p:nvPr/>
        </p:nvSpPr>
        <p:spPr>
          <a:xfrm>
            <a:off x="7216775" y="2825764"/>
            <a:ext cx="15811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FFFFFF"/>
                </a:solidFill>
                <a:latin typeface="Aptos" panose="020B0004020202020204" pitchFamily="34" charset="0"/>
              </a:rPr>
              <a:t>Curriculum
Mapping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A2D4636C-10D6-E465-006B-D3D1FF518DA7}"/>
              </a:ext>
            </a:extLst>
          </p:cNvPr>
          <p:cNvSpPr txBox="1"/>
          <p:nvPr/>
        </p:nvSpPr>
        <p:spPr>
          <a:xfrm>
            <a:off x="9772987" y="3351530"/>
            <a:ext cx="158115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FFFFFF"/>
                </a:solidFill>
                <a:latin typeface="Aptos" panose="020B0004020202020204" pitchFamily="34" charset="0"/>
              </a:rPr>
              <a:t>Teacher
Support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24C4362D-5F18-9398-6E97-854B755035D7}"/>
              </a:ext>
            </a:extLst>
          </p:cNvPr>
          <p:cNvSpPr txBox="1"/>
          <p:nvPr/>
        </p:nvSpPr>
        <p:spPr>
          <a:xfrm>
            <a:off x="9756775" y="5986825"/>
            <a:ext cx="158115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FFFFFF"/>
                </a:solidFill>
                <a:latin typeface="Aptos" panose="020B0004020202020204" pitchFamily="34" charset="0"/>
              </a:rPr>
              <a:t>Admin
Analytics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001F01A8-F854-C856-12D3-0CC0D40E4A1F}"/>
              </a:ext>
            </a:extLst>
          </p:cNvPr>
          <p:cNvSpPr txBox="1"/>
          <p:nvPr/>
        </p:nvSpPr>
        <p:spPr>
          <a:xfrm>
            <a:off x="7235825" y="7328823"/>
            <a:ext cx="158115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FFFFFF"/>
                </a:solidFill>
                <a:latin typeface="Aptos" panose="020B0004020202020204" pitchFamily="34" charset="0"/>
              </a:rPr>
              <a:t>Records </a:t>
            </a:r>
          </a:p>
          <a:p>
            <a:pPr algn="ctr"/>
            <a:r>
              <a:rPr lang="en-US" sz="2000" b="1" dirty="0">
                <a:solidFill>
                  <a:srgbClr val="FFFFFF"/>
                </a:solidFill>
                <a:latin typeface="Aptos" panose="020B0004020202020204" pitchFamily="34" charset="0"/>
              </a:rPr>
              <a:t>&amp;
Reports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C7E2D13E-6846-ABB7-193B-EF7C5A96777F}"/>
              </a:ext>
            </a:extLst>
          </p:cNvPr>
          <p:cNvSpPr txBox="1"/>
          <p:nvPr/>
        </p:nvSpPr>
        <p:spPr>
          <a:xfrm>
            <a:off x="4833079" y="5965059"/>
            <a:ext cx="158115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FFFFFF"/>
                </a:solidFill>
                <a:latin typeface="Aptos" panose="020B0004020202020204" pitchFamily="34" charset="0"/>
              </a:rPr>
              <a:t>Parent
Updates</a:t>
            </a:r>
          </a:p>
        </p:txBody>
      </p:sp>
      <p:sp>
        <p:nvSpPr>
          <p:cNvPr id="78" name="Rectangle: Rounded Corners 77">
            <a:hlinkClick r:id="rId3"/>
            <a:extLst>
              <a:ext uri="{FF2B5EF4-FFF2-40B4-BE49-F238E27FC236}">
                <a16:creationId xmlns:a16="http://schemas.microsoft.com/office/drawing/2014/main" id="{7F8EC4CE-C44B-57C5-2320-BA9C0266861F}"/>
              </a:ext>
            </a:extLst>
          </p:cNvPr>
          <p:cNvSpPr/>
          <p:nvPr/>
        </p:nvSpPr>
        <p:spPr>
          <a:xfrm>
            <a:off x="10896600" y="8064500"/>
            <a:ext cx="4635500" cy="609600"/>
          </a:xfrm>
          <a:prstGeom prst="roundRect">
            <a:avLst/>
          </a:prstGeom>
          <a:solidFill>
            <a:srgbClr val="F49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500" b="1" dirty="0">
                <a:solidFill>
                  <a:srgbClr val="111111"/>
                </a:solidFill>
                <a:latin typeface="Aptos" panose="020B0004020202020204" pitchFamily="34" charset="0"/>
              </a:rPr>
              <a:t>Demo Link: </a:t>
            </a:r>
            <a:r>
              <a:rPr lang="en-US" sz="1600" dirty="0">
                <a:solidFill>
                  <a:schemeClr val="tx1"/>
                </a:solidFill>
              </a:rPr>
              <a:t>https://eecdemo.vercel.app</a:t>
            </a:r>
            <a:endParaRPr lang="en-US" sz="1500" b="1" dirty="0">
              <a:solidFill>
                <a:schemeClr val="tx1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39233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475A779-CD50-ED6A-A782-280BC5E4760E}"/>
              </a:ext>
            </a:extLst>
          </p:cNvPr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F6FAF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6142209-8B31-3E10-FE26-CF0AB86F9A10}"/>
              </a:ext>
            </a:extLst>
          </p:cNvPr>
          <p:cNvSpPr/>
          <p:nvPr/>
        </p:nvSpPr>
        <p:spPr>
          <a:xfrm>
            <a:off x="0" y="0"/>
            <a:ext cx="16256000" cy="889000"/>
          </a:xfrm>
          <a:prstGeom prst="rect">
            <a:avLst/>
          </a:prstGeom>
          <a:solidFill>
            <a:srgbClr val="183B5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17856E1-F31B-8058-97A5-6F42832F58F1}"/>
              </a:ext>
            </a:extLst>
          </p:cNvPr>
          <p:cNvSpPr txBox="1"/>
          <p:nvPr/>
        </p:nvSpPr>
        <p:spPr>
          <a:xfrm>
            <a:off x="11811000" y="254000"/>
            <a:ext cx="3810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r"/>
            <a:r>
              <a:rPr lang="en-US" sz="1400">
                <a:solidFill>
                  <a:srgbClr val="F2EAE2"/>
                </a:solidFill>
                <a:latin typeface="Aptos" panose="020B0004020202020204" pitchFamily="34" charset="0"/>
              </a:rPr>
              <a:t>Live Workflow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C347C46-3BF7-A526-1745-25E9F9D1789B}"/>
              </a:ext>
            </a:extLst>
          </p:cNvPr>
          <p:cNvSpPr txBox="1"/>
          <p:nvPr/>
        </p:nvSpPr>
        <p:spPr>
          <a:xfrm>
            <a:off x="736600" y="1244600"/>
            <a:ext cx="9652000" cy="61555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3400" b="1">
                <a:solidFill>
                  <a:srgbClr val="183B56"/>
                </a:solidFill>
                <a:latin typeface="Aptos" panose="020B0004020202020204" pitchFamily="34" charset="0"/>
              </a:rPr>
              <a:t>A Live Workflow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4BB9848-A331-170D-A3B5-C88DCC8B8A54}"/>
              </a:ext>
            </a:extLst>
          </p:cNvPr>
          <p:cNvSpPr txBox="1"/>
          <p:nvPr/>
        </p:nvSpPr>
        <p:spPr>
          <a:xfrm>
            <a:off x="787400" y="1993900"/>
            <a:ext cx="11684000" cy="64633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dirty="0">
                <a:solidFill>
                  <a:srgbClr val="4B4152"/>
                </a:solidFill>
                <a:latin typeface="Aptos" panose="020B0004020202020204" pitchFamily="34" charset="0"/>
              </a:rPr>
              <a:t>EEC-ELECTRONIC EDUCARE turns classroom activity, teacher observation, and student practice into real-time insight for faster support.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310F8E55-D867-4105-97F1-09200B851204}"/>
              </a:ext>
            </a:extLst>
          </p:cNvPr>
          <p:cNvSpPr/>
          <p:nvPr/>
        </p:nvSpPr>
        <p:spPr>
          <a:xfrm>
            <a:off x="1905000" y="2965053"/>
            <a:ext cx="1168400" cy="1168400"/>
          </a:xfrm>
          <a:prstGeom prst="ellipse">
            <a:avLst/>
          </a:prstGeom>
          <a:solidFill>
            <a:srgbClr val="183B56"/>
          </a:solidFill>
          <a:ln w="19050" cap="flat" cmpd="sng" algn="ctr">
            <a:noFill/>
            <a:prstDash val="solid"/>
            <a:miter lim="800000"/>
          </a:ln>
          <a:effectLst>
            <a:innerShdw blurRad="114300">
              <a:prstClr val="black"/>
            </a:innerShdw>
          </a:effectLst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00" b="1" dirty="0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CE0569D-2F32-5711-8D39-BE6CD1038CC1}"/>
              </a:ext>
            </a:extLst>
          </p:cNvPr>
          <p:cNvCxnSpPr>
            <a:cxnSpLocks/>
            <a:stCxn id="9" idx="6"/>
            <a:endCxn id="11" idx="2"/>
          </p:cNvCxnSpPr>
          <p:nvPr/>
        </p:nvCxnSpPr>
        <p:spPr>
          <a:xfrm>
            <a:off x="3073400" y="3549253"/>
            <a:ext cx="1054100" cy="0"/>
          </a:xfrm>
          <a:prstGeom prst="line">
            <a:avLst/>
          </a:prstGeom>
          <a:ln w="25400">
            <a:solidFill>
              <a:srgbClr val="7C909C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>
            <a:extLst>
              <a:ext uri="{FF2B5EF4-FFF2-40B4-BE49-F238E27FC236}">
                <a16:creationId xmlns:a16="http://schemas.microsoft.com/office/drawing/2014/main" id="{5AAB77ED-BD11-FB2F-A8DE-2427B24A10A3}"/>
              </a:ext>
            </a:extLst>
          </p:cNvPr>
          <p:cNvSpPr/>
          <p:nvPr/>
        </p:nvSpPr>
        <p:spPr>
          <a:xfrm>
            <a:off x="4127500" y="2965053"/>
            <a:ext cx="1168400" cy="1168400"/>
          </a:xfrm>
          <a:prstGeom prst="ellipse">
            <a:avLst/>
          </a:prstGeom>
          <a:solidFill>
            <a:srgbClr val="86880E"/>
          </a:solidFill>
          <a:ln w="19050" cap="flat" cmpd="sng" algn="ctr">
            <a:noFill/>
            <a:prstDash val="solid"/>
            <a:miter lim="800000"/>
          </a:ln>
          <a:effectLst>
            <a:innerShdw blurRad="114300">
              <a:prstClr val="black"/>
            </a:innerShdw>
          </a:effectLst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00" b="1" dirty="0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EA072C92-C69D-496F-0DFC-7DAD5187CAA6}"/>
              </a:ext>
            </a:extLst>
          </p:cNvPr>
          <p:cNvCxnSpPr>
            <a:cxnSpLocks/>
            <a:stCxn id="11" idx="6"/>
            <a:endCxn id="13" idx="2"/>
          </p:cNvCxnSpPr>
          <p:nvPr/>
        </p:nvCxnSpPr>
        <p:spPr>
          <a:xfrm>
            <a:off x="5295900" y="3549253"/>
            <a:ext cx="1054100" cy="0"/>
          </a:xfrm>
          <a:prstGeom prst="line">
            <a:avLst/>
          </a:prstGeom>
          <a:ln w="25400">
            <a:solidFill>
              <a:srgbClr val="7C909C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>
            <a:extLst>
              <a:ext uri="{FF2B5EF4-FFF2-40B4-BE49-F238E27FC236}">
                <a16:creationId xmlns:a16="http://schemas.microsoft.com/office/drawing/2014/main" id="{7D417969-D9F8-D790-A16F-FDB839698F92}"/>
              </a:ext>
            </a:extLst>
          </p:cNvPr>
          <p:cNvSpPr/>
          <p:nvPr/>
        </p:nvSpPr>
        <p:spPr>
          <a:xfrm>
            <a:off x="6350000" y="2965053"/>
            <a:ext cx="1168400" cy="1168400"/>
          </a:xfrm>
          <a:prstGeom prst="ellipse">
            <a:avLst/>
          </a:prstGeom>
          <a:solidFill>
            <a:srgbClr val="ED1A7C"/>
          </a:solidFill>
          <a:ln w="19050" cap="flat" cmpd="sng" algn="ctr">
            <a:noFill/>
            <a:prstDash val="solid"/>
            <a:miter lim="800000"/>
          </a:ln>
          <a:effectLst>
            <a:innerShdw blurRad="114300">
              <a:prstClr val="black"/>
            </a:innerShdw>
          </a:effectLst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00" b="1" dirty="0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01EE8F5-E0C5-5D33-FE82-29823B4F1FB1}"/>
              </a:ext>
            </a:extLst>
          </p:cNvPr>
          <p:cNvCxnSpPr>
            <a:cxnSpLocks/>
            <a:stCxn id="13" idx="6"/>
            <a:endCxn id="15" idx="2"/>
          </p:cNvCxnSpPr>
          <p:nvPr/>
        </p:nvCxnSpPr>
        <p:spPr>
          <a:xfrm>
            <a:off x="7518400" y="3549253"/>
            <a:ext cx="1054100" cy="0"/>
          </a:xfrm>
          <a:prstGeom prst="line">
            <a:avLst/>
          </a:prstGeom>
          <a:ln w="25400">
            <a:solidFill>
              <a:srgbClr val="7C909C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>
            <a:extLst>
              <a:ext uri="{FF2B5EF4-FFF2-40B4-BE49-F238E27FC236}">
                <a16:creationId xmlns:a16="http://schemas.microsoft.com/office/drawing/2014/main" id="{1CAB306B-B26D-2BB5-97A0-E1547C7B5D2A}"/>
              </a:ext>
            </a:extLst>
          </p:cNvPr>
          <p:cNvSpPr/>
          <p:nvPr/>
        </p:nvSpPr>
        <p:spPr>
          <a:xfrm>
            <a:off x="8572500" y="2965053"/>
            <a:ext cx="1168400" cy="1168400"/>
          </a:xfrm>
          <a:prstGeom prst="ellipse">
            <a:avLst/>
          </a:prstGeom>
          <a:solidFill>
            <a:srgbClr val="09A370"/>
          </a:solidFill>
          <a:ln w="19050" cap="flat" cmpd="sng" algn="ctr">
            <a:noFill/>
            <a:prstDash val="solid"/>
            <a:miter lim="800000"/>
          </a:ln>
          <a:effectLst>
            <a:innerShdw blurRad="114300">
              <a:prstClr val="black"/>
            </a:innerShdw>
          </a:effectLst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00" b="1" dirty="0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BA76543-C18A-49B8-EFA2-0D4156D692F6}"/>
              </a:ext>
            </a:extLst>
          </p:cNvPr>
          <p:cNvCxnSpPr>
            <a:cxnSpLocks/>
            <a:stCxn id="15" idx="6"/>
            <a:endCxn id="17" idx="2"/>
          </p:cNvCxnSpPr>
          <p:nvPr/>
        </p:nvCxnSpPr>
        <p:spPr>
          <a:xfrm>
            <a:off x="9740900" y="3549253"/>
            <a:ext cx="1054100" cy="0"/>
          </a:xfrm>
          <a:prstGeom prst="line">
            <a:avLst/>
          </a:prstGeom>
          <a:ln w="25400">
            <a:solidFill>
              <a:srgbClr val="7C909C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>
            <a:extLst>
              <a:ext uri="{FF2B5EF4-FFF2-40B4-BE49-F238E27FC236}">
                <a16:creationId xmlns:a16="http://schemas.microsoft.com/office/drawing/2014/main" id="{8B31F0A0-8022-B08F-D110-D249072037D6}"/>
              </a:ext>
            </a:extLst>
          </p:cNvPr>
          <p:cNvSpPr/>
          <p:nvPr/>
        </p:nvSpPr>
        <p:spPr>
          <a:xfrm>
            <a:off x="10795000" y="2965053"/>
            <a:ext cx="1168400" cy="1168400"/>
          </a:xfrm>
          <a:prstGeom prst="ellipse">
            <a:avLst/>
          </a:prstGeom>
          <a:solidFill>
            <a:srgbClr val="62952F"/>
          </a:solidFill>
          <a:ln w="19050" cap="flat" cmpd="sng" algn="ctr">
            <a:noFill/>
            <a:prstDash val="solid"/>
            <a:miter lim="800000"/>
          </a:ln>
          <a:effectLst>
            <a:innerShdw blurRad="114300">
              <a:prstClr val="black"/>
            </a:innerShdw>
          </a:effectLst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00" b="1" dirty="0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0840D8E-21CF-6394-1AAC-10FE2134D172}"/>
              </a:ext>
            </a:extLst>
          </p:cNvPr>
          <p:cNvCxnSpPr>
            <a:cxnSpLocks/>
            <a:stCxn id="17" idx="6"/>
            <a:endCxn id="19" idx="2"/>
          </p:cNvCxnSpPr>
          <p:nvPr/>
        </p:nvCxnSpPr>
        <p:spPr>
          <a:xfrm>
            <a:off x="11963400" y="3549253"/>
            <a:ext cx="1054100" cy="0"/>
          </a:xfrm>
          <a:prstGeom prst="line">
            <a:avLst/>
          </a:prstGeom>
          <a:ln w="25400">
            <a:solidFill>
              <a:srgbClr val="7C909C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>
            <a:extLst>
              <a:ext uri="{FF2B5EF4-FFF2-40B4-BE49-F238E27FC236}">
                <a16:creationId xmlns:a16="http://schemas.microsoft.com/office/drawing/2014/main" id="{91876AB9-0AEB-693B-FC01-F766BB913A39}"/>
              </a:ext>
            </a:extLst>
          </p:cNvPr>
          <p:cNvSpPr/>
          <p:nvPr/>
        </p:nvSpPr>
        <p:spPr>
          <a:xfrm>
            <a:off x="13017500" y="2965053"/>
            <a:ext cx="1168400" cy="1168400"/>
          </a:xfrm>
          <a:prstGeom prst="ellipse">
            <a:avLst/>
          </a:prstGeom>
          <a:solidFill>
            <a:srgbClr val="0C41C2"/>
          </a:solidFill>
          <a:ln w="19050" cap="flat" cmpd="sng" algn="ctr">
            <a:noFill/>
            <a:prstDash val="solid"/>
            <a:miter lim="800000"/>
          </a:ln>
          <a:effectLst>
            <a:innerShdw blurRad="114300">
              <a:prstClr val="black"/>
            </a:innerShdw>
          </a:effectLst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00" b="1" dirty="0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E18FE93A-6370-36FA-F317-CD803A68B9EB}"/>
              </a:ext>
            </a:extLst>
          </p:cNvPr>
          <p:cNvSpPr/>
          <p:nvPr/>
        </p:nvSpPr>
        <p:spPr>
          <a:xfrm>
            <a:off x="1143000" y="4966105"/>
            <a:ext cx="6667500" cy="2388747"/>
          </a:xfrm>
          <a:prstGeom prst="roundRect">
            <a:avLst/>
          </a:prstGeom>
          <a:solidFill>
            <a:srgbClr val="FFFFFF"/>
          </a:solidFill>
          <a:ln>
            <a:solidFill>
              <a:srgbClr val="D8DE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921101E-E4C4-41A6-F3E1-130AAA436D6E}"/>
              </a:ext>
            </a:extLst>
          </p:cNvPr>
          <p:cNvSpPr txBox="1"/>
          <p:nvPr/>
        </p:nvSpPr>
        <p:spPr>
          <a:xfrm>
            <a:off x="1377950" y="5072510"/>
            <a:ext cx="6261100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2000" b="1" dirty="0">
                <a:solidFill>
                  <a:srgbClr val="183B56"/>
                </a:solidFill>
                <a:latin typeface="Aptos" panose="020B0004020202020204" pitchFamily="34" charset="0"/>
              </a:rPr>
              <a:t>How The Workflow Moves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56EDD23-F519-AF5E-4B4F-5FE932D8DC7E}"/>
              </a:ext>
            </a:extLst>
          </p:cNvPr>
          <p:cNvSpPr txBox="1"/>
          <p:nvPr/>
        </p:nvSpPr>
        <p:spPr>
          <a:xfrm>
            <a:off x="1346200" y="5505797"/>
            <a:ext cx="6464300" cy="181588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600" dirty="0">
                <a:solidFill>
                  <a:srgbClr val="42382D"/>
                </a:solidFill>
                <a:latin typeface="Aptos" panose="020B0004020202020204" pitchFamily="34" charset="0"/>
              </a:rPr>
              <a:t>• Students complete lessons, homework, quizzes, tests, and activities.</a:t>
            </a:r>
          </a:p>
          <a:p>
            <a:r>
              <a:rPr lang="en-US" sz="1600" dirty="0">
                <a:solidFill>
                  <a:srgbClr val="42382D"/>
                </a:solidFill>
                <a:latin typeface="Aptos" panose="020B0004020202020204" pitchFamily="34" charset="0"/>
              </a:rPr>
              <a:t>• Teachers add observations, feedback, class performance, and </a:t>
            </a:r>
          </a:p>
          <a:p>
            <a:r>
              <a:rPr lang="en-US" sz="1600" dirty="0">
                <a:solidFill>
                  <a:srgbClr val="42382D"/>
                </a:solidFill>
                <a:latin typeface="Aptos" panose="020B0004020202020204" pitchFamily="34" charset="0"/>
              </a:rPr>
              <a:t>    learning behavior.</a:t>
            </a:r>
          </a:p>
          <a:p>
            <a:r>
              <a:rPr lang="en-US" sz="1600" dirty="0">
                <a:solidFill>
                  <a:srgbClr val="42382D"/>
                </a:solidFill>
                <a:latin typeface="Aptos" panose="020B0004020202020204" pitchFamily="34" charset="0"/>
              </a:rPr>
              <a:t>• The AI engine checks knowledge gaps, level of difficulty, enquiry </a:t>
            </a:r>
          </a:p>
          <a:p>
            <a:r>
              <a:rPr lang="en-US" sz="1600" dirty="0">
                <a:solidFill>
                  <a:srgbClr val="42382D"/>
                </a:solidFill>
                <a:latin typeface="Aptos" panose="020B0004020202020204" pitchFamily="34" charset="0"/>
              </a:rPr>
              <a:t>   needs, and well-being signals.</a:t>
            </a:r>
          </a:p>
          <a:p>
            <a:r>
              <a:rPr lang="en-US" sz="1600" dirty="0">
                <a:solidFill>
                  <a:srgbClr val="42382D"/>
                </a:solidFill>
                <a:latin typeface="Aptos" panose="020B0004020202020204" pitchFamily="34" charset="0"/>
              </a:rPr>
              <a:t>• Students receive targeted learning paths while teachers and parents </a:t>
            </a:r>
          </a:p>
          <a:p>
            <a:r>
              <a:rPr lang="en-US" sz="1600" dirty="0">
                <a:solidFill>
                  <a:srgbClr val="42382D"/>
                </a:solidFill>
                <a:latin typeface="Aptos" panose="020B0004020202020204" pitchFamily="34" charset="0"/>
              </a:rPr>
              <a:t>   get timely updates.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49855CE9-734F-4DEC-4556-8DFD6CE92CAD}"/>
              </a:ext>
            </a:extLst>
          </p:cNvPr>
          <p:cNvSpPr/>
          <p:nvPr/>
        </p:nvSpPr>
        <p:spPr>
          <a:xfrm>
            <a:off x="8445500" y="4966105"/>
            <a:ext cx="6667500" cy="2355571"/>
          </a:xfrm>
          <a:prstGeom prst="roundRect">
            <a:avLst/>
          </a:prstGeom>
          <a:solidFill>
            <a:srgbClr val="FFFFFF"/>
          </a:solidFill>
          <a:ln>
            <a:solidFill>
              <a:srgbClr val="D8DE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E7C69C3-7492-A39C-8F17-B7600C61E653}"/>
              </a:ext>
            </a:extLst>
          </p:cNvPr>
          <p:cNvSpPr txBox="1"/>
          <p:nvPr/>
        </p:nvSpPr>
        <p:spPr>
          <a:xfrm>
            <a:off x="8680450" y="5072510"/>
            <a:ext cx="6261100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2000" b="1" dirty="0">
                <a:solidFill>
                  <a:srgbClr val="86880E"/>
                </a:solidFill>
                <a:latin typeface="Aptos" panose="020B0004020202020204" pitchFamily="34" charset="0"/>
              </a:rPr>
              <a:t>Why It Matters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49B076F-E0A8-3F7C-C69A-8AE78BAA43FC}"/>
              </a:ext>
            </a:extLst>
          </p:cNvPr>
          <p:cNvSpPr txBox="1"/>
          <p:nvPr/>
        </p:nvSpPr>
        <p:spPr>
          <a:xfrm>
            <a:off x="8680450" y="5448637"/>
            <a:ext cx="6432550" cy="156966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600" dirty="0">
                <a:solidFill>
                  <a:srgbClr val="42382D"/>
                </a:solidFill>
                <a:latin typeface="Aptos" panose="020B0004020202020204" pitchFamily="34" charset="0"/>
              </a:rPr>
              <a:t>• Faster grading and immediate feedback reduce delay between </a:t>
            </a:r>
          </a:p>
          <a:p>
            <a:r>
              <a:rPr lang="en-US" sz="1600" dirty="0">
                <a:solidFill>
                  <a:srgbClr val="42382D"/>
                </a:solidFill>
                <a:latin typeface="Aptos" panose="020B0004020202020204" pitchFamily="34" charset="0"/>
              </a:rPr>
              <a:t>   learning and correction.</a:t>
            </a:r>
          </a:p>
          <a:p>
            <a:r>
              <a:rPr lang="en-US" sz="1600" dirty="0">
                <a:solidFill>
                  <a:srgbClr val="42382D"/>
                </a:solidFill>
                <a:latin typeface="Aptos" panose="020B0004020202020204" pitchFamily="34" charset="0"/>
              </a:rPr>
              <a:t>• Timely evaluations help schools act before small gaps become long-</a:t>
            </a:r>
          </a:p>
          <a:p>
            <a:r>
              <a:rPr lang="en-US" sz="1600" dirty="0">
                <a:solidFill>
                  <a:srgbClr val="42382D"/>
                </a:solidFill>
                <a:latin typeface="Aptos" panose="020B0004020202020204" pitchFamily="34" charset="0"/>
              </a:rPr>
              <a:t>    term learning problems.</a:t>
            </a:r>
          </a:p>
          <a:p>
            <a:r>
              <a:rPr lang="en-US" sz="1600" dirty="0">
                <a:solidFill>
                  <a:srgbClr val="42382D"/>
                </a:solidFill>
                <a:latin typeface="Aptos" panose="020B0004020202020204" pitchFamily="34" charset="0"/>
              </a:rPr>
              <a:t>• Each cycle creates stronger data for curriculum progress, student </a:t>
            </a:r>
          </a:p>
          <a:p>
            <a:r>
              <a:rPr lang="en-US" sz="1600" dirty="0">
                <a:solidFill>
                  <a:srgbClr val="42382D"/>
                </a:solidFill>
                <a:latin typeface="Aptos" panose="020B0004020202020204" pitchFamily="34" charset="0"/>
              </a:rPr>
              <a:t>    growth, and school planning.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DC67A2E-3BA7-6021-2A10-32566A203FAF}"/>
              </a:ext>
            </a:extLst>
          </p:cNvPr>
          <p:cNvSpPr txBox="1"/>
          <p:nvPr/>
        </p:nvSpPr>
        <p:spPr>
          <a:xfrm>
            <a:off x="914400" y="7569200"/>
            <a:ext cx="9652000" cy="3847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900" b="1">
                <a:solidFill>
                  <a:srgbClr val="86880E"/>
                </a:solidFill>
                <a:latin typeface="Aptos" panose="020B0004020202020204" pitchFamily="34" charset="0"/>
              </a:rPr>
              <a:t>Call to action: Watch the workflow from assignment to feedback to improvement.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7A012BC-2979-4CFB-9179-F32A640D9FA3}"/>
              </a:ext>
            </a:extLst>
          </p:cNvPr>
          <p:cNvSpPr txBox="1"/>
          <p:nvPr/>
        </p:nvSpPr>
        <p:spPr>
          <a:xfrm>
            <a:off x="1905000" y="254000"/>
            <a:ext cx="3302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400" b="1" dirty="0">
                <a:solidFill>
                  <a:srgbClr val="FFFFFF"/>
                </a:solidFill>
                <a:latin typeface="Aptos" panose="020B0004020202020204" pitchFamily="34" charset="0"/>
              </a:rPr>
              <a:t>ELECTRONIC EDUCARE</a:t>
            </a: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C12C16D0-6E07-A842-B201-FD4A5712B3D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23" y="32757"/>
            <a:ext cx="1348001" cy="808800"/>
          </a:xfrm>
          <a:prstGeom prst="rect">
            <a:avLst/>
          </a:prstGeom>
        </p:spPr>
      </p:pic>
      <p:sp>
        <p:nvSpPr>
          <p:cNvPr id="41" name="TextBox 40">
            <a:extLst>
              <a:ext uri="{FF2B5EF4-FFF2-40B4-BE49-F238E27FC236}">
                <a16:creationId xmlns:a16="http://schemas.microsoft.com/office/drawing/2014/main" id="{B365FD5D-BF64-48C1-EE11-AB1784863BE4}"/>
              </a:ext>
            </a:extLst>
          </p:cNvPr>
          <p:cNvSpPr txBox="1"/>
          <p:nvPr/>
        </p:nvSpPr>
        <p:spPr>
          <a:xfrm>
            <a:off x="1994981" y="3318420"/>
            <a:ext cx="9884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FFFF"/>
                </a:solidFill>
                <a:latin typeface="Aptos" panose="020B0004020202020204" pitchFamily="34" charset="0"/>
              </a:rPr>
              <a:t>Learn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28E263B-51F0-95D4-CEAF-5E1639B5621B}"/>
              </a:ext>
            </a:extLst>
          </p:cNvPr>
          <p:cNvSpPr txBox="1"/>
          <p:nvPr/>
        </p:nvSpPr>
        <p:spPr>
          <a:xfrm>
            <a:off x="3866880" y="3318420"/>
            <a:ext cx="16896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FFFFFF"/>
                </a:solidFill>
                <a:latin typeface="Aptos" panose="020B0004020202020204" pitchFamily="34" charset="0"/>
              </a:rPr>
              <a:t>Practice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D1AF5C5-FFFD-4232-7AC9-D2485A8ED8C7}"/>
              </a:ext>
            </a:extLst>
          </p:cNvPr>
          <p:cNvSpPr txBox="1"/>
          <p:nvPr/>
        </p:nvSpPr>
        <p:spPr>
          <a:xfrm>
            <a:off x="6318790" y="3326264"/>
            <a:ext cx="123081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FFFFFF"/>
                </a:solidFill>
                <a:latin typeface="Aptos" panose="020B0004020202020204" pitchFamily="34" charset="0"/>
              </a:rPr>
              <a:t>Record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B8CCB63-0803-C89A-CF5F-29D66398188A}"/>
              </a:ext>
            </a:extLst>
          </p:cNvPr>
          <p:cNvSpPr txBox="1"/>
          <p:nvPr/>
        </p:nvSpPr>
        <p:spPr>
          <a:xfrm>
            <a:off x="8550072" y="3349197"/>
            <a:ext cx="1244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FFFFFF"/>
                </a:solidFill>
                <a:latin typeface="Aptos" panose="020B0004020202020204" pitchFamily="34" charset="0"/>
              </a:rPr>
              <a:t>Analyze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F47BCC0-233C-CE77-A01A-08035F97F862}"/>
              </a:ext>
            </a:extLst>
          </p:cNvPr>
          <p:cNvSpPr txBox="1"/>
          <p:nvPr/>
        </p:nvSpPr>
        <p:spPr>
          <a:xfrm>
            <a:off x="10763791" y="3349197"/>
            <a:ext cx="1244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FFFFFF"/>
                </a:solidFill>
                <a:latin typeface="Aptos" panose="020B0004020202020204" pitchFamily="34" charset="0"/>
              </a:rPr>
              <a:t>Support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B2BB01FC-3A28-2927-3F1D-D23CB2DD5D86}"/>
              </a:ext>
            </a:extLst>
          </p:cNvPr>
          <p:cNvSpPr txBox="1"/>
          <p:nvPr/>
        </p:nvSpPr>
        <p:spPr>
          <a:xfrm>
            <a:off x="12998045" y="3326264"/>
            <a:ext cx="1244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FFFFFF"/>
                </a:solidFill>
                <a:latin typeface="Aptos" panose="020B0004020202020204" pitchFamily="34" charset="0"/>
              </a:rPr>
              <a:t>Improve</a:t>
            </a:r>
          </a:p>
        </p:txBody>
      </p:sp>
      <p:sp>
        <p:nvSpPr>
          <p:cNvPr id="47" name="Rectangle: Rounded Corners 46">
            <a:hlinkClick r:id="rId4"/>
            <a:extLst>
              <a:ext uri="{FF2B5EF4-FFF2-40B4-BE49-F238E27FC236}">
                <a16:creationId xmlns:a16="http://schemas.microsoft.com/office/drawing/2014/main" id="{EBEF8207-128D-38EC-4EBF-EE5526EFF236}"/>
              </a:ext>
            </a:extLst>
          </p:cNvPr>
          <p:cNvSpPr/>
          <p:nvPr/>
        </p:nvSpPr>
        <p:spPr>
          <a:xfrm>
            <a:off x="10896600" y="8064500"/>
            <a:ext cx="4635500" cy="609600"/>
          </a:xfrm>
          <a:prstGeom prst="roundRect">
            <a:avLst/>
          </a:prstGeom>
          <a:solidFill>
            <a:srgbClr val="F49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500" b="1" dirty="0">
                <a:solidFill>
                  <a:srgbClr val="111111"/>
                </a:solidFill>
                <a:latin typeface="Aptos" panose="020B0004020202020204" pitchFamily="34" charset="0"/>
              </a:rPr>
              <a:t>Demo Link: </a:t>
            </a:r>
            <a:r>
              <a:rPr lang="en-US" sz="1600" dirty="0">
                <a:solidFill>
                  <a:schemeClr val="tx1"/>
                </a:solidFill>
              </a:rPr>
              <a:t>https://eecdemo.vercel.app</a:t>
            </a:r>
            <a:endParaRPr lang="en-US" sz="1500" b="1" dirty="0">
              <a:solidFill>
                <a:schemeClr val="tx1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33758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738A711-63A6-CDFE-972E-CFDD549248DE}"/>
              </a:ext>
            </a:extLst>
          </p:cNvPr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F6FAF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E89E6DA-2A1C-9ABA-4F25-47BC1CE8EE6A}"/>
              </a:ext>
            </a:extLst>
          </p:cNvPr>
          <p:cNvSpPr/>
          <p:nvPr/>
        </p:nvSpPr>
        <p:spPr>
          <a:xfrm>
            <a:off x="0" y="0"/>
            <a:ext cx="16256000" cy="889000"/>
          </a:xfrm>
          <a:prstGeom prst="rect">
            <a:avLst/>
          </a:prstGeom>
          <a:solidFill>
            <a:srgbClr val="183B5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15EABBA-3852-1BBF-EED0-350C9BD29692}"/>
              </a:ext>
            </a:extLst>
          </p:cNvPr>
          <p:cNvSpPr txBox="1"/>
          <p:nvPr/>
        </p:nvSpPr>
        <p:spPr>
          <a:xfrm>
            <a:off x="11811000" y="254000"/>
            <a:ext cx="3810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r"/>
            <a:r>
              <a:rPr lang="en-US" sz="1400">
                <a:solidFill>
                  <a:srgbClr val="F2EAE2"/>
                </a:solidFill>
                <a:latin typeface="Aptos" panose="020B0004020202020204" pitchFamily="34" charset="0"/>
              </a:rPr>
              <a:t>Implementation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4EE5F7C-5DCA-1DB6-3BB5-0872968EEEC3}"/>
              </a:ext>
            </a:extLst>
          </p:cNvPr>
          <p:cNvSpPr txBox="1"/>
          <p:nvPr/>
        </p:nvSpPr>
        <p:spPr>
          <a:xfrm>
            <a:off x="736600" y="1244600"/>
            <a:ext cx="10414000" cy="61555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3400" b="1">
                <a:solidFill>
                  <a:srgbClr val="183B56"/>
                </a:solidFill>
                <a:latin typeface="Aptos" panose="020B0004020202020204" pitchFamily="34" charset="0"/>
              </a:rPr>
              <a:t>Safe and Practical Implementation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9D764DB-384E-626B-FB59-82EED125CEC4}"/>
              </a:ext>
            </a:extLst>
          </p:cNvPr>
          <p:cNvSpPr txBox="1"/>
          <p:nvPr/>
        </p:nvSpPr>
        <p:spPr>
          <a:xfrm>
            <a:off x="787400" y="1993900"/>
            <a:ext cx="11430000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>
                <a:solidFill>
                  <a:srgbClr val="4B4152"/>
                </a:solidFill>
                <a:latin typeface="Aptos" panose="020B0004020202020204" pitchFamily="34" charset="0"/>
              </a:rPr>
              <a:t>Built for real schools, real classrooms, existing constraints, and gradual adoption.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D1D157C6-D77F-BB0C-D52F-EBFB648E1963}"/>
              </a:ext>
            </a:extLst>
          </p:cNvPr>
          <p:cNvSpPr/>
          <p:nvPr/>
        </p:nvSpPr>
        <p:spPr>
          <a:xfrm>
            <a:off x="914400" y="2984500"/>
            <a:ext cx="4318000" cy="3619500"/>
          </a:xfrm>
          <a:prstGeom prst="roundRect">
            <a:avLst/>
          </a:prstGeom>
          <a:solidFill>
            <a:srgbClr val="FFFFFF"/>
          </a:solidFill>
          <a:ln>
            <a:solidFill>
              <a:srgbClr val="D8DE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BE30236-79FC-D27B-1E28-A36964FB1D57}"/>
              </a:ext>
            </a:extLst>
          </p:cNvPr>
          <p:cNvSpPr txBox="1"/>
          <p:nvPr/>
        </p:nvSpPr>
        <p:spPr>
          <a:xfrm>
            <a:off x="1117600" y="3136900"/>
            <a:ext cx="3911600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2000" b="1" dirty="0">
                <a:solidFill>
                  <a:srgbClr val="183B56"/>
                </a:solidFill>
                <a:latin typeface="Aptos" panose="020B0004020202020204" pitchFamily="34" charset="0"/>
              </a:rPr>
              <a:t>Practical Adoption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3620DD3-AA17-2101-8C29-FF7693F1C04F}"/>
              </a:ext>
            </a:extLst>
          </p:cNvPr>
          <p:cNvSpPr txBox="1"/>
          <p:nvPr/>
        </p:nvSpPr>
        <p:spPr>
          <a:xfrm>
            <a:off x="1117600" y="3594100"/>
            <a:ext cx="3911600" cy="286232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dirty="0">
                <a:solidFill>
                  <a:srgbClr val="42382D"/>
                </a:solidFill>
                <a:latin typeface="Aptos" panose="020B0004020202020204" pitchFamily="34" charset="0"/>
              </a:rPr>
              <a:t>• Compact hybrid solution for  </a:t>
            </a:r>
          </a:p>
          <a:p>
            <a:r>
              <a:rPr lang="en-US" dirty="0">
                <a:solidFill>
                  <a:srgbClr val="42382D"/>
                </a:solidFill>
                <a:latin typeface="Aptos" panose="020B0004020202020204" pitchFamily="34" charset="0"/>
              </a:rPr>
              <a:t>    proficiency-based learning.</a:t>
            </a:r>
          </a:p>
          <a:p>
            <a:r>
              <a:rPr lang="en-US" dirty="0">
                <a:solidFill>
                  <a:srgbClr val="42382D"/>
                </a:solidFill>
                <a:latin typeface="Aptos" panose="020B0004020202020204" pitchFamily="34" charset="0"/>
              </a:rPr>
              <a:t>• Works with formative, summative, </a:t>
            </a:r>
          </a:p>
          <a:p>
            <a:r>
              <a:rPr lang="en-US" dirty="0">
                <a:solidFill>
                  <a:srgbClr val="42382D"/>
                </a:solidFill>
                <a:latin typeface="Aptos" panose="020B0004020202020204" pitchFamily="34" charset="0"/>
              </a:rPr>
              <a:t>   and backward curriculum mapping.</a:t>
            </a:r>
          </a:p>
          <a:p>
            <a:r>
              <a:rPr lang="en-US" dirty="0">
                <a:solidFill>
                  <a:srgbClr val="42382D"/>
                </a:solidFill>
                <a:latin typeface="Aptos" panose="020B0004020202020204" pitchFamily="34" charset="0"/>
              </a:rPr>
              <a:t>• Can support schools where </a:t>
            </a:r>
          </a:p>
          <a:p>
            <a:r>
              <a:rPr lang="en-US" dirty="0">
                <a:solidFill>
                  <a:srgbClr val="42382D"/>
                </a:solidFill>
                <a:latin typeface="Aptos" panose="020B0004020202020204" pitchFamily="34" charset="0"/>
              </a:rPr>
              <a:t>    technical infrastructure is still </a:t>
            </a:r>
          </a:p>
          <a:p>
            <a:r>
              <a:rPr lang="en-US" dirty="0">
                <a:solidFill>
                  <a:srgbClr val="42382D"/>
                </a:solidFill>
                <a:latin typeface="Aptos" panose="020B0004020202020204" pitchFamily="34" charset="0"/>
              </a:rPr>
              <a:t>    developing.</a:t>
            </a:r>
          </a:p>
          <a:p>
            <a:r>
              <a:rPr lang="en-US" dirty="0">
                <a:solidFill>
                  <a:srgbClr val="42382D"/>
                </a:solidFill>
                <a:latin typeface="Aptos" panose="020B0004020202020204" pitchFamily="34" charset="0"/>
              </a:rPr>
              <a:t>• Reduces administrative pressure </a:t>
            </a:r>
          </a:p>
          <a:p>
            <a:r>
              <a:rPr lang="en-US" dirty="0">
                <a:solidFill>
                  <a:srgbClr val="42382D"/>
                </a:solidFill>
                <a:latin typeface="Aptos" panose="020B0004020202020204" pitchFamily="34" charset="0"/>
              </a:rPr>
              <a:t>    instead of creating another </a:t>
            </a:r>
          </a:p>
          <a:p>
            <a:r>
              <a:rPr lang="en-US" dirty="0">
                <a:solidFill>
                  <a:srgbClr val="42382D"/>
                </a:solidFill>
                <a:latin typeface="Aptos" panose="020B0004020202020204" pitchFamily="34" charset="0"/>
              </a:rPr>
              <a:t>    disconnected process.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35BDAFB6-600F-6A4A-8586-8C0B9755F6CE}"/>
              </a:ext>
            </a:extLst>
          </p:cNvPr>
          <p:cNvSpPr/>
          <p:nvPr/>
        </p:nvSpPr>
        <p:spPr>
          <a:xfrm>
            <a:off x="5969000" y="2984500"/>
            <a:ext cx="4318000" cy="3619500"/>
          </a:xfrm>
          <a:prstGeom prst="roundRect">
            <a:avLst/>
          </a:prstGeom>
          <a:solidFill>
            <a:srgbClr val="FFFFFF"/>
          </a:solidFill>
          <a:ln>
            <a:solidFill>
              <a:srgbClr val="D8DE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202DFDA-A1C4-FAEA-BE08-576429DF04D1}"/>
              </a:ext>
            </a:extLst>
          </p:cNvPr>
          <p:cNvSpPr txBox="1"/>
          <p:nvPr/>
        </p:nvSpPr>
        <p:spPr>
          <a:xfrm>
            <a:off x="6172200" y="3136900"/>
            <a:ext cx="3911600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2000" b="1" dirty="0">
                <a:solidFill>
                  <a:srgbClr val="86880E"/>
                </a:solidFill>
                <a:latin typeface="Aptos" panose="020B0004020202020204" pitchFamily="34" charset="0"/>
              </a:rPr>
              <a:t>School Readiness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E4787D1-38AA-BF56-AD20-7F0309B629CB}"/>
              </a:ext>
            </a:extLst>
          </p:cNvPr>
          <p:cNvSpPr txBox="1"/>
          <p:nvPr/>
        </p:nvSpPr>
        <p:spPr>
          <a:xfrm>
            <a:off x="6172200" y="3594100"/>
            <a:ext cx="3911600" cy="286232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dirty="0">
                <a:solidFill>
                  <a:srgbClr val="42382D"/>
                </a:solidFill>
                <a:latin typeface="Aptos" panose="020B0004020202020204" pitchFamily="34" charset="0"/>
              </a:rPr>
              <a:t>• Uses present data for improvement, </a:t>
            </a:r>
            <a:br>
              <a:rPr lang="en-US" dirty="0">
                <a:solidFill>
                  <a:srgbClr val="42382D"/>
                </a:solidFill>
                <a:latin typeface="Aptos" panose="020B0004020202020204" pitchFamily="34" charset="0"/>
              </a:rPr>
            </a:br>
            <a:r>
              <a:rPr lang="en-US" dirty="0">
                <a:solidFill>
                  <a:srgbClr val="42382D"/>
                </a:solidFill>
                <a:latin typeface="Aptos" panose="020B0004020202020204" pitchFamily="34" charset="0"/>
              </a:rPr>
              <a:t>   planning, and decision-making.</a:t>
            </a:r>
          </a:p>
          <a:p>
            <a:r>
              <a:rPr lang="en-US" dirty="0">
                <a:solidFill>
                  <a:srgbClr val="42382D"/>
                </a:solidFill>
                <a:latin typeface="Aptos" panose="020B0004020202020204" pitchFamily="34" charset="0"/>
              </a:rPr>
              <a:t>• Supports management, teachers, </a:t>
            </a:r>
          </a:p>
          <a:p>
            <a:r>
              <a:rPr lang="en-US" dirty="0">
                <a:solidFill>
                  <a:srgbClr val="42382D"/>
                </a:solidFill>
                <a:latin typeface="Aptos" panose="020B0004020202020204" pitchFamily="34" charset="0"/>
              </a:rPr>
              <a:t>   and students through phased  </a:t>
            </a:r>
          </a:p>
          <a:p>
            <a:r>
              <a:rPr lang="en-US" dirty="0">
                <a:solidFill>
                  <a:srgbClr val="42382D"/>
                </a:solidFill>
                <a:latin typeface="Aptos" panose="020B0004020202020204" pitchFamily="34" charset="0"/>
              </a:rPr>
              <a:t>   onboarding.</a:t>
            </a:r>
          </a:p>
          <a:p>
            <a:r>
              <a:rPr lang="en-US" dirty="0">
                <a:solidFill>
                  <a:srgbClr val="42382D"/>
                </a:solidFill>
                <a:latin typeface="Aptos" panose="020B0004020202020204" pitchFamily="34" charset="0"/>
              </a:rPr>
              <a:t>• Keeps records, assessments, </a:t>
            </a:r>
          </a:p>
          <a:p>
            <a:r>
              <a:rPr lang="en-US" dirty="0">
                <a:solidFill>
                  <a:srgbClr val="42382D"/>
                </a:solidFill>
                <a:latin typeface="Aptos" panose="020B0004020202020204" pitchFamily="34" charset="0"/>
              </a:rPr>
              <a:t>   documentation, and </a:t>
            </a:r>
          </a:p>
          <a:p>
            <a:r>
              <a:rPr lang="en-US" dirty="0">
                <a:solidFill>
                  <a:srgbClr val="42382D"/>
                </a:solidFill>
                <a:latin typeface="Aptos" panose="020B0004020202020204" pitchFamily="34" charset="0"/>
              </a:rPr>
              <a:t>   communication structured.</a:t>
            </a:r>
          </a:p>
          <a:p>
            <a:r>
              <a:rPr lang="en-US" dirty="0">
                <a:solidFill>
                  <a:srgbClr val="42382D"/>
                </a:solidFill>
                <a:latin typeface="Aptos" panose="020B0004020202020204" pitchFamily="34" charset="0"/>
              </a:rPr>
              <a:t>• Improves resource allocation and </a:t>
            </a:r>
          </a:p>
          <a:p>
            <a:r>
              <a:rPr lang="en-US" dirty="0">
                <a:solidFill>
                  <a:srgbClr val="42382D"/>
                </a:solidFill>
                <a:latin typeface="Aptos" panose="020B0004020202020204" pitchFamily="34" charset="0"/>
              </a:rPr>
              <a:t>   makes progress easier to review.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7568B5C6-4C13-C4B5-1E7C-10B8BC06590F}"/>
              </a:ext>
            </a:extLst>
          </p:cNvPr>
          <p:cNvSpPr/>
          <p:nvPr/>
        </p:nvSpPr>
        <p:spPr>
          <a:xfrm>
            <a:off x="11023600" y="2984500"/>
            <a:ext cx="4318000" cy="3619500"/>
          </a:xfrm>
          <a:prstGeom prst="roundRect">
            <a:avLst/>
          </a:prstGeom>
          <a:solidFill>
            <a:srgbClr val="FFFFFF"/>
          </a:solidFill>
          <a:ln>
            <a:solidFill>
              <a:srgbClr val="D8DE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0D26979-472B-0A7A-0E99-424321D90C9E}"/>
              </a:ext>
            </a:extLst>
          </p:cNvPr>
          <p:cNvSpPr txBox="1"/>
          <p:nvPr/>
        </p:nvSpPr>
        <p:spPr>
          <a:xfrm>
            <a:off x="11226800" y="3136900"/>
            <a:ext cx="3911600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2000" b="1" dirty="0">
                <a:solidFill>
                  <a:srgbClr val="09A370"/>
                </a:solidFill>
                <a:latin typeface="Aptos" panose="020B0004020202020204" pitchFamily="34" charset="0"/>
              </a:rPr>
              <a:t>Risk-Aware Rollout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AF9AE19-6E49-693C-1464-C3065B58ADAF}"/>
              </a:ext>
            </a:extLst>
          </p:cNvPr>
          <p:cNvSpPr txBox="1"/>
          <p:nvPr/>
        </p:nvSpPr>
        <p:spPr>
          <a:xfrm>
            <a:off x="11226800" y="3594100"/>
            <a:ext cx="3911600" cy="230832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dirty="0">
                <a:solidFill>
                  <a:srgbClr val="42382D"/>
                </a:solidFill>
                <a:latin typeface="Aptos" panose="020B0004020202020204" pitchFamily="34" charset="0"/>
              </a:rPr>
              <a:t>• Start with a pilot class or subject.</a:t>
            </a:r>
          </a:p>
          <a:p>
            <a:r>
              <a:rPr lang="en-US" dirty="0">
                <a:solidFill>
                  <a:srgbClr val="42382D"/>
                </a:solidFill>
                <a:latin typeface="Aptos" panose="020B0004020202020204" pitchFamily="34" charset="0"/>
              </a:rPr>
              <a:t>• Validate workflows with teachers </a:t>
            </a:r>
          </a:p>
          <a:p>
            <a:r>
              <a:rPr lang="en-US" dirty="0">
                <a:solidFill>
                  <a:srgbClr val="42382D"/>
                </a:solidFill>
                <a:latin typeface="Aptos" panose="020B0004020202020204" pitchFamily="34" charset="0"/>
              </a:rPr>
              <a:t>   before full adoption.</a:t>
            </a:r>
          </a:p>
          <a:p>
            <a:r>
              <a:rPr lang="en-US" dirty="0">
                <a:solidFill>
                  <a:srgbClr val="42382D"/>
                </a:solidFill>
                <a:latin typeface="Aptos" panose="020B0004020202020204" pitchFamily="34" charset="0"/>
              </a:rPr>
              <a:t>• Train users role by role: admin, </a:t>
            </a:r>
          </a:p>
          <a:p>
            <a:r>
              <a:rPr lang="en-US" dirty="0">
                <a:solidFill>
                  <a:srgbClr val="42382D"/>
                </a:solidFill>
                <a:latin typeface="Aptos" panose="020B0004020202020204" pitchFamily="34" charset="0"/>
              </a:rPr>
              <a:t>   teacher, parent, and student.</a:t>
            </a:r>
          </a:p>
          <a:p>
            <a:r>
              <a:rPr lang="en-US" dirty="0">
                <a:solidFill>
                  <a:srgbClr val="42382D"/>
                </a:solidFill>
                <a:latin typeface="Aptos" panose="020B0004020202020204" pitchFamily="34" charset="0"/>
              </a:rPr>
              <a:t>• Expand based on measurable </a:t>
            </a:r>
          </a:p>
          <a:p>
            <a:r>
              <a:rPr lang="en-US" dirty="0">
                <a:solidFill>
                  <a:srgbClr val="42382D"/>
                </a:solidFill>
                <a:latin typeface="Aptos" panose="020B0004020202020204" pitchFamily="34" charset="0"/>
              </a:rPr>
              <a:t>   usage, feedback, and learning </a:t>
            </a:r>
          </a:p>
          <a:p>
            <a:r>
              <a:rPr lang="en-US" dirty="0">
                <a:solidFill>
                  <a:srgbClr val="42382D"/>
                </a:solidFill>
                <a:latin typeface="Aptos" panose="020B0004020202020204" pitchFamily="34" charset="0"/>
              </a:rPr>
              <a:t>   outcomes.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51B5135-2200-BD9A-DA8B-EF8C7C7C48E9}"/>
              </a:ext>
            </a:extLst>
          </p:cNvPr>
          <p:cNvSpPr txBox="1"/>
          <p:nvPr/>
        </p:nvSpPr>
        <p:spPr>
          <a:xfrm>
            <a:off x="914400" y="7569200"/>
            <a:ext cx="9652000" cy="3847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900" b="1">
                <a:solidFill>
                  <a:srgbClr val="86880E"/>
                </a:solidFill>
                <a:latin typeface="Aptos" panose="020B0004020202020204" pitchFamily="34" charset="0"/>
              </a:rPr>
              <a:t>Call to action: Start with a practical pilot and grow with confidence.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F4CA590-2B5C-1719-AC70-7A08E8252435}"/>
              </a:ext>
            </a:extLst>
          </p:cNvPr>
          <p:cNvSpPr txBox="1"/>
          <p:nvPr/>
        </p:nvSpPr>
        <p:spPr>
          <a:xfrm>
            <a:off x="1905000" y="254000"/>
            <a:ext cx="3302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400" b="1" dirty="0">
                <a:solidFill>
                  <a:srgbClr val="FFFFFF"/>
                </a:solidFill>
                <a:latin typeface="Aptos" panose="020B0004020202020204" pitchFamily="34" charset="0"/>
              </a:rPr>
              <a:t>ELECTRONIC EDUCARE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838E5DF1-DEBE-DAA8-2152-2F19164E88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23" y="32757"/>
            <a:ext cx="1348001" cy="808800"/>
          </a:xfrm>
          <a:prstGeom prst="rect">
            <a:avLst/>
          </a:prstGeom>
        </p:spPr>
      </p:pic>
      <p:sp>
        <p:nvSpPr>
          <p:cNvPr id="22" name="Rectangle: Rounded Corners 21">
            <a:hlinkClick r:id="rId3"/>
            <a:extLst>
              <a:ext uri="{FF2B5EF4-FFF2-40B4-BE49-F238E27FC236}">
                <a16:creationId xmlns:a16="http://schemas.microsoft.com/office/drawing/2014/main" id="{54013DA4-EBA5-BDBE-EB16-3F33EC7A0154}"/>
              </a:ext>
            </a:extLst>
          </p:cNvPr>
          <p:cNvSpPr/>
          <p:nvPr/>
        </p:nvSpPr>
        <p:spPr>
          <a:xfrm>
            <a:off x="10896600" y="8064500"/>
            <a:ext cx="4635500" cy="609600"/>
          </a:xfrm>
          <a:prstGeom prst="roundRect">
            <a:avLst/>
          </a:prstGeom>
          <a:solidFill>
            <a:srgbClr val="F49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500" b="1" dirty="0">
                <a:solidFill>
                  <a:srgbClr val="111111"/>
                </a:solidFill>
                <a:latin typeface="Aptos" panose="020B0004020202020204" pitchFamily="34" charset="0"/>
              </a:rPr>
              <a:t>Demo Link: </a:t>
            </a:r>
            <a:r>
              <a:rPr lang="en-US" sz="1600" dirty="0">
                <a:solidFill>
                  <a:schemeClr val="tx1"/>
                </a:solidFill>
              </a:rPr>
              <a:t>https://eecdemo.vercel.app</a:t>
            </a:r>
            <a:endParaRPr lang="en-US" sz="1500" b="1" dirty="0">
              <a:solidFill>
                <a:schemeClr val="tx1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50946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209D813-0A9B-30AD-DE4E-D5C1F39FC575}"/>
              </a:ext>
            </a:extLst>
          </p:cNvPr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F6FAF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BEBA7CE-11D2-2BBB-D497-5ADE2DBEA9A7}"/>
              </a:ext>
            </a:extLst>
          </p:cNvPr>
          <p:cNvSpPr/>
          <p:nvPr/>
        </p:nvSpPr>
        <p:spPr>
          <a:xfrm>
            <a:off x="0" y="0"/>
            <a:ext cx="16256000" cy="889000"/>
          </a:xfrm>
          <a:prstGeom prst="rect">
            <a:avLst/>
          </a:prstGeom>
          <a:solidFill>
            <a:srgbClr val="183B5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12B82CF-B875-5B39-6530-83D3BAB2B6CB}"/>
              </a:ext>
            </a:extLst>
          </p:cNvPr>
          <p:cNvSpPr txBox="1"/>
          <p:nvPr/>
        </p:nvSpPr>
        <p:spPr>
          <a:xfrm>
            <a:off x="11811000" y="254000"/>
            <a:ext cx="3810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r"/>
            <a:r>
              <a:rPr lang="en-US" sz="1400">
                <a:solidFill>
                  <a:srgbClr val="F2EAE2"/>
                </a:solidFill>
                <a:latin typeface="Aptos" panose="020B0004020202020204" pitchFamily="34" charset="0"/>
              </a:rPr>
              <a:t>Mission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8DFB0F6-8FDE-AF3B-B726-FB1CD3B2E9FE}"/>
              </a:ext>
            </a:extLst>
          </p:cNvPr>
          <p:cNvSpPr txBox="1"/>
          <p:nvPr/>
        </p:nvSpPr>
        <p:spPr>
          <a:xfrm>
            <a:off x="736600" y="1244600"/>
            <a:ext cx="9652000" cy="61555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3400" b="1">
                <a:solidFill>
                  <a:srgbClr val="183B56"/>
                </a:solidFill>
                <a:latin typeface="Aptos" panose="020B0004020202020204" pitchFamily="34" charset="0"/>
              </a:rPr>
              <a:t>The Give Back Mission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BD160DB-C5C6-33E0-F9DE-C373C19BF233}"/>
              </a:ext>
            </a:extLst>
          </p:cNvPr>
          <p:cNvSpPr txBox="1"/>
          <p:nvPr/>
        </p:nvSpPr>
        <p:spPr>
          <a:xfrm>
            <a:off x="787400" y="1993900"/>
            <a:ext cx="12192000" cy="66040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dirty="0">
                <a:solidFill>
                  <a:srgbClr val="4B4152"/>
                </a:solidFill>
                <a:latin typeface="Aptos" panose="020B0004020202020204" pitchFamily="34" charset="0"/>
              </a:rPr>
              <a:t>The way we make this initiative different is the larger mission behind it: alongside the tech, EEC-ELECTRONIC EDUCARE builds a platform that gives back to the education community.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4C18FED4-C687-5C97-CD32-B637D943F3FF}"/>
              </a:ext>
            </a:extLst>
          </p:cNvPr>
          <p:cNvSpPr/>
          <p:nvPr/>
        </p:nvSpPr>
        <p:spPr>
          <a:xfrm>
            <a:off x="914400" y="3022599"/>
            <a:ext cx="4318000" cy="3183647"/>
          </a:xfrm>
          <a:prstGeom prst="roundRect">
            <a:avLst/>
          </a:prstGeom>
          <a:solidFill>
            <a:srgbClr val="FFFFFF"/>
          </a:solidFill>
          <a:ln>
            <a:solidFill>
              <a:srgbClr val="D8DE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06501C8-0D5C-D2B3-A4ED-8CDB40690F0D}"/>
              </a:ext>
            </a:extLst>
          </p:cNvPr>
          <p:cNvSpPr txBox="1"/>
          <p:nvPr/>
        </p:nvSpPr>
        <p:spPr>
          <a:xfrm>
            <a:off x="1117600" y="3175000"/>
            <a:ext cx="3911600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2000" b="1" dirty="0">
                <a:solidFill>
                  <a:srgbClr val="183B56"/>
                </a:solidFill>
                <a:latin typeface="Aptos" panose="020B0004020202020204" pitchFamily="34" charset="0"/>
              </a:rPr>
              <a:t>For Teachers (</a:t>
            </a:r>
            <a:r>
              <a:rPr lang="en-US" sz="2000" b="1" dirty="0">
                <a:solidFill>
                  <a:srgbClr val="183B56"/>
                </a:solidFill>
                <a:latin typeface="Aptos" panose="020B0004020202020204" pitchFamily="34" charset="0"/>
                <a:hlinkClick r:id="rId2"/>
              </a:rPr>
              <a:t>Demo</a:t>
            </a:r>
            <a:r>
              <a:rPr lang="en-US" sz="2000" b="1" dirty="0">
                <a:solidFill>
                  <a:srgbClr val="183B56"/>
                </a:solidFill>
                <a:latin typeface="Aptos" panose="020B0004020202020204" pitchFamily="34" charset="0"/>
              </a:rPr>
              <a:t>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DEBF570-6A15-A5F8-9E34-7F6DBDF2C673}"/>
              </a:ext>
            </a:extLst>
          </p:cNvPr>
          <p:cNvSpPr txBox="1"/>
          <p:nvPr/>
        </p:nvSpPr>
        <p:spPr>
          <a:xfrm>
            <a:off x="1117600" y="3632200"/>
            <a:ext cx="4089400" cy="230832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dirty="0">
                <a:solidFill>
                  <a:srgbClr val="42382D"/>
                </a:solidFill>
                <a:latin typeface="Aptos" panose="020B0004020202020204" pitchFamily="34" charset="0"/>
              </a:rPr>
              <a:t>• Teacher-development initiatives and </a:t>
            </a:r>
          </a:p>
          <a:p>
            <a:r>
              <a:rPr lang="en-US" dirty="0">
                <a:solidFill>
                  <a:srgbClr val="42382D"/>
                </a:solidFill>
                <a:latin typeface="Aptos" panose="020B0004020202020204" pitchFamily="34" charset="0"/>
              </a:rPr>
              <a:t>   practical training.</a:t>
            </a:r>
          </a:p>
          <a:p>
            <a:r>
              <a:rPr lang="en-US" dirty="0">
                <a:solidFill>
                  <a:srgbClr val="42382D"/>
                </a:solidFill>
                <a:latin typeface="Aptos" panose="020B0004020202020204" pitchFamily="34" charset="0"/>
              </a:rPr>
              <a:t>• Education discussion forums for </a:t>
            </a:r>
          </a:p>
          <a:p>
            <a:r>
              <a:rPr lang="en-US" dirty="0">
                <a:solidFill>
                  <a:srgbClr val="42382D"/>
                </a:solidFill>
                <a:latin typeface="Aptos" panose="020B0004020202020204" pitchFamily="34" charset="0"/>
              </a:rPr>
              <a:t>   sharing classroom ideas and </a:t>
            </a:r>
          </a:p>
          <a:p>
            <a:r>
              <a:rPr lang="en-US" dirty="0">
                <a:solidFill>
                  <a:srgbClr val="42382D"/>
                </a:solidFill>
                <a:latin typeface="Aptos" panose="020B0004020202020204" pitchFamily="34" charset="0"/>
              </a:rPr>
              <a:t>   challenges.</a:t>
            </a:r>
          </a:p>
          <a:p>
            <a:r>
              <a:rPr lang="en-US" dirty="0">
                <a:solidFill>
                  <a:srgbClr val="42382D"/>
                </a:solidFill>
                <a:latin typeface="Aptos" panose="020B0004020202020204" pitchFamily="34" charset="0"/>
              </a:rPr>
              <a:t>• Knowledge events, workshops, and </a:t>
            </a:r>
          </a:p>
          <a:p>
            <a:r>
              <a:rPr lang="en-US" dirty="0">
                <a:solidFill>
                  <a:srgbClr val="42382D"/>
                </a:solidFill>
                <a:latin typeface="Aptos" panose="020B0004020202020204" pitchFamily="34" charset="0"/>
              </a:rPr>
              <a:t>   progressive assessment practices for </a:t>
            </a:r>
          </a:p>
          <a:p>
            <a:r>
              <a:rPr lang="en-US" dirty="0">
                <a:solidFill>
                  <a:srgbClr val="42382D"/>
                </a:solidFill>
                <a:latin typeface="Aptos" panose="020B0004020202020204" pitchFamily="34" charset="0"/>
              </a:rPr>
              <a:t>   rapidly changing times.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D6F251AD-CC0E-3155-511F-6C3E8298465B}"/>
              </a:ext>
            </a:extLst>
          </p:cNvPr>
          <p:cNvSpPr/>
          <p:nvPr/>
        </p:nvSpPr>
        <p:spPr>
          <a:xfrm>
            <a:off x="5969000" y="3022600"/>
            <a:ext cx="4318000" cy="3183646"/>
          </a:xfrm>
          <a:prstGeom prst="roundRect">
            <a:avLst/>
          </a:prstGeom>
          <a:solidFill>
            <a:srgbClr val="FFFFFF"/>
          </a:solidFill>
          <a:ln>
            <a:solidFill>
              <a:srgbClr val="D8DE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725FC2B-953F-2A97-A6D6-B4D3F074F4F3}"/>
              </a:ext>
            </a:extLst>
          </p:cNvPr>
          <p:cNvSpPr txBox="1"/>
          <p:nvPr/>
        </p:nvSpPr>
        <p:spPr>
          <a:xfrm>
            <a:off x="6172200" y="3175000"/>
            <a:ext cx="3911600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2000" b="1" dirty="0">
                <a:solidFill>
                  <a:srgbClr val="86880E"/>
                </a:solidFill>
                <a:latin typeface="Aptos" panose="020B0004020202020204" pitchFamily="34" charset="0"/>
              </a:rPr>
              <a:t>For Students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852630F-8093-C078-EA57-6B5C9685B4B1}"/>
              </a:ext>
            </a:extLst>
          </p:cNvPr>
          <p:cNvSpPr txBox="1"/>
          <p:nvPr/>
        </p:nvSpPr>
        <p:spPr>
          <a:xfrm>
            <a:off x="6172200" y="3632200"/>
            <a:ext cx="4114800" cy="230832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dirty="0">
                <a:solidFill>
                  <a:srgbClr val="42382D"/>
                </a:solidFill>
                <a:latin typeface="Aptos" panose="020B0004020202020204" pitchFamily="34" charset="0"/>
              </a:rPr>
              <a:t>• Achievement points when students </a:t>
            </a:r>
          </a:p>
          <a:p>
            <a:r>
              <a:rPr lang="en-US" dirty="0">
                <a:solidFill>
                  <a:srgbClr val="42382D"/>
                </a:solidFill>
                <a:latin typeface="Aptos" panose="020B0004020202020204" pitchFamily="34" charset="0"/>
              </a:rPr>
              <a:t>   attempt to learn independently.</a:t>
            </a:r>
          </a:p>
          <a:p>
            <a:r>
              <a:rPr lang="en-US" dirty="0">
                <a:solidFill>
                  <a:srgbClr val="42382D"/>
                </a:solidFill>
                <a:latin typeface="Aptos" panose="020B0004020202020204" pitchFamily="34" charset="0"/>
              </a:rPr>
              <a:t>• Badges, milestones, streaks, and </a:t>
            </a:r>
          </a:p>
          <a:p>
            <a:r>
              <a:rPr lang="en-US" dirty="0">
                <a:solidFill>
                  <a:srgbClr val="42382D"/>
                </a:solidFill>
                <a:latin typeface="Aptos" panose="020B0004020202020204" pitchFamily="34" charset="0"/>
              </a:rPr>
              <a:t>   progress recognition for practice and </a:t>
            </a:r>
          </a:p>
          <a:p>
            <a:r>
              <a:rPr lang="en-US" dirty="0">
                <a:solidFill>
                  <a:srgbClr val="42382D"/>
                </a:solidFill>
                <a:latin typeface="Aptos" panose="020B0004020202020204" pitchFamily="34" charset="0"/>
              </a:rPr>
              <a:t>   reflection.</a:t>
            </a:r>
          </a:p>
          <a:p>
            <a:r>
              <a:rPr lang="en-US" dirty="0">
                <a:solidFill>
                  <a:srgbClr val="42382D"/>
                </a:solidFill>
                <a:latin typeface="Aptos" panose="020B0004020202020204" pitchFamily="34" charset="0"/>
              </a:rPr>
              <a:t>• Motivation that rewards effort, </a:t>
            </a:r>
          </a:p>
          <a:p>
            <a:r>
              <a:rPr lang="en-US" dirty="0">
                <a:solidFill>
                  <a:srgbClr val="42382D"/>
                </a:solidFill>
                <a:latin typeface="Aptos" panose="020B0004020202020204" pitchFamily="34" charset="0"/>
              </a:rPr>
              <a:t>   consistency, curiosity, and </a:t>
            </a:r>
          </a:p>
          <a:p>
            <a:r>
              <a:rPr lang="en-US" dirty="0">
                <a:solidFill>
                  <a:srgbClr val="42382D"/>
                </a:solidFill>
                <a:latin typeface="Aptos" panose="020B0004020202020204" pitchFamily="34" charset="0"/>
              </a:rPr>
              <a:t>   improvement.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9E85B769-22CB-B15B-5B09-DA246C2F0A04}"/>
              </a:ext>
            </a:extLst>
          </p:cNvPr>
          <p:cNvSpPr/>
          <p:nvPr/>
        </p:nvSpPr>
        <p:spPr>
          <a:xfrm>
            <a:off x="11023600" y="3022600"/>
            <a:ext cx="4318000" cy="3183646"/>
          </a:xfrm>
          <a:prstGeom prst="roundRect">
            <a:avLst/>
          </a:prstGeom>
          <a:solidFill>
            <a:srgbClr val="FFFFFF"/>
          </a:solidFill>
          <a:ln>
            <a:solidFill>
              <a:srgbClr val="D8DE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94FF0F0-EF11-05C6-7064-7381FCC45E13}"/>
              </a:ext>
            </a:extLst>
          </p:cNvPr>
          <p:cNvSpPr txBox="1"/>
          <p:nvPr/>
        </p:nvSpPr>
        <p:spPr>
          <a:xfrm>
            <a:off x="11226800" y="3175000"/>
            <a:ext cx="3911600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2000" b="1" dirty="0">
                <a:solidFill>
                  <a:srgbClr val="09A370"/>
                </a:solidFill>
                <a:latin typeface="Aptos" panose="020B0004020202020204" pitchFamily="34" charset="0"/>
              </a:rPr>
              <a:t>For The Ecosystem 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73A3F47-6FC8-124D-2630-1449B5D46ED1}"/>
              </a:ext>
            </a:extLst>
          </p:cNvPr>
          <p:cNvSpPr txBox="1"/>
          <p:nvPr/>
        </p:nvSpPr>
        <p:spPr>
          <a:xfrm>
            <a:off x="11226800" y="3632200"/>
            <a:ext cx="4114800" cy="203132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dirty="0">
                <a:solidFill>
                  <a:srgbClr val="42382D"/>
                </a:solidFill>
                <a:latin typeface="Aptos" panose="020B0004020202020204" pitchFamily="34" charset="0"/>
              </a:rPr>
              <a:t>• Community initiatives that make </a:t>
            </a:r>
          </a:p>
          <a:p>
            <a:r>
              <a:rPr lang="en-US" dirty="0">
                <a:solidFill>
                  <a:srgbClr val="42382D"/>
                </a:solidFill>
                <a:latin typeface="Aptos" panose="020B0004020202020204" pitchFamily="34" charset="0"/>
              </a:rPr>
              <a:t>   education support more accessible.</a:t>
            </a:r>
          </a:p>
          <a:p>
            <a:r>
              <a:rPr lang="en-US" dirty="0">
                <a:solidFill>
                  <a:srgbClr val="42382D"/>
                </a:solidFill>
                <a:latin typeface="Aptos" panose="020B0004020202020204" pitchFamily="34" charset="0"/>
              </a:rPr>
              <a:t>• A shared space for schools, </a:t>
            </a:r>
          </a:p>
          <a:p>
            <a:r>
              <a:rPr lang="en-US" dirty="0">
                <a:solidFill>
                  <a:srgbClr val="42382D"/>
                </a:solidFill>
                <a:latin typeface="Aptos" panose="020B0004020202020204" pitchFamily="34" charset="0"/>
              </a:rPr>
              <a:t>   educators and parents.</a:t>
            </a:r>
          </a:p>
          <a:p>
            <a:r>
              <a:rPr lang="en-US" dirty="0">
                <a:solidFill>
                  <a:srgbClr val="42382D"/>
                </a:solidFill>
                <a:latin typeface="Aptos" panose="020B0004020202020204" pitchFamily="34" charset="0"/>
              </a:rPr>
              <a:t>• Continuous improvement through </a:t>
            </a:r>
          </a:p>
          <a:p>
            <a:r>
              <a:rPr lang="en-US" dirty="0">
                <a:solidFill>
                  <a:srgbClr val="42382D"/>
                </a:solidFill>
                <a:latin typeface="Aptos" panose="020B0004020202020204" pitchFamily="34" charset="0"/>
              </a:rPr>
              <a:t>    forums, events, data-backed insights, </a:t>
            </a:r>
          </a:p>
          <a:p>
            <a:r>
              <a:rPr lang="en-US" dirty="0">
                <a:solidFill>
                  <a:srgbClr val="42382D"/>
                </a:solidFill>
                <a:latin typeface="Aptos" panose="020B0004020202020204" pitchFamily="34" charset="0"/>
              </a:rPr>
              <a:t>    and real classroom feedback.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3B842922-9FB6-0A73-B58D-90AD1B9F3B15}"/>
              </a:ext>
            </a:extLst>
          </p:cNvPr>
          <p:cNvSpPr/>
          <p:nvPr/>
        </p:nvSpPr>
        <p:spPr>
          <a:xfrm>
            <a:off x="2336800" y="6550125"/>
            <a:ext cx="1651000" cy="729853"/>
          </a:xfrm>
          <a:prstGeom prst="roundRect">
            <a:avLst/>
          </a:prstGeom>
          <a:solidFill>
            <a:srgbClr val="183B5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00" b="1" dirty="0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F263EB50-C84F-FD51-3DFF-0F0974F884DE}"/>
              </a:ext>
            </a:extLst>
          </p:cNvPr>
          <p:cNvSpPr/>
          <p:nvPr/>
        </p:nvSpPr>
        <p:spPr>
          <a:xfrm>
            <a:off x="4660900" y="6550125"/>
            <a:ext cx="1651000" cy="729853"/>
          </a:xfrm>
          <a:prstGeom prst="roundRect">
            <a:avLst/>
          </a:prstGeom>
          <a:solidFill>
            <a:srgbClr val="ED1A7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00" b="1" dirty="0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6803B7BE-BBC1-FCB7-E28D-90D40FD8B327}"/>
              </a:ext>
            </a:extLst>
          </p:cNvPr>
          <p:cNvSpPr/>
          <p:nvPr/>
        </p:nvSpPr>
        <p:spPr>
          <a:xfrm>
            <a:off x="6985000" y="6540499"/>
            <a:ext cx="1651000" cy="729853"/>
          </a:xfrm>
          <a:prstGeom prst="roundRect">
            <a:avLst/>
          </a:prstGeom>
          <a:solidFill>
            <a:srgbClr val="86880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00" b="1" dirty="0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294B78C9-66DC-497E-8DBE-C432F71ABD08}"/>
              </a:ext>
            </a:extLst>
          </p:cNvPr>
          <p:cNvSpPr/>
          <p:nvPr/>
        </p:nvSpPr>
        <p:spPr>
          <a:xfrm>
            <a:off x="9461500" y="6540499"/>
            <a:ext cx="1651000" cy="729853"/>
          </a:xfrm>
          <a:prstGeom prst="roundRect">
            <a:avLst/>
          </a:prstGeom>
          <a:solidFill>
            <a:srgbClr val="09A3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00" b="1" dirty="0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66F94F6F-B861-F3D0-6A88-A6272F254C9E}"/>
              </a:ext>
            </a:extLst>
          </p:cNvPr>
          <p:cNvSpPr/>
          <p:nvPr/>
        </p:nvSpPr>
        <p:spPr>
          <a:xfrm>
            <a:off x="12065000" y="6519692"/>
            <a:ext cx="1651000" cy="729853"/>
          </a:xfrm>
          <a:prstGeom prst="roundRect">
            <a:avLst/>
          </a:prstGeom>
          <a:solidFill>
            <a:srgbClr val="62952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00" b="1" dirty="0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FA787C4-2466-902D-1FB5-1C548C866994}"/>
              </a:ext>
            </a:extLst>
          </p:cNvPr>
          <p:cNvSpPr txBox="1"/>
          <p:nvPr/>
        </p:nvSpPr>
        <p:spPr>
          <a:xfrm>
            <a:off x="914400" y="7569200"/>
            <a:ext cx="10033000" cy="3847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900" b="1">
                <a:solidFill>
                  <a:srgbClr val="86880E"/>
                </a:solidFill>
                <a:latin typeface="Aptos" panose="020B0004020202020204" pitchFamily="34" charset="0"/>
              </a:rPr>
              <a:t>Call to action: Partner with EEC to create measurable educational impact.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1D9FC48-3231-9D04-0ACC-FE0168DA296F}"/>
              </a:ext>
            </a:extLst>
          </p:cNvPr>
          <p:cNvSpPr txBox="1"/>
          <p:nvPr/>
        </p:nvSpPr>
        <p:spPr>
          <a:xfrm>
            <a:off x="1905000" y="254000"/>
            <a:ext cx="3302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400" b="1" dirty="0">
                <a:solidFill>
                  <a:srgbClr val="FFFFFF"/>
                </a:solidFill>
                <a:latin typeface="Aptos" panose="020B0004020202020204" pitchFamily="34" charset="0"/>
              </a:rPr>
              <a:t>ELECTRONIC EDUCARE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2532BE8A-FE68-4EA0-4D28-491B030B95F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23" y="32757"/>
            <a:ext cx="1348001" cy="808800"/>
          </a:xfrm>
          <a:prstGeom prst="rect">
            <a:avLst/>
          </a:prstGeom>
        </p:spPr>
      </p:pic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C2C543BF-91BA-50F8-436D-A9C2DF33852B}"/>
              </a:ext>
            </a:extLst>
          </p:cNvPr>
          <p:cNvCxnSpPr>
            <a:stCxn id="18" idx="3"/>
            <a:endCxn id="19" idx="1"/>
          </p:cNvCxnSpPr>
          <p:nvPr/>
        </p:nvCxnSpPr>
        <p:spPr>
          <a:xfrm>
            <a:off x="3987800" y="6915052"/>
            <a:ext cx="6731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7284BAF0-B4FB-D84D-D360-3BF15D7F9430}"/>
              </a:ext>
            </a:extLst>
          </p:cNvPr>
          <p:cNvCxnSpPr>
            <a:cxnSpLocks/>
            <a:stCxn id="19" idx="3"/>
            <a:endCxn id="20" idx="1"/>
          </p:cNvCxnSpPr>
          <p:nvPr/>
        </p:nvCxnSpPr>
        <p:spPr>
          <a:xfrm flipV="1">
            <a:off x="6311900" y="6905426"/>
            <a:ext cx="673100" cy="962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6DD532FE-B2DF-07B8-11ED-69DAA48F0FD3}"/>
              </a:ext>
            </a:extLst>
          </p:cNvPr>
          <p:cNvCxnSpPr>
            <a:cxnSpLocks/>
            <a:stCxn id="20" idx="3"/>
            <a:endCxn id="21" idx="1"/>
          </p:cNvCxnSpPr>
          <p:nvPr/>
        </p:nvCxnSpPr>
        <p:spPr>
          <a:xfrm>
            <a:off x="8636000" y="6905426"/>
            <a:ext cx="8255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9B1DABB7-2036-1AA7-31C7-13627E3D4D09}"/>
              </a:ext>
            </a:extLst>
          </p:cNvPr>
          <p:cNvCxnSpPr>
            <a:cxnSpLocks/>
            <a:stCxn id="21" idx="3"/>
            <a:endCxn id="22" idx="1"/>
          </p:cNvCxnSpPr>
          <p:nvPr/>
        </p:nvCxnSpPr>
        <p:spPr>
          <a:xfrm flipV="1">
            <a:off x="11112500" y="6884619"/>
            <a:ext cx="952500" cy="2080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73A8E912-78A8-193C-AE16-663BE76BCF09}"/>
              </a:ext>
            </a:extLst>
          </p:cNvPr>
          <p:cNvSpPr txBox="1"/>
          <p:nvPr/>
        </p:nvSpPr>
        <p:spPr>
          <a:xfrm>
            <a:off x="2495955" y="6656890"/>
            <a:ext cx="1473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FFFF"/>
                </a:solidFill>
                <a:latin typeface="Aptos" panose="020B0004020202020204" pitchFamily="34" charset="0"/>
              </a:rPr>
              <a:t>Develop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DD09CA0-D175-BD1C-9DB9-12545DFA0610}"/>
              </a:ext>
            </a:extLst>
          </p:cNvPr>
          <p:cNvSpPr txBox="1"/>
          <p:nvPr/>
        </p:nvSpPr>
        <p:spPr>
          <a:xfrm>
            <a:off x="4747233" y="6688435"/>
            <a:ext cx="1473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FFFFFF"/>
                </a:solidFill>
                <a:latin typeface="Aptos" panose="020B0004020202020204" pitchFamily="34" charset="0"/>
              </a:rPr>
              <a:t>Discuss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7A3021D-419E-4FE0-6865-D4DF79D16C42}"/>
              </a:ext>
            </a:extLst>
          </p:cNvPr>
          <p:cNvSpPr txBox="1"/>
          <p:nvPr/>
        </p:nvSpPr>
        <p:spPr>
          <a:xfrm>
            <a:off x="7073900" y="6691606"/>
            <a:ext cx="1473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FFFFFF"/>
                </a:solidFill>
                <a:latin typeface="Aptos" panose="020B0004020202020204" pitchFamily="34" charset="0"/>
              </a:rPr>
              <a:t>Assess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F502BA0-2474-56D0-110C-E7B92CB4D228}"/>
              </a:ext>
            </a:extLst>
          </p:cNvPr>
          <p:cNvSpPr txBox="1"/>
          <p:nvPr/>
        </p:nvSpPr>
        <p:spPr>
          <a:xfrm>
            <a:off x="9539320" y="6693163"/>
            <a:ext cx="1473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FFFFFF"/>
                </a:solidFill>
                <a:latin typeface="Aptos" panose="020B0004020202020204" pitchFamily="34" charset="0"/>
              </a:rPr>
              <a:t>Reward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E223709-B6B2-583D-DC42-B9ABFAE57044}"/>
              </a:ext>
            </a:extLst>
          </p:cNvPr>
          <p:cNvSpPr txBox="1"/>
          <p:nvPr/>
        </p:nvSpPr>
        <p:spPr>
          <a:xfrm>
            <a:off x="12123365" y="6673707"/>
            <a:ext cx="1473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FFFFFF"/>
                </a:solidFill>
                <a:latin typeface="Aptos" panose="020B0004020202020204" pitchFamily="34" charset="0"/>
              </a:rPr>
              <a:t>Grow</a:t>
            </a:r>
          </a:p>
        </p:txBody>
      </p:sp>
      <p:sp>
        <p:nvSpPr>
          <p:cNvPr id="44" name="Rectangle: Rounded Corners 43">
            <a:hlinkClick r:id="rId4"/>
            <a:extLst>
              <a:ext uri="{FF2B5EF4-FFF2-40B4-BE49-F238E27FC236}">
                <a16:creationId xmlns:a16="http://schemas.microsoft.com/office/drawing/2014/main" id="{85A9B8CA-AB3A-3E26-9950-10335FA5D8CF}"/>
              </a:ext>
            </a:extLst>
          </p:cNvPr>
          <p:cNvSpPr/>
          <p:nvPr/>
        </p:nvSpPr>
        <p:spPr>
          <a:xfrm>
            <a:off x="10896600" y="8064500"/>
            <a:ext cx="4635500" cy="609600"/>
          </a:xfrm>
          <a:prstGeom prst="roundRect">
            <a:avLst/>
          </a:prstGeom>
          <a:solidFill>
            <a:srgbClr val="F49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500" b="1" dirty="0">
                <a:solidFill>
                  <a:srgbClr val="111111"/>
                </a:solidFill>
                <a:latin typeface="Aptos" panose="020B0004020202020204" pitchFamily="34" charset="0"/>
              </a:rPr>
              <a:t>Demo Link: </a:t>
            </a:r>
            <a:r>
              <a:rPr lang="en-US" sz="1600" dirty="0">
                <a:solidFill>
                  <a:schemeClr val="tx1"/>
                </a:solidFill>
              </a:rPr>
              <a:t>https://eecdemo.vercel.app</a:t>
            </a:r>
            <a:endParaRPr lang="en-US" sz="1500" b="1" dirty="0">
              <a:solidFill>
                <a:schemeClr val="tx1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60620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9C286B5-74F8-BB33-3A2D-BA4C72E49901}"/>
              </a:ext>
            </a:extLst>
          </p:cNvPr>
          <p:cNvSpPr/>
          <p:nvPr/>
        </p:nvSpPr>
        <p:spPr>
          <a:xfrm>
            <a:off x="-29723" y="0"/>
            <a:ext cx="16256000" cy="9144000"/>
          </a:xfrm>
          <a:prstGeom prst="rect">
            <a:avLst/>
          </a:prstGeom>
          <a:solidFill>
            <a:srgbClr val="F6FAF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A107803-C9ED-B06C-0763-601C02DBFD12}"/>
              </a:ext>
            </a:extLst>
          </p:cNvPr>
          <p:cNvSpPr/>
          <p:nvPr/>
        </p:nvSpPr>
        <p:spPr>
          <a:xfrm>
            <a:off x="0" y="0"/>
            <a:ext cx="16256000" cy="889000"/>
          </a:xfrm>
          <a:prstGeom prst="rect">
            <a:avLst/>
          </a:prstGeom>
          <a:solidFill>
            <a:srgbClr val="183B5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42CA717-C63D-1AE5-4CBD-8059B973D31C}"/>
              </a:ext>
            </a:extLst>
          </p:cNvPr>
          <p:cNvSpPr txBox="1"/>
          <p:nvPr/>
        </p:nvSpPr>
        <p:spPr>
          <a:xfrm>
            <a:off x="11811000" y="254000"/>
            <a:ext cx="3810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r"/>
            <a:r>
              <a:rPr lang="en-US" sz="1400">
                <a:solidFill>
                  <a:srgbClr val="F2EAE2"/>
                </a:solidFill>
                <a:latin typeface="Aptos" panose="020B0004020202020204" pitchFamily="34" charset="0"/>
              </a:rPr>
              <a:t>Onboarding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028DBD5-AAED-8875-D74C-F9EB93C0807E}"/>
              </a:ext>
            </a:extLst>
          </p:cNvPr>
          <p:cNvSpPr txBox="1"/>
          <p:nvPr/>
        </p:nvSpPr>
        <p:spPr>
          <a:xfrm>
            <a:off x="736600" y="1244600"/>
            <a:ext cx="9652000" cy="61555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3400" b="1" dirty="0">
                <a:solidFill>
                  <a:srgbClr val="183B56"/>
                </a:solidFill>
                <a:latin typeface="Aptos" panose="020B0004020202020204" pitchFamily="34" charset="0"/>
              </a:rPr>
              <a:t>School Onboarding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BF24A6B-66BE-AECA-2E65-C8FE615A9B17}"/>
              </a:ext>
            </a:extLst>
          </p:cNvPr>
          <p:cNvSpPr txBox="1"/>
          <p:nvPr/>
        </p:nvSpPr>
        <p:spPr>
          <a:xfrm>
            <a:off x="787400" y="1993900"/>
            <a:ext cx="11430000" cy="64633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>
                <a:solidFill>
                  <a:srgbClr val="4B4152"/>
                </a:solidFill>
                <a:latin typeface="Aptos" panose="020B0004020202020204" pitchFamily="34" charset="0"/>
              </a:rPr>
              <a:t>A supportive onboarding path that helps schools join quickly, organise their ecosystem, and improve learning outcomes without heavy IT pressure.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D3E56E0B-6A4E-8640-94FF-E55C86418B01}"/>
              </a:ext>
            </a:extLst>
          </p:cNvPr>
          <p:cNvSpPr/>
          <p:nvPr/>
        </p:nvSpPr>
        <p:spPr>
          <a:xfrm>
            <a:off x="1270000" y="4714789"/>
            <a:ext cx="6350000" cy="2831083"/>
          </a:xfrm>
          <a:prstGeom prst="roundRect">
            <a:avLst/>
          </a:prstGeom>
          <a:solidFill>
            <a:srgbClr val="FFFFFF"/>
          </a:solidFill>
          <a:ln>
            <a:solidFill>
              <a:srgbClr val="D8DE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AC73B5F-9B00-532F-5796-206751932264}"/>
              </a:ext>
            </a:extLst>
          </p:cNvPr>
          <p:cNvSpPr txBox="1"/>
          <p:nvPr/>
        </p:nvSpPr>
        <p:spPr>
          <a:xfrm>
            <a:off x="1473200" y="4866622"/>
            <a:ext cx="6146800" cy="270843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700" b="1" dirty="0">
                <a:solidFill>
                  <a:srgbClr val="183B56"/>
                </a:solidFill>
                <a:latin typeface="Aptos" panose="020B0004020202020204" pitchFamily="34" charset="0"/>
              </a:rPr>
              <a:t>A Smooth Start for Schools</a:t>
            </a:r>
          </a:p>
          <a:p>
            <a:r>
              <a:rPr lang="en-US" sz="1700" b="1" dirty="0">
                <a:latin typeface="Aptos" panose="020B0004020202020204" pitchFamily="34" charset="0"/>
              </a:rPr>
              <a:t>• Cloud-based software with no heavy IT infrastructure </a:t>
            </a:r>
          </a:p>
          <a:p>
            <a:r>
              <a:rPr lang="en-US" sz="1700" b="1" dirty="0">
                <a:latin typeface="Aptos" panose="020B0004020202020204" pitchFamily="34" charset="0"/>
              </a:rPr>
              <a:t>   required.</a:t>
            </a:r>
          </a:p>
          <a:p>
            <a:r>
              <a:rPr lang="en-US" sz="1700" b="1" dirty="0">
                <a:latin typeface="Aptos" panose="020B0004020202020204" pitchFamily="34" charset="0"/>
              </a:rPr>
              <a:t>• Data migration or entry support to organize school </a:t>
            </a:r>
          </a:p>
          <a:p>
            <a:r>
              <a:rPr lang="en-US" sz="1700" b="1" dirty="0">
                <a:latin typeface="Aptos" panose="020B0004020202020204" pitchFamily="34" charset="0"/>
              </a:rPr>
              <a:t>   records quickly.</a:t>
            </a:r>
          </a:p>
          <a:p>
            <a:r>
              <a:rPr lang="en-US" sz="1700" b="1" dirty="0">
                <a:latin typeface="Aptos" panose="020B0004020202020204" pitchFamily="34" charset="0"/>
              </a:rPr>
              <a:t>• Staff and system training so teachers, admins, and </a:t>
            </a:r>
          </a:p>
          <a:p>
            <a:r>
              <a:rPr lang="en-US" sz="1700" b="1" dirty="0">
                <a:latin typeface="Aptos" panose="020B0004020202020204" pitchFamily="34" charset="0"/>
              </a:rPr>
              <a:t>   parents can use the platform confidently.</a:t>
            </a:r>
          </a:p>
          <a:p>
            <a:r>
              <a:rPr lang="en-US" sz="1700" b="1" dirty="0">
                <a:latin typeface="Aptos" panose="020B0004020202020204" pitchFamily="34" charset="0"/>
              </a:rPr>
              <a:t>• Early optimization to help the school ecosystem move </a:t>
            </a:r>
          </a:p>
          <a:p>
            <a:r>
              <a:rPr lang="en-US" sz="1700" b="1" dirty="0">
                <a:latin typeface="Aptos" panose="020B0004020202020204" pitchFamily="34" charset="0"/>
              </a:rPr>
              <a:t>   toward better child growth and stronger academic </a:t>
            </a:r>
          </a:p>
          <a:p>
            <a:r>
              <a:rPr lang="en-US" sz="1700" b="1" dirty="0">
                <a:latin typeface="Aptos" panose="020B0004020202020204" pitchFamily="34" charset="0"/>
              </a:rPr>
              <a:t>   results.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C53C63E0-CD0F-02ED-6FE6-D229F697E2D6}"/>
              </a:ext>
            </a:extLst>
          </p:cNvPr>
          <p:cNvSpPr/>
          <p:nvPr/>
        </p:nvSpPr>
        <p:spPr>
          <a:xfrm>
            <a:off x="8439150" y="4714786"/>
            <a:ext cx="6350000" cy="2831082"/>
          </a:xfrm>
          <a:prstGeom prst="roundRect">
            <a:avLst/>
          </a:prstGeom>
          <a:solidFill>
            <a:srgbClr val="FFFFFF"/>
          </a:solidFill>
          <a:ln>
            <a:solidFill>
              <a:srgbClr val="D8DE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6A7A1AC-8003-F02E-DAD4-3E3F1EC6C53C}"/>
              </a:ext>
            </a:extLst>
          </p:cNvPr>
          <p:cNvSpPr txBox="1"/>
          <p:nvPr/>
        </p:nvSpPr>
        <p:spPr>
          <a:xfrm>
            <a:off x="8716252" y="4823142"/>
            <a:ext cx="6072897" cy="270843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700" b="1" dirty="0">
                <a:solidFill>
                  <a:srgbClr val="86880E"/>
                </a:solidFill>
                <a:latin typeface="Aptos" panose="020B0004020202020204" pitchFamily="34" charset="0"/>
              </a:rPr>
              <a:t>What EEC Provides</a:t>
            </a:r>
          </a:p>
          <a:p>
            <a:r>
              <a:rPr lang="en-US" sz="1700" b="1" dirty="0">
                <a:solidFill>
                  <a:srgbClr val="86880E"/>
                </a:solidFill>
                <a:latin typeface="Aptos" panose="020B0004020202020204" pitchFamily="34" charset="0"/>
              </a:rPr>
              <a:t>• Onboarding support, training, and maintenance services.</a:t>
            </a:r>
          </a:p>
          <a:p>
            <a:r>
              <a:rPr lang="en-US" sz="1700" b="1" dirty="0">
                <a:solidFill>
                  <a:srgbClr val="86880E"/>
                </a:solidFill>
                <a:latin typeface="Aptos" panose="020B0004020202020204" pitchFamily="34" charset="0"/>
              </a:rPr>
              <a:t>• Role-based guidance for management, teachers, </a:t>
            </a:r>
          </a:p>
          <a:p>
            <a:r>
              <a:rPr lang="en-US" sz="1700" b="1" dirty="0">
                <a:solidFill>
                  <a:srgbClr val="86880E"/>
                </a:solidFill>
                <a:latin typeface="Aptos" panose="020B0004020202020204" pitchFamily="34" charset="0"/>
              </a:rPr>
              <a:t>   students, and parents.</a:t>
            </a:r>
          </a:p>
          <a:p>
            <a:r>
              <a:rPr lang="en-US" sz="1700" b="1" dirty="0">
                <a:solidFill>
                  <a:srgbClr val="86880E"/>
                </a:solidFill>
                <a:latin typeface="Aptos" panose="020B0004020202020204" pitchFamily="34" charset="0"/>
              </a:rPr>
              <a:t>• Practical setup of attendance, homework, assessments, </a:t>
            </a:r>
          </a:p>
          <a:p>
            <a:r>
              <a:rPr lang="en-US" sz="1700" b="1" dirty="0">
                <a:solidFill>
                  <a:srgbClr val="86880E"/>
                </a:solidFill>
                <a:latin typeface="Aptos" panose="020B0004020202020204" pitchFamily="34" charset="0"/>
              </a:rPr>
              <a:t>   communication, reports, and financial fee collections.</a:t>
            </a:r>
          </a:p>
          <a:p>
            <a:r>
              <a:rPr lang="en-US" sz="1700" b="1" dirty="0">
                <a:solidFill>
                  <a:srgbClr val="86880E"/>
                </a:solidFill>
                <a:latin typeface="Aptos" panose="020B0004020202020204" pitchFamily="34" charset="0"/>
              </a:rPr>
              <a:t>• Up to 4 free add-ons to help schools include extra needs </a:t>
            </a:r>
          </a:p>
          <a:p>
            <a:r>
              <a:rPr lang="en-US" sz="1700" b="1" dirty="0">
                <a:solidFill>
                  <a:srgbClr val="86880E"/>
                </a:solidFill>
                <a:latin typeface="Aptos" panose="020B0004020202020204" pitchFamily="34" charset="0"/>
              </a:rPr>
              <a:t>   during onboarding.</a:t>
            </a:r>
          </a:p>
          <a:p>
            <a:r>
              <a:rPr lang="en-US" sz="1700" b="1" dirty="0">
                <a:solidFill>
                  <a:srgbClr val="86880E"/>
                </a:solidFill>
                <a:latin typeface="Aptos" panose="020B0004020202020204" pitchFamily="34" charset="0"/>
              </a:rPr>
              <a:t>• Continuous feedback and improvement so the platform </a:t>
            </a:r>
          </a:p>
          <a:p>
            <a:r>
              <a:rPr lang="en-US" sz="1700" b="1" dirty="0">
                <a:solidFill>
                  <a:srgbClr val="86880E"/>
                </a:solidFill>
                <a:latin typeface="Aptos" panose="020B0004020202020204" pitchFamily="34" charset="0"/>
              </a:rPr>
              <a:t>   supports real school goals.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831B36C-FB25-1499-535C-FFF5333BA9AC}"/>
              </a:ext>
            </a:extLst>
          </p:cNvPr>
          <p:cNvSpPr txBox="1"/>
          <p:nvPr/>
        </p:nvSpPr>
        <p:spPr>
          <a:xfrm>
            <a:off x="1905000" y="254000"/>
            <a:ext cx="3302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400" b="1" dirty="0">
                <a:solidFill>
                  <a:srgbClr val="FFFFFF"/>
                </a:solidFill>
                <a:latin typeface="Aptos" panose="020B0004020202020204" pitchFamily="34" charset="0"/>
              </a:rPr>
              <a:t>ELECTRONIC EDUCARE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A1B5E64E-EE35-8EE1-7A3A-ADE6CE54ED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23" y="32757"/>
            <a:ext cx="1348001" cy="808800"/>
          </a:xfrm>
          <a:prstGeom prst="rect">
            <a:avLst/>
          </a:prstGeom>
        </p:spPr>
      </p:pic>
      <p:sp>
        <p:nvSpPr>
          <p:cNvPr id="26" name="Oval 25">
            <a:extLst>
              <a:ext uri="{FF2B5EF4-FFF2-40B4-BE49-F238E27FC236}">
                <a16:creationId xmlns:a16="http://schemas.microsoft.com/office/drawing/2014/main" id="{9C9DB525-95CB-62E6-2B0E-C8B5CD23AD89}"/>
              </a:ext>
            </a:extLst>
          </p:cNvPr>
          <p:cNvSpPr/>
          <p:nvPr/>
        </p:nvSpPr>
        <p:spPr>
          <a:xfrm>
            <a:off x="2048753" y="3029922"/>
            <a:ext cx="1168400" cy="1168400"/>
          </a:xfrm>
          <a:prstGeom prst="ellipse">
            <a:avLst/>
          </a:prstGeom>
          <a:solidFill>
            <a:srgbClr val="183B56"/>
          </a:solidFill>
          <a:ln w="19050" cap="flat" cmpd="sng" algn="ctr">
            <a:noFill/>
            <a:prstDash val="solid"/>
            <a:miter lim="800000"/>
          </a:ln>
          <a:effectLst>
            <a:innerShdw blurRad="114300">
              <a:prstClr val="black"/>
            </a:innerShdw>
          </a:effectLst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00" b="1" dirty="0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95C45150-3919-FA80-BE5B-728BB21CBB9B}"/>
              </a:ext>
            </a:extLst>
          </p:cNvPr>
          <p:cNvCxnSpPr>
            <a:cxnSpLocks/>
            <a:stCxn id="26" idx="6"/>
            <a:endCxn id="29" idx="2"/>
          </p:cNvCxnSpPr>
          <p:nvPr/>
        </p:nvCxnSpPr>
        <p:spPr>
          <a:xfrm>
            <a:off x="3217153" y="3614122"/>
            <a:ext cx="1054100" cy="0"/>
          </a:xfrm>
          <a:prstGeom prst="line">
            <a:avLst/>
          </a:prstGeom>
          <a:ln w="25400">
            <a:solidFill>
              <a:srgbClr val="7C909C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Oval 28">
            <a:extLst>
              <a:ext uri="{FF2B5EF4-FFF2-40B4-BE49-F238E27FC236}">
                <a16:creationId xmlns:a16="http://schemas.microsoft.com/office/drawing/2014/main" id="{2C1A66A0-A821-AF55-0CB7-48D854C1AA0C}"/>
              </a:ext>
            </a:extLst>
          </p:cNvPr>
          <p:cNvSpPr/>
          <p:nvPr/>
        </p:nvSpPr>
        <p:spPr>
          <a:xfrm>
            <a:off x="4271253" y="3029922"/>
            <a:ext cx="1168400" cy="1168400"/>
          </a:xfrm>
          <a:prstGeom prst="ellipse">
            <a:avLst/>
          </a:prstGeom>
          <a:solidFill>
            <a:srgbClr val="86880E"/>
          </a:solidFill>
          <a:ln w="19050" cap="flat" cmpd="sng" algn="ctr">
            <a:noFill/>
            <a:prstDash val="solid"/>
            <a:miter lim="800000"/>
          </a:ln>
          <a:effectLst>
            <a:innerShdw blurRad="114300">
              <a:prstClr val="black"/>
            </a:innerShdw>
          </a:effectLst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00" b="1" dirty="0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D2D2A649-B1D6-9DDB-CBE0-0E6A94B82D8A}"/>
              </a:ext>
            </a:extLst>
          </p:cNvPr>
          <p:cNvCxnSpPr>
            <a:cxnSpLocks/>
            <a:stCxn id="29" idx="6"/>
            <a:endCxn id="31" idx="2"/>
          </p:cNvCxnSpPr>
          <p:nvPr/>
        </p:nvCxnSpPr>
        <p:spPr>
          <a:xfrm>
            <a:off x="5439653" y="3614122"/>
            <a:ext cx="1054100" cy="0"/>
          </a:xfrm>
          <a:prstGeom prst="line">
            <a:avLst/>
          </a:prstGeom>
          <a:ln w="25400">
            <a:solidFill>
              <a:srgbClr val="7C909C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Oval 30">
            <a:extLst>
              <a:ext uri="{FF2B5EF4-FFF2-40B4-BE49-F238E27FC236}">
                <a16:creationId xmlns:a16="http://schemas.microsoft.com/office/drawing/2014/main" id="{8BD82F6C-FE91-EAD4-6C45-6028316502A5}"/>
              </a:ext>
            </a:extLst>
          </p:cNvPr>
          <p:cNvSpPr/>
          <p:nvPr/>
        </p:nvSpPr>
        <p:spPr>
          <a:xfrm>
            <a:off x="6493753" y="3029922"/>
            <a:ext cx="1168400" cy="1168400"/>
          </a:xfrm>
          <a:prstGeom prst="ellipse">
            <a:avLst/>
          </a:prstGeom>
          <a:solidFill>
            <a:srgbClr val="ED1A7C"/>
          </a:solidFill>
          <a:ln w="19050" cap="flat" cmpd="sng" algn="ctr">
            <a:noFill/>
            <a:prstDash val="solid"/>
            <a:miter lim="800000"/>
          </a:ln>
          <a:effectLst>
            <a:innerShdw blurRad="114300">
              <a:prstClr val="black"/>
            </a:innerShdw>
          </a:effectLst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00" b="1" dirty="0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E45DD364-DB5D-E7B1-771C-BAF995502D57}"/>
              </a:ext>
            </a:extLst>
          </p:cNvPr>
          <p:cNvCxnSpPr>
            <a:cxnSpLocks/>
            <a:stCxn id="31" idx="6"/>
            <a:endCxn id="33" idx="2"/>
          </p:cNvCxnSpPr>
          <p:nvPr/>
        </p:nvCxnSpPr>
        <p:spPr>
          <a:xfrm>
            <a:off x="7662153" y="3614122"/>
            <a:ext cx="1054100" cy="0"/>
          </a:xfrm>
          <a:prstGeom prst="line">
            <a:avLst/>
          </a:prstGeom>
          <a:ln w="25400">
            <a:solidFill>
              <a:srgbClr val="7C909C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Oval 32">
            <a:extLst>
              <a:ext uri="{FF2B5EF4-FFF2-40B4-BE49-F238E27FC236}">
                <a16:creationId xmlns:a16="http://schemas.microsoft.com/office/drawing/2014/main" id="{1DC0FB74-5961-077A-4FF3-D8A1DD2B3A42}"/>
              </a:ext>
            </a:extLst>
          </p:cNvPr>
          <p:cNvSpPr/>
          <p:nvPr/>
        </p:nvSpPr>
        <p:spPr>
          <a:xfrm>
            <a:off x="8716253" y="3029922"/>
            <a:ext cx="1168400" cy="1168400"/>
          </a:xfrm>
          <a:prstGeom prst="ellipse">
            <a:avLst/>
          </a:prstGeom>
          <a:solidFill>
            <a:srgbClr val="09A370"/>
          </a:solidFill>
          <a:ln w="19050" cap="flat" cmpd="sng" algn="ctr">
            <a:noFill/>
            <a:prstDash val="solid"/>
            <a:miter lim="800000"/>
          </a:ln>
          <a:effectLst>
            <a:innerShdw blurRad="114300">
              <a:prstClr val="black"/>
            </a:innerShdw>
          </a:effectLst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00" b="1" dirty="0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345B5FF7-24F6-54D8-0A8E-00818067DA32}"/>
              </a:ext>
            </a:extLst>
          </p:cNvPr>
          <p:cNvCxnSpPr>
            <a:cxnSpLocks/>
            <a:stCxn id="33" idx="6"/>
            <a:endCxn id="35" idx="2"/>
          </p:cNvCxnSpPr>
          <p:nvPr/>
        </p:nvCxnSpPr>
        <p:spPr>
          <a:xfrm>
            <a:off x="9884653" y="3614122"/>
            <a:ext cx="1054100" cy="0"/>
          </a:xfrm>
          <a:prstGeom prst="line">
            <a:avLst/>
          </a:prstGeom>
          <a:ln w="25400">
            <a:solidFill>
              <a:srgbClr val="7C909C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Oval 34">
            <a:extLst>
              <a:ext uri="{FF2B5EF4-FFF2-40B4-BE49-F238E27FC236}">
                <a16:creationId xmlns:a16="http://schemas.microsoft.com/office/drawing/2014/main" id="{E0F8CD7B-BF39-1EFE-75BD-7DDBEE1AA125}"/>
              </a:ext>
            </a:extLst>
          </p:cNvPr>
          <p:cNvSpPr/>
          <p:nvPr/>
        </p:nvSpPr>
        <p:spPr>
          <a:xfrm>
            <a:off x="10938753" y="3029922"/>
            <a:ext cx="1168400" cy="1168400"/>
          </a:xfrm>
          <a:prstGeom prst="ellipse">
            <a:avLst/>
          </a:prstGeom>
          <a:solidFill>
            <a:srgbClr val="62952F"/>
          </a:solidFill>
          <a:ln w="19050" cap="flat" cmpd="sng" algn="ctr">
            <a:noFill/>
            <a:prstDash val="solid"/>
            <a:miter lim="800000"/>
          </a:ln>
          <a:effectLst>
            <a:innerShdw blurRad="114300">
              <a:prstClr val="black"/>
            </a:innerShdw>
          </a:effectLst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00" b="1" dirty="0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C39740A3-1834-2E1B-52F2-D01217B28D90}"/>
              </a:ext>
            </a:extLst>
          </p:cNvPr>
          <p:cNvCxnSpPr>
            <a:cxnSpLocks/>
            <a:stCxn id="35" idx="6"/>
            <a:endCxn id="37" idx="2"/>
          </p:cNvCxnSpPr>
          <p:nvPr/>
        </p:nvCxnSpPr>
        <p:spPr>
          <a:xfrm>
            <a:off x="12107153" y="3614122"/>
            <a:ext cx="1054100" cy="0"/>
          </a:xfrm>
          <a:prstGeom prst="line">
            <a:avLst/>
          </a:prstGeom>
          <a:ln w="25400">
            <a:solidFill>
              <a:srgbClr val="7C909C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Oval 36">
            <a:extLst>
              <a:ext uri="{FF2B5EF4-FFF2-40B4-BE49-F238E27FC236}">
                <a16:creationId xmlns:a16="http://schemas.microsoft.com/office/drawing/2014/main" id="{0A972410-4E10-B5D0-6C7F-CB4D08B8FA23}"/>
              </a:ext>
            </a:extLst>
          </p:cNvPr>
          <p:cNvSpPr/>
          <p:nvPr/>
        </p:nvSpPr>
        <p:spPr>
          <a:xfrm>
            <a:off x="13161253" y="3029922"/>
            <a:ext cx="1168400" cy="1168400"/>
          </a:xfrm>
          <a:prstGeom prst="ellipse">
            <a:avLst/>
          </a:prstGeom>
          <a:solidFill>
            <a:srgbClr val="0C41C2"/>
          </a:solidFill>
          <a:ln w="19050" cap="flat" cmpd="sng" algn="ctr">
            <a:noFill/>
            <a:prstDash val="solid"/>
            <a:miter lim="800000"/>
          </a:ln>
          <a:effectLst>
            <a:innerShdw blurRad="114300">
              <a:prstClr val="black"/>
            </a:innerShdw>
          </a:effectLst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00" b="1" dirty="0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7ECD9AC-E2EE-F501-887D-ABB5819054F5}"/>
              </a:ext>
            </a:extLst>
          </p:cNvPr>
          <p:cNvSpPr txBox="1"/>
          <p:nvPr/>
        </p:nvSpPr>
        <p:spPr>
          <a:xfrm>
            <a:off x="1736117" y="3400031"/>
            <a:ext cx="17936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FFFFFF"/>
                </a:solidFill>
                <a:latin typeface="Aptos" panose="020B0004020202020204" pitchFamily="34" charset="0"/>
              </a:rPr>
              <a:t>Discovery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CED8987-0969-B368-9799-123B7280AE2E}"/>
              </a:ext>
            </a:extLst>
          </p:cNvPr>
          <p:cNvSpPr txBox="1"/>
          <p:nvPr/>
        </p:nvSpPr>
        <p:spPr>
          <a:xfrm>
            <a:off x="4030088" y="3247103"/>
            <a:ext cx="168964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FFFFFF"/>
                </a:solidFill>
                <a:latin typeface="Aptos" panose="020B0004020202020204" pitchFamily="34" charset="0"/>
              </a:rPr>
              <a:t>Quick</a:t>
            </a:r>
          </a:p>
          <a:p>
            <a:pPr algn="ctr"/>
            <a:r>
              <a:rPr lang="en-US" sz="2000" b="1" dirty="0">
                <a:solidFill>
                  <a:srgbClr val="FFFFFF"/>
                </a:solidFill>
                <a:latin typeface="Aptos" panose="020B0004020202020204" pitchFamily="34" charset="0"/>
              </a:rPr>
              <a:t>Setup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53B1808-F429-EEE2-F5BA-8422B8598E94}"/>
              </a:ext>
            </a:extLst>
          </p:cNvPr>
          <p:cNvSpPr txBox="1"/>
          <p:nvPr/>
        </p:nvSpPr>
        <p:spPr>
          <a:xfrm>
            <a:off x="6462543" y="3216038"/>
            <a:ext cx="123081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FFFFFF"/>
                </a:solidFill>
                <a:latin typeface="Aptos" panose="020B0004020202020204" pitchFamily="34" charset="0"/>
              </a:rPr>
              <a:t>Role Training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B0E1FBB-38C2-8EF6-F37D-C998A410F69A}"/>
              </a:ext>
            </a:extLst>
          </p:cNvPr>
          <p:cNvSpPr txBox="1"/>
          <p:nvPr/>
        </p:nvSpPr>
        <p:spPr>
          <a:xfrm>
            <a:off x="8695987" y="3320915"/>
            <a:ext cx="1244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rgbClr val="FFFFFF"/>
                </a:solidFill>
                <a:latin typeface="Aptos" panose="020B0004020202020204" pitchFamily="34" charset="0"/>
              </a:rPr>
              <a:t>Live Walkthrough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1A8F7A3-3470-4D63-C526-30C8C0CAF610}"/>
              </a:ext>
            </a:extLst>
          </p:cNvPr>
          <p:cNvSpPr txBox="1"/>
          <p:nvPr/>
        </p:nvSpPr>
        <p:spPr>
          <a:xfrm>
            <a:off x="10907544" y="3414066"/>
            <a:ext cx="1244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FFFFFF"/>
                </a:solidFill>
                <a:latin typeface="Aptos" panose="020B0004020202020204" pitchFamily="34" charset="0"/>
              </a:rPr>
              <a:t>Feedback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5D9AEED-8E02-0D53-9626-9E917D389C76}"/>
              </a:ext>
            </a:extLst>
          </p:cNvPr>
          <p:cNvSpPr txBox="1"/>
          <p:nvPr/>
        </p:nvSpPr>
        <p:spPr>
          <a:xfrm>
            <a:off x="13141798" y="3391133"/>
            <a:ext cx="1244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FFFFFF"/>
                </a:solidFill>
                <a:latin typeface="Aptos" panose="020B0004020202020204" pitchFamily="34" charset="0"/>
              </a:rPr>
              <a:t>Scale</a:t>
            </a:r>
          </a:p>
        </p:txBody>
      </p:sp>
      <p:sp>
        <p:nvSpPr>
          <p:cNvPr id="44" name="Rectangle: Rounded Corners 43">
            <a:hlinkClick r:id="rId3"/>
            <a:extLst>
              <a:ext uri="{FF2B5EF4-FFF2-40B4-BE49-F238E27FC236}">
                <a16:creationId xmlns:a16="http://schemas.microsoft.com/office/drawing/2014/main" id="{5E172911-843E-F4DB-8AA4-C01F69F19B7F}"/>
              </a:ext>
            </a:extLst>
          </p:cNvPr>
          <p:cNvSpPr/>
          <p:nvPr/>
        </p:nvSpPr>
        <p:spPr>
          <a:xfrm>
            <a:off x="10896600" y="8064500"/>
            <a:ext cx="4635500" cy="609600"/>
          </a:xfrm>
          <a:prstGeom prst="roundRect">
            <a:avLst/>
          </a:prstGeom>
          <a:solidFill>
            <a:srgbClr val="F49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500" b="1" dirty="0">
                <a:solidFill>
                  <a:srgbClr val="111111"/>
                </a:solidFill>
                <a:latin typeface="Aptos" panose="020B0004020202020204" pitchFamily="34" charset="0"/>
              </a:rPr>
              <a:t>Demo Link: </a:t>
            </a:r>
            <a:r>
              <a:rPr lang="en-US" sz="1600" dirty="0">
                <a:solidFill>
                  <a:schemeClr val="tx1"/>
                </a:solidFill>
              </a:rPr>
              <a:t>https://eecdemo.vercel.app</a:t>
            </a:r>
            <a:endParaRPr lang="en-US" sz="1500" b="1" dirty="0">
              <a:solidFill>
                <a:schemeClr val="tx1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676767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87CF17C-A522-2F7F-0B33-75903B63F6C8}"/>
              </a:ext>
            </a:extLst>
          </p:cNvPr>
          <p:cNvSpPr/>
          <p:nvPr/>
        </p:nvSpPr>
        <p:spPr>
          <a:xfrm>
            <a:off x="29723" y="-32757"/>
            <a:ext cx="16256000" cy="9144000"/>
          </a:xfrm>
          <a:prstGeom prst="rect">
            <a:avLst/>
          </a:prstGeom>
          <a:solidFill>
            <a:srgbClr val="F6FAF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7B2CDE7-ED80-3946-BAA7-817669A7FE50}"/>
              </a:ext>
            </a:extLst>
          </p:cNvPr>
          <p:cNvSpPr/>
          <p:nvPr/>
        </p:nvSpPr>
        <p:spPr>
          <a:xfrm>
            <a:off x="0" y="0"/>
            <a:ext cx="16256000" cy="889000"/>
          </a:xfrm>
          <a:prstGeom prst="rect">
            <a:avLst/>
          </a:prstGeom>
          <a:solidFill>
            <a:srgbClr val="183B5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B5DC4B1-B161-9070-D677-879CC99111BB}"/>
              </a:ext>
            </a:extLst>
          </p:cNvPr>
          <p:cNvSpPr txBox="1"/>
          <p:nvPr/>
        </p:nvSpPr>
        <p:spPr>
          <a:xfrm>
            <a:off x="11811000" y="254000"/>
            <a:ext cx="3810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r"/>
            <a:r>
              <a:rPr lang="en-US" sz="1400">
                <a:solidFill>
                  <a:srgbClr val="F2EAE2"/>
                </a:solidFill>
                <a:latin typeface="Aptos" panose="020B0004020202020204" pitchFamily="34" charset="0"/>
              </a:rPr>
              <a:t>Conclusion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2926CDA-1F22-BF59-49E3-BF7B85FA40E2}"/>
              </a:ext>
            </a:extLst>
          </p:cNvPr>
          <p:cNvSpPr txBox="1"/>
          <p:nvPr/>
        </p:nvSpPr>
        <p:spPr>
          <a:xfrm>
            <a:off x="736600" y="1333500"/>
            <a:ext cx="11684000" cy="5847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3200" b="1">
                <a:solidFill>
                  <a:srgbClr val="183B56"/>
                </a:solidFill>
                <a:latin typeface="Aptos" panose="020B0004020202020204" pitchFamily="34" charset="0"/>
              </a:rPr>
              <a:t>Building the Future of Education, One Learner at a Time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AD8382A-FB15-9901-F36F-56D08EDEB34D}"/>
              </a:ext>
            </a:extLst>
          </p:cNvPr>
          <p:cNvSpPr txBox="1"/>
          <p:nvPr/>
        </p:nvSpPr>
        <p:spPr>
          <a:xfrm>
            <a:off x="812800" y="2476500"/>
            <a:ext cx="12192000" cy="707886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2000">
                <a:solidFill>
                  <a:srgbClr val="4B4152"/>
                </a:solidFill>
                <a:latin typeface="Aptos" panose="020B0004020202020204" pitchFamily="34" charset="0"/>
              </a:rPr>
              <a:t>EEC - ELECTRONI EDUCARE brings AI, learning science, teacher empowerment, student motivation, and community development into one future-ready education ecosystem.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966D71EB-ABA9-BA9A-53E6-9EE1345A8BB7}"/>
              </a:ext>
            </a:extLst>
          </p:cNvPr>
          <p:cNvSpPr/>
          <p:nvPr/>
        </p:nvSpPr>
        <p:spPr>
          <a:xfrm>
            <a:off x="1219200" y="3746500"/>
            <a:ext cx="6223000" cy="3111500"/>
          </a:xfrm>
          <a:prstGeom prst="roundRect">
            <a:avLst/>
          </a:prstGeom>
          <a:solidFill>
            <a:srgbClr val="FFFFFF"/>
          </a:solidFill>
          <a:ln>
            <a:solidFill>
              <a:srgbClr val="D8DE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AB8F842-5C05-7373-DB31-879409E4C8D7}"/>
              </a:ext>
            </a:extLst>
          </p:cNvPr>
          <p:cNvSpPr txBox="1"/>
          <p:nvPr/>
        </p:nvSpPr>
        <p:spPr>
          <a:xfrm>
            <a:off x="1422400" y="3898900"/>
            <a:ext cx="5816600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2000" b="1" dirty="0">
                <a:solidFill>
                  <a:srgbClr val="86880E"/>
                </a:solidFill>
                <a:latin typeface="Aptos" panose="020B0004020202020204" pitchFamily="34" charset="0"/>
              </a:rPr>
              <a:t>Why It Matters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8B26A14-C87B-29BA-726C-142F58163982}"/>
              </a:ext>
            </a:extLst>
          </p:cNvPr>
          <p:cNvSpPr txBox="1"/>
          <p:nvPr/>
        </p:nvSpPr>
        <p:spPr>
          <a:xfrm>
            <a:off x="1422400" y="4356100"/>
            <a:ext cx="5816600" cy="203132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dirty="0">
                <a:solidFill>
                  <a:srgbClr val="42382D"/>
                </a:solidFill>
                <a:latin typeface="Aptos" panose="020B0004020202020204" pitchFamily="34" charset="0"/>
              </a:rPr>
              <a:t>• Identifies knowledge gaps and learning difficulties early.</a:t>
            </a:r>
          </a:p>
          <a:p>
            <a:r>
              <a:rPr lang="en-US" dirty="0">
                <a:solidFill>
                  <a:srgbClr val="42382D"/>
                </a:solidFill>
                <a:latin typeface="Aptos" panose="020B0004020202020204" pitchFamily="34" charset="0"/>
              </a:rPr>
              <a:t>• Personalizes support while keeping teachers central to </a:t>
            </a:r>
          </a:p>
          <a:p>
            <a:r>
              <a:rPr lang="en-US" dirty="0">
                <a:solidFill>
                  <a:srgbClr val="42382D"/>
                </a:solidFill>
                <a:latin typeface="Aptos" panose="020B0004020202020204" pitchFamily="34" charset="0"/>
              </a:rPr>
              <a:t>   the process.</a:t>
            </a:r>
          </a:p>
          <a:p>
            <a:r>
              <a:rPr lang="en-US" dirty="0">
                <a:solidFill>
                  <a:srgbClr val="42382D"/>
                </a:solidFill>
                <a:latin typeface="Aptos" panose="020B0004020202020204" pitchFamily="34" charset="0"/>
              </a:rPr>
              <a:t>• Improves communication between school, home, and </a:t>
            </a:r>
          </a:p>
          <a:p>
            <a:r>
              <a:rPr lang="en-US" dirty="0">
                <a:solidFill>
                  <a:srgbClr val="42382D"/>
                </a:solidFill>
                <a:latin typeface="Aptos" panose="020B0004020202020204" pitchFamily="34" charset="0"/>
              </a:rPr>
              <a:t>    management.</a:t>
            </a:r>
          </a:p>
          <a:p>
            <a:r>
              <a:rPr lang="en-US" dirty="0">
                <a:solidFill>
                  <a:srgbClr val="42382D"/>
                </a:solidFill>
                <a:latin typeface="Aptos" panose="020B0004020202020204" pitchFamily="34" charset="0"/>
              </a:rPr>
              <a:t>• Encourages self-learning through achievement points </a:t>
            </a:r>
          </a:p>
          <a:p>
            <a:r>
              <a:rPr lang="en-US" dirty="0">
                <a:solidFill>
                  <a:srgbClr val="42382D"/>
                </a:solidFill>
                <a:latin typeface="Aptos" panose="020B0004020202020204" pitchFamily="34" charset="0"/>
              </a:rPr>
              <a:t>   and growth milestones.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1B9F2324-0449-78A8-3DD5-5527E9ECCBBF}"/>
              </a:ext>
            </a:extLst>
          </p:cNvPr>
          <p:cNvSpPr/>
          <p:nvPr/>
        </p:nvSpPr>
        <p:spPr>
          <a:xfrm>
            <a:off x="8445500" y="3746500"/>
            <a:ext cx="6223000" cy="3111500"/>
          </a:xfrm>
          <a:prstGeom prst="roundRect">
            <a:avLst/>
          </a:prstGeom>
          <a:solidFill>
            <a:srgbClr val="FFFFFF"/>
          </a:solidFill>
          <a:ln>
            <a:solidFill>
              <a:srgbClr val="D8DE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210933C-DEA4-773F-28BB-59D18D3E08CD}"/>
              </a:ext>
            </a:extLst>
          </p:cNvPr>
          <p:cNvSpPr txBox="1"/>
          <p:nvPr/>
        </p:nvSpPr>
        <p:spPr>
          <a:xfrm>
            <a:off x="8648700" y="3898900"/>
            <a:ext cx="5816600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2000" b="1" dirty="0">
                <a:solidFill>
                  <a:srgbClr val="183B56"/>
                </a:solidFill>
                <a:latin typeface="Aptos" panose="020B0004020202020204" pitchFamily="34" charset="0"/>
              </a:rPr>
              <a:t>Final Message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E8F36E9-960D-2C48-25EE-D666B82E21EA}"/>
              </a:ext>
            </a:extLst>
          </p:cNvPr>
          <p:cNvSpPr txBox="1"/>
          <p:nvPr/>
        </p:nvSpPr>
        <p:spPr>
          <a:xfrm>
            <a:off x="8648700" y="4356100"/>
            <a:ext cx="5816600" cy="120032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dirty="0">
                <a:solidFill>
                  <a:srgbClr val="42382D"/>
                </a:solidFill>
                <a:latin typeface="Aptos" panose="020B0004020202020204" pitchFamily="34" charset="0"/>
              </a:rPr>
              <a:t>• Education in these new times needs practical </a:t>
            </a:r>
          </a:p>
          <a:p>
            <a:r>
              <a:rPr lang="en-US" dirty="0">
                <a:solidFill>
                  <a:srgbClr val="42382D"/>
                </a:solidFill>
                <a:latin typeface="Aptos" panose="020B0004020202020204" pitchFamily="34" charset="0"/>
              </a:rPr>
              <a:t>   technology and a strong human mission.</a:t>
            </a:r>
          </a:p>
          <a:p>
            <a:r>
              <a:rPr lang="en-US" dirty="0">
                <a:solidFill>
                  <a:srgbClr val="42382D"/>
                </a:solidFill>
                <a:latin typeface="Aptos" panose="020B0004020202020204" pitchFamily="34" charset="0"/>
              </a:rPr>
              <a:t>• EEC helps schools become adaptive, inclusive, data-</a:t>
            </a:r>
          </a:p>
          <a:p>
            <a:r>
              <a:rPr lang="en-US" dirty="0">
                <a:solidFill>
                  <a:srgbClr val="42382D"/>
                </a:solidFill>
                <a:latin typeface="Aptos" panose="020B0004020202020204" pitchFamily="34" charset="0"/>
              </a:rPr>
              <a:t>   aware, and ready for the newer times to come.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84EB6D9-3D33-00B0-D1C5-EA07AB1BC55E}"/>
              </a:ext>
            </a:extLst>
          </p:cNvPr>
          <p:cNvSpPr txBox="1"/>
          <p:nvPr/>
        </p:nvSpPr>
        <p:spPr>
          <a:xfrm>
            <a:off x="1905000" y="254000"/>
            <a:ext cx="3302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400" b="1" dirty="0">
                <a:solidFill>
                  <a:srgbClr val="FFFFFF"/>
                </a:solidFill>
                <a:latin typeface="Aptos" panose="020B0004020202020204" pitchFamily="34" charset="0"/>
              </a:rPr>
              <a:t>ELECTRONIC EDUCARE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AD0798B7-7613-033F-503C-B82F9790E4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23" y="32757"/>
            <a:ext cx="1348001" cy="808800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0EEF1645-3132-BF71-6EA9-987A2E415600}"/>
              </a:ext>
            </a:extLst>
          </p:cNvPr>
          <p:cNvSpPr/>
          <p:nvPr/>
        </p:nvSpPr>
        <p:spPr>
          <a:xfrm>
            <a:off x="0" y="7394643"/>
            <a:ext cx="16256000" cy="1705914"/>
          </a:xfrm>
          <a:prstGeom prst="rect">
            <a:avLst/>
          </a:prstGeom>
          <a:solidFill>
            <a:srgbClr val="183B5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Contact Us: +91 6293764220</a:t>
            </a:r>
          </a:p>
          <a:p>
            <a:pPr algn="ctr"/>
            <a:r>
              <a:rPr lang="en-US" sz="2800" dirty="0"/>
              <a:t>Email: </a:t>
            </a:r>
            <a:r>
              <a:rPr lang="en-US" sz="2800" dirty="0">
                <a:solidFill>
                  <a:schemeClr val="bg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electroniceducaresales@yarrowtech.co.in</a:t>
            </a:r>
            <a:endParaRPr lang="en-US" sz="2800" dirty="0">
              <a:solidFill>
                <a:schemeClr val="bg1"/>
              </a:solidFill>
            </a:endParaRPr>
          </a:p>
          <a:p>
            <a:pPr algn="ctr"/>
            <a:r>
              <a:rPr lang="en-US" sz="2800" dirty="0"/>
              <a:t>3A, Humayun Place, Citi Mart Building, Kolkata - 700087</a:t>
            </a:r>
          </a:p>
        </p:txBody>
      </p:sp>
    </p:spTree>
    <p:extLst>
      <p:ext uri="{BB962C8B-B14F-4D97-AF65-F5344CB8AC3E}">
        <p14:creationId xmlns:p14="http://schemas.microsoft.com/office/powerpoint/2010/main" val="10503076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D713CA5-CE26-8BA5-B30A-305B1DDE045F}"/>
              </a:ext>
            </a:extLst>
          </p:cNvPr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F6FAF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3F8431E-AFB0-2A16-5C7F-B3E8F9C51649}"/>
              </a:ext>
            </a:extLst>
          </p:cNvPr>
          <p:cNvSpPr/>
          <p:nvPr/>
        </p:nvSpPr>
        <p:spPr>
          <a:xfrm>
            <a:off x="0" y="0"/>
            <a:ext cx="16256000" cy="889000"/>
          </a:xfrm>
          <a:prstGeom prst="rect">
            <a:avLst/>
          </a:prstGeom>
          <a:solidFill>
            <a:srgbClr val="183B5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168D599-FFAF-93FD-57B0-1D3C88AE5DB4}"/>
              </a:ext>
            </a:extLst>
          </p:cNvPr>
          <p:cNvSpPr txBox="1"/>
          <p:nvPr/>
        </p:nvSpPr>
        <p:spPr>
          <a:xfrm>
            <a:off x="11811000" y="254000"/>
            <a:ext cx="3810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r"/>
            <a:r>
              <a:rPr lang="en-US" sz="1400" dirty="0">
                <a:solidFill>
                  <a:srgbClr val="F2EAE2"/>
                </a:solidFill>
                <a:latin typeface="Aptos" panose="020B0004020202020204" pitchFamily="34" charset="0"/>
              </a:rPr>
              <a:t>Conclusion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BDDFA0C-1BA1-F4E3-C4F6-5AEBE51A4750}"/>
              </a:ext>
            </a:extLst>
          </p:cNvPr>
          <p:cNvSpPr txBox="1"/>
          <p:nvPr/>
        </p:nvSpPr>
        <p:spPr>
          <a:xfrm>
            <a:off x="1905000" y="254000"/>
            <a:ext cx="3302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400" b="1" dirty="0">
                <a:solidFill>
                  <a:srgbClr val="FFFFFF"/>
                </a:solidFill>
                <a:latin typeface="Aptos" panose="020B0004020202020204" pitchFamily="34" charset="0"/>
              </a:rPr>
              <a:t>ELECTRONIC EDUCARE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358A089-5D91-21BF-2C9C-EA47C80F61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23" y="32757"/>
            <a:ext cx="1348001" cy="8088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FB32145E-CEF3-37B9-3467-81ABB0765AE8}"/>
              </a:ext>
            </a:extLst>
          </p:cNvPr>
          <p:cNvSpPr/>
          <p:nvPr/>
        </p:nvSpPr>
        <p:spPr>
          <a:xfrm>
            <a:off x="0" y="7394643"/>
            <a:ext cx="16256000" cy="1705914"/>
          </a:xfrm>
          <a:prstGeom prst="rect">
            <a:avLst/>
          </a:prstGeom>
          <a:solidFill>
            <a:srgbClr val="183B5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Contact Us: +91 6293764220</a:t>
            </a:r>
          </a:p>
          <a:p>
            <a:pPr algn="ctr"/>
            <a:r>
              <a:rPr lang="en-US" sz="2800" dirty="0"/>
              <a:t>Email: </a:t>
            </a:r>
            <a:r>
              <a:rPr lang="en-US" sz="2800" dirty="0">
                <a:solidFill>
                  <a:schemeClr val="bg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electroniceducaresales@yarrowtech.co.in</a:t>
            </a:r>
            <a:endParaRPr lang="en-US" sz="2800" dirty="0">
              <a:solidFill>
                <a:schemeClr val="bg1"/>
              </a:solidFill>
            </a:endParaRPr>
          </a:p>
          <a:p>
            <a:pPr algn="ctr"/>
            <a:r>
              <a:rPr lang="en-US" sz="2800" dirty="0"/>
              <a:t>3A, Humayun Place, Citi Mart Building, Kolkata - 700087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73357E0-C5E8-A81E-11FE-63569420520C}"/>
              </a:ext>
            </a:extLst>
          </p:cNvPr>
          <p:cNvSpPr txBox="1"/>
          <p:nvPr/>
        </p:nvSpPr>
        <p:spPr>
          <a:xfrm>
            <a:off x="3268494" y="3371671"/>
            <a:ext cx="904672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200" dirty="0">
                <a:latin typeface="Bahnschrift SemiBold" panose="020B0502040204020203" pitchFamily="34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40562795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441</TotalTime>
  <Words>1531</Words>
  <Application>Microsoft Office PowerPoint</Application>
  <PresentationFormat>Custom</PresentationFormat>
  <Paragraphs>256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Aptos</vt:lpstr>
      <vt:lpstr>Aptos Display</vt:lpstr>
      <vt:lpstr>Arial</vt:lpstr>
      <vt:lpstr>Bahnschrift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user</dc:creator>
  <cp:lastModifiedBy>user</cp:lastModifiedBy>
  <cp:revision>49</cp:revision>
  <dcterms:created xsi:type="dcterms:W3CDTF">2026-10-13T12:50:40Z</dcterms:created>
  <dcterms:modified xsi:type="dcterms:W3CDTF">2026-10-14T12:42:17Z</dcterms:modified>
</cp:coreProperties>
</file>